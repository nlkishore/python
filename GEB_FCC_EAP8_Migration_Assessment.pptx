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8961120" y="0"/>
            <a:ext cx="3200400" cy="6858000"/>
          </a:xfrm>
          <a:prstGeom prst="rect">
            <a:avLst/>
          </a:prstGeom>
          <a:solidFill>
            <a:srgbClr val="003366"/>
          </a:solidFill>
          <a:ln w="12700">
            <a:solidFill>
              <a:srgbClr val="003366"/>
            </a:solidFill>
            <a:prstDash val="solid"/>
          </a:ln>
        </p:spPr>
      </p:sp>
      <p:sp>
        <p:nvSpPr>
          <p:cNvPr id="3" name="Shape 1"/>
          <p:cNvSpPr/>
          <p:nvPr/>
        </p:nvSpPr>
        <p:spPr>
          <a:xfrm>
            <a:off x="9601200" y="0"/>
            <a:ext cx="2560320" cy="6858000"/>
          </a:xfrm>
          <a:prstGeom prst="rect">
            <a:avLst/>
          </a:prstGeom>
          <a:solidFill>
            <a:srgbClr val="1A4A7A">
              <a:alpha val="40000"/>
            </a:srgbClr>
          </a:solidFill>
          <a:ln w="12700">
            <a:solidFill>
              <a:srgbClr val="1A4A7A">
                <a:alpha val="40000"/>
              </a:srgbClr>
            </a:solidFill>
            <a:prstDash val="solid"/>
          </a:ln>
        </p:spPr>
      </p:sp>
      <p:sp>
        <p:nvSpPr>
          <p:cNvPr id="4" name="Shape 2"/>
          <p:cNvSpPr/>
          <p:nvPr/>
        </p:nvSpPr>
        <p:spPr>
          <a:xfrm>
            <a:off x="0" y="4937760"/>
            <a:ext cx="8686800" cy="64008"/>
          </a:xfrm>
          <a:prstGeom prst="rect">
            <a:avLst/>
          </a:prstGeom>
          <a:solidFill>
            <a:srgbClr val="C9A84C"/>
          </a:solidFill>
          <a:ln w="12700">
            <a:solidFill>
              <a:srgbClr val="C9A84C"/>
            </a:solidFill>
            <a:prstDash val="solid"/>
          </a:ln>
        </p:spPr>
      </p:sp>
      <p:sp>
        <p:nvSpPr>
          <p:cNvPr id="5" name="Shape 3"/>
          <p:cNvSpPr/>
          <p:nvPr/>
        </p:nvSpPr>
        <p:spPr>
          <a:xfrm>
            <a:off x="457200" y="365760"/>
            <a:ext cx="1463040" cy="475488"/>
          </a:xfrm>
          <a:prstGeom prst="rect">
            <a:avLst>
              <a:gd name="adj" fmla="val 9615"/>
            </a:avLst>
          </a:prstGeom>
          <a:solidFill>
            <a:srgbClr val="C9A84C"/>
          </a:solidFill>
          <a:ln w="12700">
            <a:solidFill>
              <a:srgbClr val="C9A84C"/>
            </a:solidFill>
            <a:prstDash val="solid"/>
          </a:ln>
        </p:spPr>
      </p:sp>
      <p:sp>
        <p:nvSpPr>
          <p:cNvPr id="6" name="Text 4"/>
          <p:cNvSpPr/>
          <p:nvPr/>
        </p:nvSpPr>
        <p:spPr>
          <a:xfrm>
            <a:off x="457200" y="365760"/>
            <a:ext cx="1463040" cy="475488"/>
          </a:xfrm>
          <a:prstGeom prst="rect">
            <a:avLst/>
          </a:prstGeom>
          <a:noFill/>
          <a:ln/>
        </p:spPr>
        <p:txBody>
          <a:bodyPr wrap="square" lIns="0" tIns="0" rIns="0" bIns="0" rtlCol="0" anchor="ctr"/>
          <a:lstStyle/>
          <a:p>
            <a:pPr algn="ctr" indent="0" marL="0">
              <a:buNone/>
            </a:pPr>
            <a:r>
              <a:rPr lang="en-US" sz="2200" b="1" dirty="0">
                <a:solidFill>
                  <a:srgbClr val="001F3F"/>
                </a:solidFill>
                <a:latin typeface="Calibri" pitchFamily="34" charset="0"/>
                <a:ea typeface="Calibri" pitchFamily="34" charset="-122"/>
                <a:cs typeface="Calibri" pitchFamily="34" charset="-120"/>
              </a:rPr>
              <a:t>UOB</a:t>
            </a:r>
            <a:endParaRPr lang="en-US" sz="2200" dirty="0"/>
          </a:p>
        </p:txBody>
      </p:sp>
      <p:sp>
        <p:nvSpPr>
          <p:cNvPr id="7" name="Text 5"/>
          <p:cNvSpPr/>
          <p:nvPr/>
        </p:nvSpPr>
        <p:spPr>
          <a:xfrm>
            <a:off x="2103120" y="475488"/>
            <a:ext cx="3657600" cy="274320"/>
          </a:xfrm>
          <a:prstGeom prst="rect">
            <a:avLst/>
          </a:prstGeom>
          <a:noFill/>
          <a:ln/>
        </p:spPr>
        <p:txBody>
          <a:bodyPr wrap="square" lIns="0" tIns="0" rIns="0" bIns="0" rtlCol="0" anchor="ctr"/>
          <a:lstStyle/>
          <a:p>
            <a:pPr indent="0" marL="0">
              <a:buNone/>
            </a:pPr>
            <a:r>
              <a:rPr lang="en-US" sz="900" spc="300" kern="0" dirty="0">
                <a:solidFill>
                  <a:srgbClr val="8FA3BF"/>
                </a:solidFill>
                <a:latin typeface="Calibri" pitchFamily="34" charset="0"/>
                <a:ea typeface="Calibri" pitchFamily="34" charset="-122"/>
                <a:cs typeface="Calibri" pitchFamily="34" charset="-120"/>
              </a:rPr>
              <a:t>WIPRO CONSULTING</a:t>
            </a:r>
            <a:endParaRPr lang="en-US" sz="900" dirty="0"/>
          </a:p>
        </p:txBody>
      </p:sp>
      <p:sp>
        <p:nvSpPr>
          <p:cNvPr id="8" name="Text 6"/>
          <p:cNvSpPr/>
          <p:nvPr/>
        </p:nvSpPr>
        <p:spPr>
          <a:xfrm>
            <a:off x="457200" y="1234440"/>
            <a:ext cx="8229600"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GEB FCC Platform</a:t>
            </a:r>
            <a:endParaRPr lang="en-US" sz="4400" dirty="0"/>
          </a:p>
        </p:txBody>
      </p:sp>
      <p:sp>
        <p:nvSpPr>
          <p:cNvPr id="9" name="Text 7"/>
          <p:cNvSpPr/>
          <p:nvPr/>
        </p:nvSpPr>
        <p:spPr>
          <a:xfrm>
            <a:off x="457200" y="2011680"/>
            <a:ext cx="8229600" cy="594360"/>
          </a:xfrm>
          <a:prstGeom prst="rect">
            <a:avLst/>
          </a:prstGeom>
          <a:noFill/>
          <a:ln/>
        </p:spPr>
        <p:txBody>
          <a:bodyPr wrap="square" lIns="0" tIns="0" rIns="0" bIns="0" rtlCol="0" anchor="ctr"/>
          <a:lstStyle/>
          <a:p>
            <a:pPr indent="0" marL="0">
              <a:buNone/>
            </a:pPr>
            <a:r>
              <a:rPr lang="en-US" sz="2800" dirty="0">
                <a:solidFill>
                  <a:srgbClr val="F0D080"/>
                </a:solidFill>
                <a:latin typeface="Calibri" pitchFamily="34" charset="0"/>
                <a:ea typeface="Calibri" pitchFamily="34" charset="-122"/>
                <a:cs typeface="Calibri" pitchFamily="34" charset="-120"/>
              </a:rPr>
              <a:t>JBoss EAP 8 Migration Assessment</a:t>
            </a:r>
            <a:endParaRPr lang="en-US" sz="2800" dirty="0"/>
          </a:p>
        </p:txBody>
      </p:sp>
      <p:sp>
        <p:nvSpPr>
          <p:cNvPr id="10" name="Text 8"/>
          <p:cNvSpPr/>
          <p:nvPr/>
        </p:nvSpPr>
        <p:spPr>
          <a:xfrm>
            <a:off x="457200" y="2834640"/>
            <a:ext cx="8229600" cy="822960"/>
          </a:xfrm>
          <a:prstGeom prst="rect">
            <a:avLst/>
          </a:prstGeom>
          <a:noFill/>
          <a:ln/>
        </p:spPr>
        <p:txBody>
          <a:bodyPr wrap="square" lIns="0" tIns="0" rIns="0" bIns="0" rtlCol="0" anchor="ctr"/>
          <a:lstStyle/>
          <a:p>
            <a:pPr indent="0" marL="0">
              <a:buNone/>
            </a:pPr>
            <a:r>
              <a:rPr lang="en-US" sz="1300" dirty="0">
                <a:solidFill>
                  <a:srgbClr val="8FA3BF"/>
                </a:solidFill>
                <a:latin typeface="Calibri" pitchFamily="34" charset="0"/>
                <a:ea typeface="Calibri" pitchFamily="34" charset="-122"/>
                <a:cs typeface="Calibri" pitchFamily="34" charset="-120"/>
              </a:rPr>
              <a:t>Finastra Fusion Corporate Channel (BIB Plus)</a:t>
            </a:r>
            <a:endParaRPr lang="en-US" sz="1300" dirty="0"/>
          </a:p>
          <a:p>
            <a:pPr indent="0" marL="0">
              <a:buNone/>
            </a:pPr>
            <a:r>
              <a:rPr lang="en-US" sz="1300" dirty="0">
                <a:solidFill>
                  <a:srgbClr val="8FA3BF"/>
                </a:solidFill>
                <a:latin typeface="Calibri" pitchFamily="34" charset="0"/>
                <a:ea typeface="Calibri" pitchFamily="34" charset="-122"/>
                <a:cs typeface="Calibri" pitchFamily="34" charset="-120"/>
              </a:rPr>
              <a:t>Turbine 2.3.3 → Turbine 7  |  Java 8 → Java 17  |  JBoss EAP 7 → EAP 8  |  Jakarta EE</a:t>
            </a:r>
            <a:endParaRPr lang="en-US" sz="1300" dirty="0"/>
          </a:p>
        </p:txBody>
      </p:sp>
      <p:sp>
        <p:nvSpPr>
          <p:cNvPr id="11" name="Text 9"/>
          <p:cNvSpPr/>
          <p:nvPr/>
        </p:nvSpPr>
        <p:spPr>
          <a:xfrm>
            <a:off x="457200" y="3886200"/>
            <a:ext cx="1920240" cy="685800"/>
          </a:xfrm>
          <a:prstGeom prst="rect">
            <a:avLst/>
          </a:prstGeom>
          <a:noFill/>
          <a:ln/>
        </p:spPr>
        <p:txBody>
          <a:bodyPr wrap="square" lIns="0" tIns="0" rIns="0" bIns="0" rtlCol="0" anchor="ctr"/>
          <a:lstStyle/>
          <a:p>
            <a:pPr algn="ctr" indent="0" marL="0">
              <a:buNone/>
            </a:pPr>
            <a:r>
              <a:rPr lang="en-US" sz="4200" b="1" dirty="0">
                <a:solidFill>
                  <a:srgbClr val="C9A84C"/>
                </a:solidFill>
                <a:latin typeface="Calibri" pitchFamily="34" charset="0"/>
                <a:ea typeface="Calibri" pitchFamily="34" charset="-122"/>
                <a:cs typeface="Calibri" pitchFamily="34" charset="-120"/>
              </a:rPr>
              <a:t>138</a:t>
            </a:r>
            <a:endParaRPr lang="en-US" sz="4200" dirty="0"/>
          </a:p>
        </p:txBody>
      </p:sp>
      <p:sp>
        <p:nvSpPr>
          <p:cNvPr id="12" name="Text 10"/>
          <p:cNvSpPr/>
          <p:nvPr/>
        </p:nvSpPr>
        <p:spPr>
          <a:xfrm>
            <a:off x="457200" y="4553712"/>
            <a:ext cx="1920240" cy="274320"/>
          </a:xfrm>
          <a:prstGeom prst="rect">
            <a:avLst/>
          </a:prstGeom>
          <a:noFill/>
          <a:ln/>
        </p:spPr>
        <p:txBody>
          <a:bodyPr wrap="square" lIns="0" tIns="0" rIns="0" bIns="0" rtlCol="0" anchor="ctr"/>
          <a:lstStyle/>
          <a:p>
            <a:pPr algn="ctr" indent="0" marL="0">
              <a:buNone/>
            </a:pPr>
            <a:r>
              <a:rPr lang="en-US" sz="1000" dirty="0">
                <a:solidFill>
                  <a:srgbClr val="8FA3BF"/>
                </a:solidFill>
                <a:latin typeface="Calibri" pitchFamily="34" charset="0"/>
                <a:ea typeface="Calibri" pitchFamily="34" charset="-122"/>
                <a:cs typeface="Calibri" pitchFamily="34" charset="-120"/>
              </a:rPr>
              <a:t>JARs Assessed</a:t>
            </a:r>
            <a:endParaRPr lang="en-US" sz="1000" dirty="0"/>
          </a:p>
        </p:txBody>
      </p:sp>
      <p:sp>
        <p:nvSpPr>
          <p:cNvPr id="13" name="Text 11"/>
          <p:cNvSpPr/>
          <p:nvPr/>
        </p:nvSpPr>
        <p:spPr>
          <a:xfrm>
            <a:off x="2560320" y="3886200"/>
            <a:ext cx="1920240" cy="685800"/>
          </a:xfrm>
          <a:prstGeom prst="rect">
            <a:avLst/>
          </a:prstGeom>
          <a:noFill/>
          <a:ln/>
        </p:spPr>
        <p:txBody>
          <a:bodyPr wrap="square" lIns="0" tIns="0" rIns="0" bIns="0" rtlCol="0" anchor="ctr"/>
          <a:lstStyle/>
          <a:p>
            <a:pPr algn="ctr" indent="0" marL="0">
              <a:buNone/>
            </a:pPr>
            <a:r>
              <a:rPr lang="en-US" sz="4200" b="1" dirty="0">
                <a:solidFill>
                  <a:srgbClr val="C9A84C"/>
                </a:solidFill>
                <a:latin typeface="Calibri" pitchFamily="34" charset="0"/>
                <a:ea typeface="Calibri" pitchFamily="34" charset="-122"/>
                <a:cs typeface="Calibri" pitchFamily="34" charset="-120"/>
              </a:rPr>
              <a:t>33</a:t>
            </a:r>
            <a:endParaRPr lang="en-US" sz="4200" dirty="0"/>
          </a:p>
        </p:txBody>
      </p:sp>
      <p:sp>
        <p:nvSpPr>
          <p:cNvPr id="14" name="Text 12"/>
          <p:cNvSpPr/>
          <p:nvPr/>
        </p:nvSpPr>
        <p:spPr>
          <a:xfrm>
            <a:off x="2560320" y="4553712"/>
            <a:ext cx="1920240" cy="274320"/>
          </a:xfrm>
          <a:prstGeom prst="rect">
            <a:avLst/>
          </a:prstGeom>
          <a:noFill/>
          <a:ln/>
        </p:spPr>
        <p:txBody>
          <a:bodyPr wrap="square" lIns="0" tIns="0" rIns="0" bIns="0" rtlCol="0" anchor="ctr"/>
          <a:lstStyle/>
          <a:p>
            <a:pPr algn="ctr" indent="0" marL="0">
              <a:buNone/>
            </a:pPr>
            <a:r>
              <a:rPr lang="en-US" sz="1000" dirty="0">
                <a:solidFill>
                  <a:srgbClr val="8FA3BF"/>
                </a:solidFill>
                <a:latin typeface="Calibri" pitchFamily="34" charset="0"/>
                <a:ea typeface="Calibri" pitchFamily="34" charset="-122"/>
                <a:cs typeface="Calibri" pitchFamily="34" charset="-120"/>
              </a:rPr>
              <a:t>Services Mapped</a:t>
            </a:r>
            <a:endParaRPr lang="en-US" sz="1000" dirty="0"/>
          </a:p>
        </p:txBody>
      </p:sp>
      <p:sp>
        <p:nvSpPr>
          <p:cNvPr id="15" name="Text 13"/>
          <p:cNvSpPr/>
          <p:nvPr/>
        </p:nvSpPr>
        <p:spPr>
          <a:xfrm>
            <a:off x="4663440" y="3886200"/>
            <a:ext cx="1920240" cy="685800"/>
          </a:xfrm>
          <a:prstGeom prst="rect">
            <a:avLst/>
          </a:prstGeom>
          <a:noFill/>
          <a:ln/>
        </p:spPr>
        <p:txBody>
          <a:bodyPr wrap="square" lIns="0" tIns="0" rIns="0" bIns="0" rtlCol="0" anchor="ctr"/>
          <a:lstStyle/>
          <a:p>
            <a:pPr algn="ctr" indent="0" marL="0">
              <a:buNone/>
            </a:pPr>
            <a:r>
              <a:rPr lang="en-US" sz="4200" b="1" dirty="0">
                <a:solidFill>
                  <a:srgbClr val="C9A84C"/>
                </a:solidFill>
                <a:latin typeface="Calibri" pitchFamily="34" charset="0"/>
                <a:ea typeface="Calibri" pitchFamily="34" charset="-122"/>
                <a:cs typeface="Calibri" pitchFamily="34" charset="-120"/>
              </a:rPr>
              <a:t>16</a:t>
            </a:r>
            <a:endParaRPr lang="en-US" sz="4200" dirty="0"/>
          </a:p>
        </p:txBody>
      </p:sp>
      <p:sp>
        <p:nvSpPr>
          <p:cNvPr id="16" name="Text 14"/>
          <p:cNvSpPr/>
          <p:nvPr/>
        </p:nvSpPr>
        <p:spPr>
          <a:xfrm>
            <a:off x="4663440" y="4553712"/>
            <a:ext cx="1920240" cy="274320"/>
          </a:xfrm>
          <a:prstGeom prst="rect">
            <a:avLst/>
          </a:prstGeom>
          <a:noFill/>
          <a:ln/>
        </p:spPr>
        <p:txBody>
          <a:bodyPr wrap="square" lIns="0" tIns="0" rIns="0" bIns="0" rtlCol="0" anchor="ctr"/>
          <a:lstStyle/>
          <a:p>
            <a:pPr algn="ctr" indent="0" marL="0">
              <a:buNone/>
            </a:pPr>
            <a:r>
              <a:rPr lang="en-US" sz="1000" dirty="0">
                <a:solidFill>
                  <a:srgbClr val="8FA3BF"/>
                </a:solidFill>
                <a:latin typeface="Calibri" pitchFamily="34" charset="0"/>
                <a:ea typeface="Calibri" pitchFamily="34" charset="-122"/>
                <a:cs typeface="Calibri" pitchFamily="34" charset="-120"/>
              </a:rPr>
              <a:t>Breaking API Changes</a:t>
            </a:r>
            <a:endParaRPr lang="en-US" sz="1000" dirty="0"/>
          </a:p>
        </p:txBody>
      </p:sp>
      <p:sp>
        <p:nvSpPr>
          <p:cNvPr id="17" name="Text 15"/>
          <p:cNvSpPr/>
          <p:nvPr/>
        </p:nvSpPr>
        <p:spPr>
          <a:xfrm>
            <a:off x="6766560" y="3886200"/>
            <a:ext cx="1920240" cy="685800"/>
          </a:xfrm>
          <a:prstGeom prst="rect">
            <a:avLst/>
          </a:prstGeom>
          <a:noFill/>
          <a:ln/>
        </p:spPr>
        <p:txBody>
          <a:bodyPr wrap="square" lIns="0" tIns="0" rIns="0" bIns="0" rtlCol="0" anchor="ctr"/>
          <a:lstStyle/>
          <a:p>
            <a:pPr algn="ctr" indent="0" marL="0">
              <a:buNone/>
            </a:pPr>
            <a:r>
              <a:rPr lang="en-US" sz="4200" b="1" dirty="0">
                <a:solidFill>
                  <a:srgbClr val="C9A84C"/>
                </a:solidFill>
                <a:latin typeface="Calibri" pitchFamily="34" charset="0"/>
                <a:ea typeface="Calibri" pitchFamily="34" charset="-122"/>
                <a:cs typeface="Calibri" pitchFamily="34" charset="-120"/>
              </a:rPr>
              <a:t>5</a:t>
            </a:r>
            <a:endParaRPr lang="en-US" sz="4200" dirty="0"/>
          </a:p>
        </p:txBody>
      </p:sp>
      <p:sp>
        <p:nvSpPr>
          <p:cNvPr id="18" name="Text 16"/>
          <p:cNvSpPr/>
          <p:nvPr/>
        </p:nvSpPr>
        <p:spPr>
          <a:xfrm>
            <a:off x="6766560" y="4553712"/>
            <a:ext cx="1920240" cy="274320"/>
          </a:xfrm>
          <a:prstGeom prst="rect">
            <a:avLst/>
          </a:prstGeom>
          <a:noFill/>
          <a:ln/>
        </p:spPr>
        <p:txBody>
          <a:bodyPr wrap="square" lIns="0" tIns="0" rIns="0" bIns="0" rtlCol="0" anchor="ctr"/>
          <a:lstStyle/>
          <a:p>
            <a:pPr algn="ctr" indent="0" marL="0">
              <a:buNone/>
            </a:pPr>
            <a:r>
              <a:rPr lang="en-US" sz="1000" dirty="0">
                <a:solidFill>
                  <a:srgbClr val="8FA3BF"/>
                </a:solidFill>
                <a:latin typeface="Calibri" pitchFamily="34" charset="0"/>
                <a:ea typeface="Calibri" pitchFamily="34" charset="-122"/>
                <a:cs typeface="Calibri" pitchFamily="34" charset="-120"/>
              </a:rPr>
              <a:t>Architecture Layers</a:t>
            </a:r>
            <a:endParaRPr lang="en-US" sz="1000" dirty="0"/>
          </a:p>
        </p:txBody>
      </p:sp>
      <p:sp>
        <p:nvSpPr>
          <p:cNvPr id="19" name="Text 17"/>
          <p:cNvSpPr/>
          <p:nvPr/>
        </p:nvSpPr>
        <p:spPr>
          <a:xfrm>
            <a:off x="457200" y="5212080"/>
            <a:ext cx="8229600" cy="25603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Presented to: UOB Bank Singapore  |  Date: April 2026  |  Classification: Confidential</a:t>
            </a:r>
            <a:endParaRPr lang="en-US" sz="900" dirty="0"/>
          </a:p>
        </p:txBody>
      </p:sp>
      <p:sp>
        <p:nvSpPr>
          <p:cNvPr id="20" name="Text 18"/>
          <p:cNvSpPr/>
          <p:nvPr/>
        </p:nvSpPr>
        <p:spPr>
          <a:xfrm>
            <a:off x="457200" y="5468112"/>
            <a:ext cx="8229600" cy="2286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Wipro Consulting  |  Digital Engineering Practice  |  Singapore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Agenda</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What we will walk through today</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109728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530352" y="1344168"/>
            <a:ext cx="502920" cy="502920"/>
          </a:xfrm>
          <a:prstGeom prst="ellipse">
            <a:avLst/>
          </a:prstGeom>
          <a:solidFill>
            <a:srgbClr val="003366"/>
          </a:solidFill>
          <a:ln w="12700">
            <a:solidFill>
              <a:srgbClr val="003366"/>
            </a:solidFill>
            <a:prstDash val="solid"/>
          </a:ln>
        </p:spPr>
      </p:sp>
      <p:sp>
        <p:nvSpPr>
          <p:cNvPr id="9" name="Text 7"/>
          <p:cNvSpPr/>
          <p:nvPr/>
        </p:nvSpPr>
        <p:spPr>
          <a:xfrm>
            <a:off x="530352" y="134416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1143000" y="123444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Platform Overview</a:t>
            </a:r>
            <a:endParaRPr lang="en-US" sz="1300" dirty="0"/>
          </a:p>
        </p:txBody>
      </p:sp>
      <p:sp>
        <p:nvSpPr>
          <p:cNvPr id="11" name="Text 9"/>
          <p:cNvSpPr/>
          <p:nvPr/>
        </p:nvSpPr>
        <p:spPr>
          <a:xfrm>
            <a:off x="1143000" y="155448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GEB FCC — what it is, why it matters, current tech stack</a:t>
            </a:r>
            <a:endParaRPr lang="en-US" sz="1000" dirty="0"/>
          </a:p>
        </p:txBody>
      </p:sp>
      <p:sp>
        <p:nvSpPr>
          <p:cNvPr id="12" name="Shape 10"/>
          <p:cNvSpPr/>
          <p:nvPr/>
        </p:nvSpPr>
        <p:spPr>
          <a:xfrm>
            <a:off x="6217920" y="109728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6382512" y="1344168"/>
            <a:ext cx="502920" cy="502920"/>
          </a:xfrm>
          <a:prstGeom prst="ellipse">
            <a:avLst/>
          </a:prstGeom>
          <a:solidFill>
            <a:srgbClr val="003366"/>
          </a:solidFill>
          <a:ln w="12700">
            <a:solidFill>
              <a:srgbClr val="003366"/>
            </a:solidFill>
            <a:prstDash val="solid"/>
          </a:ln>
        </p:spPr>
      </p:sp>
      <p:sp>
        <p:nvSpPr>
          <p:cNvPr id="14" name="Text 12"/>
          <p:cNvSpPr/>
          <p:nvPr/>
        </p:nvSpPr>
        <p:spPr>
          <a:xfrm>
            <a:off x="6382512" y="134416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6995160" y="123444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Assessment Methodology</a:t>
            </a:r>
            <a:endParaRPr lang="en-US" sz="1300" dirty="0"/>
          </a:p>
        </p:txBody>
      </p:sp>
      <p:sp>
        <p:nvSpPr>
          <p:cNvPr id="16" name="Text 14"/>
          <p:cNvSpPr/>
          <p:nvPr/>
        </p:nvSpPr>
        <p:spPr>
          <a:xfrm>
            <a:off x="6995160" y="155448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War room sprint, source code analysis, hands-on POC</a:t>
            </a:r>
            <a:endParaRPr lang="en-US" sz="1000" dirty="0"/>
          </a:p>
        </p:txBody>
      </p:sp>
      <p:sp>
        <p:nvSpPr>
          <p:cNvPr id="17" name="Shape 15"/>
          <p:cNvSpPr/>
          <p:nvPr/>
        </p:nvSpPr>
        <p:spPr>
          <a:xfrm>
            <a:off x="365760" y="233172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530352" y="2578608"/>
            <a:ext cx="502920" cy="502920"/>
          </a:xfrm>
          <a:prstGeom prst="ellipse">
            <a:avLst/>
          </a:prstGeom>
          <a:solidFill>
            <a:srgbClr val="003366"/>
          </a:solidFill>
          <a:ln w="12700">
            <a:solidFill>
              <a:srgbClr val="003366"/>
            </a:solidFill>
            <a:prstDash val="solid"/>
          </a:ln>
        </p:spPr>
      </p:sp>
      <p:sp>
        <p:nvSpPr>
          <p:cNvPr id="19" name="Text 17"/>
          <p:cNvSpPr/>
          <p:nvPr/>
        </p:nvSpPr>
        <p:spPr>
          <a:xfrm>
            <a:off x="530352" y="257860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1143000" y="246888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GEB Architecture Deep Dive</a:t>
            </a:r>
            <a:endParaRPr lang="en-US" sz="1300" dirty="0"/>
          </a:p>
        </p:txBody>
      </p:sp>
      <p:sp>
        <p:nvSpPr>
          <p:cNvPr id="21" name="Text 19"/>
          <p:cNvSpPr/>
          <p:nvPr/>
        </p:nvSpPr>
        <p:spPr>
          <a:xfrm>
            <a:off x="1143000" y="278892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5-layer service model, 33 services fully mapped</a:t>
            </a:r>
            <a:endParaRPr lang="en-US" sz="1000" dirty="0"/>
          </a:p>
        </p:txBody>
      </p:sp>
      <p:sp>
        <p:nvSpPr>
          <p:cNvPr id="22" name="Shape 20"/>
          <p:cNvSpPr/>
          <p:nvPr/>
        </p:nvSpPr>
        <p:spPr>
          <a:xfrm>
            <a:off x="6217920" y="233172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382512" y="2578608"/>
            <a:ext cx="502920" cy="502920"/>
          </a:xfrm>
          <a:prstGeom prst="ellipse">
            <a:avLst/>
          </a:prstGeom>
          <a:solidFill>
            <a:srgbClr val="003366"/>
          </a:solidFill>
          <a:ln w="12700">
            <a:solidFill>
              <a:srgbClr val="003366"/>
            </a:solidFill>
            <a:prstDash val="solid"/>
          </a:ln>
        </p:spPr>
      </p:sp>
      <p:sp>
        <p:nvSpPr>
          <p:cNvPr id="24" name="Text 22"/>
          <p:cNvSpPr/>
          <p:nvPr/>
        </p:nvSpPr>
        <p:spPr>
          <a:xfrm>
            <a:off x="6382512" y="257860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04</a:t>
            </a:r>
            <a:endParaRPr lang="en-US" sz="1200" dirty="0"/>
          </a:p>
        </p:txBody>
      </p:sp>
      <p:sp>
        <p:nvSpPr>
          <p:cNvPr id="25" name="Text 23"/>
          <p:cNvSpPr/>
          <p:nvPr/>
        </p:nvSpPr>
        <p:spPr>
          <a:xfrm>
            <a:off x="6995160" y="246888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Turbine 7 Migration Analysis</a:t>
            </a:r>
            <a:endParaRPr lang="en-US" sz="1300" dirty="0"/>
          </a:p>
        </p:txBody>
      </p:sp>
      <p:sp>
        <p:nvSpPr>
          <p:cNvPr id="26" name="Text 24"/>
          <p:cNvSpPr/>
          <p:nvPr/>
        </p:nvSpPr>
        <p:spPr>
          <a:xfrm>
            <a:off x="6995160" y="278892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API changes proven by compilation — not theoretical</a:t>
            </a:r>
            <a:endParaRPr lang="en-US" sz="1000" dirty="0"/>
          </a:p>
        </p:txBody>
      </p:sp>
      <p:sp>
        <p:nvSpPr>
          <p:cNvPr id="27" name="Shape 25"/>
          <p:cNvSpPr/>
          <p:nvPr/>
        </p:nvSpPr>
        <p:spPr>
          <a:xfrm>
            <a:off x="365760" y="356616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530352" y="3813048"/>
            <a:ext cx="502920" cy="502920"/>
          </a:xfrm>
          <a:prstGeom prst="ellipse">
            <a:avLst/>
          </a:prstGeom>
          <a:solidFill>
            <a:srgbClr val="003366"/>
          </a:solidFill>
          <a:ln w="12700">
            <a:solidFill>
              <a:srgbClr val="003366"/>
            </a:solidFill>
            <a:prstDash val="solid"/>
          </a:ln>
        </p:spPr>
      </p:sp>
      <p:sp>
        <p:nvSpPr>
          <p:cNvPr id="29" name="Text 27"/>
          <p:cNvSpPr/>
          <p:nvPr/>
        </p:nvSpPr>
        <p:spPr>
          <a:xfrm>
            <a:off x="530352" y="381304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05</a:t>
            </a:r>
            <a:endParaRPr lang="en-US" sz="1200" dirty="0"/>
          </a:p>
        </p:txBody>
      </p:sp>
      <p:sp>
        <p:nvSpPr>
          <p:cNvPr id="30" name="Text 28"/>
          <p:cNvSpPr/>
          <p:nvPr/>
        </p:nvSpPr>
        <p:spPr>
          <a:xfrm>
            <a:off x="1143000" y="370332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RunData Architecture Risk</a:t>
            </a:r>
            <a:endParaRPr lang="en-US" sz="1300" dirty="0"/>
          </a:p>
        </p:txBody>
      </p:sp>
      <p:sp>
        <p:nvSpPr>
          <p:cNvPr id="31" name="Text 29"/>
          <p:cNvSpPr/>
          <p:nvPr/>
        </p:nvSpPr>
        <p:spPr>
          <a:xfrm>
            <a:off x="1143000" y="402336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The central data bus and its migration impact</a:t>
            </a:r>
            <a:endParaRPr lang="en-US" sz="1000" dirty="0"/>
          </a:p>
        </p:txBody>
      </p:sp>
      <p:sp>
        <p:nvSpPr>
          <p:cNvPr id="32" name="Shape 30"/>
          <p:cNvSpPr/>
          <p:nvPr/>
        </p:nvSpPr>
        <p:spPr>
          <a:xfrm>
            <a:off x="6217920" y="356616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6382512" y="3813048"/>
            <a:ext cx="502920" cy="502920"/>
          </a:xfrm>
          <a:prstGeom prst="ellipse">
            <a:avLst/>
          </a:prstGeom>
          <a:solidFill>
            <a:srgbClr val="003366"/>
          </a:solidFill>
          <a:ln w="12700">
            <a:solidFill>
              <a:srgbClr val="003366"/>
            </a:solidFill>
            <a:prstDash val="solid"/>
          </a:ln>
        </p:spPr>
      </p:sp>
      <p:sp>
        <p:nvSpPr>
          <p:cNvPr id="34" name="Text 32"/>
          <p:cNvSpPr/>
          <p:nvPr/>
        </p:nvSpPr>
        <p:spPr>
          <a:xfrm>
            <a:off x="6382512" y="381304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06</a:t>
            </a:r>
            <a:endParaRPr lang="en-US" sz="1200" dirty="0"/>
          </a:p>
        </p:txBody>
      </p:sp>
      <p:sp>
        <p:nvSpPr>
          <p:cNvPr id="35" name="Text 33"/>
          <p:cNvSpPr/>
          <p:nvPr/>
        </p:nvSpPr>
        <p:spPr>
          <a:xfrm>
            <a:off x="6995160" y="370332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POC — Mini-GEB Live on Turbine 7</a:t>
            </a:r>
            <a:endParaRPr lang="en-US" sz="1300" dirty="0"/>
          </a:p>
        </p:txBody>
      </p:sp>
      <p:sp>
        <p:nvSpPr>
          <p:cNvPr id="36" name="Text 34"/>
          <p:cNvSpPr/>
          <p:nvPr/>
        </p:nvSpPr>
        <p:spPr>
          <a:xfrm>
            <a:off x="6995160" y="402336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4 architecture tests — what passed, what failed, why</a:t>
            </a:r>
            <a:endParaRPr lang="en-US" sz="1000" dirty="0"/>
          </a:p>
        </p:txBody>
      </p:sp>
      <p:sp>
        <p:nvSpPr>
          <p:cNvPr id="37" name="Shape 35"/>
          <p:cNvSpPr/>
          <p:nvPr/>
        </p:nvSpPr>
        <p:spPr>
          <a:xfrm>
            <a:off x="365760" y="480060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530352" y="5047488"/>
            <a:ext cx="502920" cy="502920"/>
          </a:xfrm>
          <a:prstGeom prst="ellipse">
            <a:avLst/>
          </a:prstGeom>
          <a:solidFill>
            <a:srgbClr val="003366"/>
          </a:solidFill>
          <a:ln w="12700">
            <a:solidFill>
              <a:srgbClr val="003366"/>
            </a:solidFill>
            <a:prstDash val="solid"/>
          </a:ln>
        </p:spPr>
      </p:sp>
      <p:sp>
        <p:nvSpPr>
          <p:cNvPr id="39" name="Text 37"/>
          <p:cNvSpPr/>
          <p:nvPr/>
        </p:nvSpPr>
        <p:spPr>
          <a:xfrm>
            <a:off x="530352" y="504748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07</a:t>
            </a:r>
            <a:endParaRPr lang="en-US" sz="1200" dirty="0"/>
          </a:p>
        </p:txBody>
      </p:sp>
      <p:sp>
        <p:nvSpPr>
          <p:cNvPr id="40" name="Text 38"/>
          <p:cNvSpPr/>
          <p:nvPr/>
        </p:nvSpPr>
        <p:spPr>
          <a:xfrm>
            <a:off x="1143000" y="493776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Risk &amp; Impact Matrix</a:t>
            </a:r>
            <a:endParaRPr lang="en-US" sz="1300" dirty="0"/>
          </a:p>
        </p:txBody>
      </p:sp>
      <p:sp>
        <p:nvSpPr>
          <p:cNvPr id="41" name="Text 39"/>
          <p:cNvSpPr/>
          <p:nvPr/>
        </p:nvSpPr>
        <p:spPr>
          <a:xfrm>
            <a:off x="1143000" y="525780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138 JARs, 16 breaking changes, severity classification</a:t>
            </a:r>
            <a:endParaRPr lang="en-US" sz="1000" dirty="0"/>
          </a:p>
        </p:txBody>
      </p:sp>
      <p:sp>
        <p:nvSpPr>
          <p:cNvPr id="42" name="Shape 40"/>
          <p:cNvSpPr/>
          <p:nvPr/>
        </p:nvSpPr>
        <p:spPr>
          <a:xfrm>
            <a:off x="6217920" y="4800600"/>
            <a:ext cx="5669280" cy="100584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3" name="Shape 41"/>
          <p:cNvSpPr/>
          <p:nvPr/>
        </p:nvSpPr>
        <p:spPr>
          <a:xfrm>
            <a:off x="6382512" y="5047488"/>
            <a:ext cx="502920" cy="502920"/>
          </a:xfrm>
          <a:prstGeom prst="ellipse">
            <a:avLst/>
          </a:prstGeom>
          <a:solidFill>
            <a:srgbClr val="003366"/>
          </a:solidFill>
          <a:ln w="12700">
            <a:solidFill>
              <a:srgbClr val="003366"/>
            </a:solidFill>
            <a:prstDash val="solid"/>
          </a:ln>
        </p:spPr>
      </p:sp>
      <p:sp>
        <p:nvSpPr>
          <p:cNvPr id="44" name="Text 42"/>
          <p:cNvSpPr/>
          <p:nvPr/>
        </p:nvSpPr>
        <p:spPr>
          <a:xfrm>
            <a:off x="6382512" y="5047488"/>
            <a:ext cx="502920" cy="502920"/>
          </a:xfrm>
          <a:prstGeom prst="rect">
            <a:avLst/>
          </a:prstGeom>
          <a:noFill/>
          <a:ln/>
        </p:spPr>
        <p:txBody>
          <a:bodyPr wrap="square" lIns="0" tIns="0" rIns="0" bIns="0" rtlCol="0" anchor="ctr"/>
          <a:lstStyle/>
          <a:p>
            <a:pPr algn="ctr" indent="0" marL="0">
              <a:buNone/>
            </a:pPr>
            <a:r>
              <a:rPr lang="en-US" sz="1200" b="1" dirty="0">
                <a:solidFill>
                  <a:srgbClr val="C9A84C"/>
                </a:solidFill>
                <a:latin typeface="Calibri" pitchFamily="34" charset="0"/>
                <a:ea typeface="Calibri" pitchFamily="34" charset="-122"/>
                <a:cs typeface="Calibri" pitchFamily="34" charset="-120"/>
              </a:rPr>
              <a:t>08</a:t>
            </a:r>
            <a:endParaRPr lang="en-US" sz="1200" dirty="0"/>
          </a:p>
        </p:txBody>
      </p:sp>
      <p:sp>
        <p:nvSpPr>
          <p:cNvPr id="45" name="Text 43"/>
          <p:cNvSpPr/>
          <p:nvPr/>
        </p:nvSpPr>
        <p:spPr>
          <a:xfrm>
            <a:off x="6995160" y="4937760"/>
            <a:ext cx="4754880" cy="3200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Recommendations &amp; Next Steps</a:t>
            </a:r>
            <a:endParaRPr lang="en-US" sz="1300" dirty="0"/>
          </a:p>
        </p:txBody>
      </p:sp>
      <p:sp>
        <p:nvSpPr>
          <p:cNvPr id="46" name="Text 44"/>
          <p:cNvSpPr/>
          <p:nvPr/>
        </p:nvSpPr>
        <p:spPr>
          <a:xfrm>
            <a:off x="6995160" y="5257800"/>
            <a:ext cx="4754880" cy="4114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Migration path, effort, timelines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GEB FCC Platform Overview</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Finastra Fusion Corporate Channel — Current State</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960120"/>
            <a:ext cx="5303520" cy="52120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960120"/>
            <a:ext cx="5303520" cy="411480"/>
          </a:xfrm>
          <a:prstGeom prst="rect">
            <a:avLst/>
          </a:prstGeom>
          <a:solidFill>
            <a:srgbClr val="003366"/>
          </a:solidFill>
          <a:ln w="12700">
            <a:solidFill>
              <a:srgbClr val="003366"/>
            </a:solidFill>
            <a:prstDash val="solid"/>
          </a:ln>
        </p:spPr>
      </p:sp>
      <p:sp>
        <p:nvSpPr>
          <p:cNvPr id="9" name="Text 7"/>
          <p:cNvSpPr/>
          <p:nvPr/>
        </p:nvSpPr>
        <p:spPr>
          <a:xfrm>
            <a:off x="457200" y="978408"/>
            <a:ext cx="5120640" cy="347472"/>
          </a:xfrm>
          <a:prstGeom prst="rect">
            <a:avLst/>
          </a:prstGeom>
          <a:noFill/>
          <a:ln/>
        </p:spPr>
        <p:txBody>
          <a:bodyPr wrap="square" lIns="0" tIns="0" rIns="0" bIns="0" rtlCol="0" anchor="ctr"/>
          <a:lstStyle/>
          <a:p>
            <a:pPr indent="0" marL="0">
              <a:buNone/>
            </a:pPr>
            <a:r>
              <a:rPr lang="en-US" sz="1100" b="1" spc="100" kern="0" dirty="0">
                <a:solidFill>
                  <a:srgbClr val="C9A84C"/>
                </a:solidFill>
                <a:latin typeface="Calibri" pitchFamily="34" charset="0"/>
                <a:ea typeface="Calibri" pitchFamily="34" charset="-122"/>
                <a:cs typeface="Calibri" pitchFamily="34" charset="-120"/>
              </a:rPr>
              <a:t>WHAT IS GEB FCC?</a:t>
            </a:r>
            <a:endParaRPr lang="en-US" sz="1100" dirty="0"/>
          </a:p>
        </p:txBody>
      </p:sp>
      <p:sp>
        <p:nvSpPr>
          <p:cNvPr id="10" name="Text 8"/>
          <p:cNvSpPr/>
          <p:nvPr/>
        </p:nvSpPr>
        <p:spPr>
          <a:xfrm>
            <a:off x="548640" y="1508760"/>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Finastra Fusion Corporate Channel</a:t>
            </a:r>
            <a:endParaRPr lang="en-US" sz="1000" dirty="0"/>
          </a:p>
        </p:txBody>
      </p:sp>
      <p:sp>
        <p:nvSpPr>
          <p:cNvPr id="11" name="Text 9"/>
          <p:cNvSpPr/>
          <p:nvPr/>
        </p:nvSpPr>
        <p:spPr>
          <a:xfrm>
            <a:off x="548640" y="1764792"/>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Banking portal (BIB Plus) — UOB's primary corporate internet banking platform</a:t>
            </a:r>
            <a:endParaRPr lang="en-US" sz="1000" dirty="0"/>
          </a:p>
        </p:txBody>
      </p:sp>
      <p:sp>
        <p:nvSpPr>
          <p:cNvPr id="12" name="Shape 10"/>
          <p:cNvSpPr/>
          <p:nvPr/>
        </p:nvSpPr>
        <p:spPr>
          <a:xfrm>
            <a:off x="548640" y="2130552"/>
            <a:ext cx="4937760" cy="0"/>
          </a:xfrm>
          <a:prstGeom prst="line">
            <a:avLst/>
          </a:prstGeom>
          <a:noFill/>
          <a:ln w="6350">
            <a:solidFill>
              <a:srgbClr val="E8ECF2"/>
            </a:solidFill>
            <a:prstDash val="solid"/>
          </a:ln>
        </p:spPr>
      </p:sp>
      <p:sp>
        <p:nvSpPr>
          <p:cNvPr id="13" name="Text 11"/>
          <p:cNvSpPr/>
          <p:nvPr/>
        </p:nvSpPr>
        <p:spPr>
          <a:xfrm>
            <a:off x="548640" y="2267712"/>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Serving</a:t>
            </a:r>
            <a:endParaRPr lang="en-US" sz="1000" dirty="0"/>
          </a:p>
        </p:txBody>
      </p:sp>
      <p:sp>
        <p:nvSpPr>
          <p:cNvPr id="14" name="Text 12"/>
          <p:cNvSpPr/>
          <p:nvPr/>
        </p:nvSpPr>
        <p:spPr>
          <a:xfrm>
            <a:off x="548640" y="2523744"/>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UOB corporate customers across Singapore, Malaysia, Vietnam, China, Hong Kong, Thailand</a:t>
            </a:r>
            <a:endParaRPr lang="en-US" sz="1000" dirty="0"/>
          </a:p>
        </p:txBody>
      </p:sp>
      <p:sp>
        <p:nvSpPr>
          <p:cNvPr id="15" name="Shape 13"/>
          <p:cNvSpPr/>
          <p:nvPr/>
        </p:nvSpPr>
        <p:spPr>
          <a:xfrm>
            <a:off x="548640" y="2889504"/>
            <a:ext cx="4937760" cy="0"/>
          </a:xfrm>
          <a:prstGeom prst="line">
            <a:avLst/>
          </a:prstGeom>
          <a:noFill/>
          <a:ln w="6350">
            <a:solidFill>
              <a:srgbClr val="E8ECF2"/>
            </a:solidFill>
            <a:prstDash val="solid"/>
          </a:ln>
        </p:spPr>
      </p:sp>
      <p:sp>
        <p:nvSpPr>
          <p:cNvPr id="16" name="Text 14"/>
          <p:cNvSpPr/>
          <p:nvPr/>
        </p:nvSpPr>
        <p:spPr>
          <a:xfrm>
            <a:off x="548640" y="3026664"/>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Business Scope</a:t>
            </a:r>
            <a:endParaRPr lang="en-US" sz="1000" dirty="0"/>
          </a:p>
        </p:txBody>
      </p:sp>
      <p:sp>
        <p:nvSpPr>
          <p:cNvPr id="17" name="Text 15"/>
          <p:cNvSpPr/>
          <p:nvPr/>
        </p:nvSpPr>
        <p:spPr>
          <a:xfrm>
            <a:off x="548640" y="3282696"/>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Fund Transfer, Letter of Credit, Bank Guarantee, Trade Finance, Payments</a:t>
            </a:r>
            <a:endParaRPr lang="en-US" sz="1000" dirty="0"/>
          </a:p>
        </p:txBody>
      </p:sp>
      <p:sp>
        <p:nvSpPr>
          <p:cNvPr id="18" name="Shape 16"/>
          <p:cNvSpPr/>
          <p:nvPr/>
        </p:nvSpPr>
        <p:spPr>
          <a:xfrm>
            <a:off x="548640" y="3648456"/>
            <a:ext cx="4937760" cy="0"/>
          </a:xfrm>
          <a:prstGeom prst="line">
            <a:avLst/>
          </a:prstGeom>
          <a:noFill/>
          <a:ln w="6350">
            <a:solidFill>
              <a:srgbClr val="E8ECF2"/>
            </a:solidFill>
            <a:prstDash val="solid"/>
          </a:ln>
        </p:spPr>
      </p:sp>
      <p:sp>
        <p:nvSpPr>
          <p:cNvPr id="19" name="Text 17"/>
          <p:cNvSpPr/>
          <p:nvPr/>
        </p:nvSpPr>
        <p:spPr>
          <a:xfrm>
            <a:off x="548640" y="3785616"/>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Users</a:t>
            </a:r>
            <a:endParaRPr lang="en-US" sz="1000" dirty="0"/>
          </a:p>
        </p:txBody>
      </p:sp>
      <p:sp>
        <p:nvSpPr>
          <p:cNvPr id="20" name="Text 18"/>
          <p:cNvSpPr/>
          <p:nvPr/>
        </p:nvSpPr>
        <p:spPr>
          <a:xfrm>
            <a:off x="548640" y="4041648"/>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Corporate MAKER / CHECKER / ADMIN roles with ACL-enforced access</a:t>
            </a:r>
            <a:endParaRPr lang="en-US" sz="1000" dirty="0"/>
          </a:p>
        </p:txBody>
      </p:sp>
      <p:sp>
        <p:nvSpPr>
          <p:cNvPr id="21" name="Shape 19"/>
          <p:cNvSpPr/>
          <p:nvPr/>
        </p:nvSpPr>
        <p:spPr>
          <a:xfrm>
            <a:off x="548640" y="4407408"/>
            <a:ext cx="4937760" cy="0"/>
          </a:xfrm>
          <a:prstGeom prst="line">
            <a:avLst/>
          </a:prstGeom>
          <a:noFill/>
          <a:ln w="6350">
            <a:solidFill>
              <a:srgbClr val="E8ECF2"/>
            </a:solidFill>
            <a:prstDash val="solid"/>
          </a:ln>
        </p:spPr>
      </p:sp>
      <p:sp>
        <p:nvSpPr>
          <p:cNvPr id="22" name="Text 20"/>
          <p:cNvSpPr/>
          <p:nvPr/>
        </p:nvSpPr>
        <p:spPr>
          <a:xfrm>
            <a:off x="548640" y="4544568"/>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Current Stack</a:t>
            </a:r>
            <a:endParaRPr lang="en-US" sz="1000" dirty="0"/>
          </a:p>
        </p:txBody>
      </p:sp>
      <p:sp>
        <p:nvSpPr>
          <p:cNvPr id="23" name="Text 21"/>
          <p:cNvSpPr/>
          <p:nvPr/>
        </p:nvSpPr>
        <p:spPr>
          <a:xfrm>
            <a:off x="548640" y="4800600"/>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JBoss EAP 7.x  ·  Java 8  ·  Apache Turbine 2.3.3 (Finastra-customised)</a:t>
            </a:r>
            <a:endParaRPr lang="en-US" sz="1000" dirty="0"/>
          </a:p>
        </p:txBody>
      </p:sp>
      <p:sp>
        <p:nvSpPr>
          <p:cNvPr id="24" name="Shape 22"/>
          <p:cNvSpPr/>
          <p:nvPr/>
        </p:nvSpPr>
        <p:spPr>
          <a:xfrm>
            <a:off x="548640" y="5166360"/>
            <a:ext cx="4937760" cy="0"/>
          </a:xfrm>
          <a:prstGeom prst="line">
            <a:avLst/>
          </a:prstGeom>
          <a:noFill/>
          <a:ln w="6350">
            <a:solidFill>
              <a:srgbClr val="E8ECF2"/>
            </a:solidFill>
            <a:prstDash val="solid"/>
          </a:ln>
        </p:spPr>
      </p:sp>
      <p:sp>
        <p:nvSpPr>
          <p:cNvPr id="25" name="Text 23"/>
          <p:cNvSpPr/>
          <p:nvPr/>
        </p:nvSpPr>
        <p:spPr>
          <a:xfrm>
            <a:off x="548640" y="5303520"/>
            <a:ext cx="1828800" cy="256032"/>
          </a:xfrm>
          <a:prstGeom prst="rect">
            <a:avLst/>
          </a:prstGeom>
          <a:noFill/>
          <a:ln/>
        </p:spPr>
        <p:txBody>
          <a:bodyPr wrap="square" lIns="0" tIns="0" rIns="0" bIns="0" rtlCol="0" anchor="ctr"/>
          <a:lstStyle/>
          <a:p>
            <a:pPr indent="0" marL="0">
              <a:buNone/>
            </a:pPr>
            <a:r>
              <a:rPr lang="en-US" sz="1000" b="1" dirty="0">
                <a:solidFill>
                  <a:srgbClr val="1A4A7A"/>
                </a:solidFill>
                <a:latin typeface="Calibri" pitchFamily="34" charset="0"/>
                <a:ea typeface="Calibri" pitchFamily="34" charset="-122"/>
                <a:cs typeface="Calibri" pitchFamily="34" charset="-120"/>
              </a:rPr>
              <a:t>Target Stack</a:t>
            </a:r>
            <a:endParaRPr lang="en-US" sz="1000" dirty="0"/>
          </a:p>
        </p:txBody>
      </p:sp>
      <p:sp>
        <p:nvSpPr>
          <p:cNvPr id="26" name="Text 24"/>
          <p:cNvSpPr/>
          <p:nvPr/>
        </p:nvSpPr>
        <p:spPr>
          <a:xfrm>
            <a:off x="548640" y="5559552"/>
            <a:ext cx="493776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JBoss EAP 8  ·  Java 17  ·  Jakarta EE  ·  Turbine 7  ·  Tomcat 10 compatible</a:t>
            </a:r>
            <a:endParaRPr lang="en-US" sz="1000" dirty="0"/>
          </a:p>
        </p:txBody>
      </p:sp>
      <p:sp>
        <p:nvSpPr>
          <p:cNvPr id="27" name="Shape 25"/>
          <p:cNvSpPr/>
          <p:nvPr/>
        </p:nvSpPr>
        <p:spPr>
          <a:xfrm>
            <a:off x="5943600" y="960120"/>
            <a:ext cx="5852160" cy="52120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5943600" y="960120"/>
            <a:ext cx="5852160" cy="411480"/>
          </a:xfrm>
          <a:prstGeom prst="rect">
            <a:avLst/>
          </a:prstGeom>
          <a:solidFill>
            <a:srgbClr val="003366"/>
          </a:solidFill>
          <a:ln w="12700">
            <a:solidFill>
              <a:srgbClr val="003366"/>
            </a:solidFill>
            <a:prstDash val="solid"/>
          </a:ln>
        </p:spPr>
      </p:sp>
      <p:sp>
        <p:nvSpPr>
          <p:cNvPr id="29" name="Text 27"/>
          <p:cNvSpPr/>
          <p:nvPr/>
        </p:nvSpPr>
        <p:spPr>
          <a:xfrm>
            <a:off x="6035040" y="978408"/>
            <a:ext cx="5669280" cy="347472"/>
          </a:xfrm>
          <a:prstGeom prst="rect">
            <a:avLst/>
          </a:prstGeom>
          <a:noFill/>
          <a:ln/>
        </p:spPr>
        <p:txBody>
          <a:bodyPr wrap="square" lIns="0" tIns="0" rIns="0" bIns="0" rtlCol="0" anchor="ctr"/>
          <a:lstStyle/>
          <a:p>
            <a:pPr indent="0" marL="0">
              <a:buNone/>
            </a:pPr>
            <a:r>
              <a:rPr lang="en-US" sz="1100" b="1" spc="100" kern="0" dirty="0">
                <a:solidFill>
                  <a:srgbClr val="C9A84C"/>
                </a:solidFill>
                <a:latin typeface="Calibri" pitchFamily="34" charset="0"/>
                <a:ea typeface="Calibri" pitchFamily="34" charset="-122"/>
                <a:cs typeface="Calibri" pitchFamily="34" charset="-120"/>
              </a:rPr>
              <a:t>CURRENT TECHNOLOGY STACK</a:t>
            </a:r>
            <a:endParaRPr lang="en-US" sz="1100" dirty="0"/>
          </a:p>
        </p:txBody>
      </p:sp>
      <p:sp>
        <p:nvSpPr>
          <p:cNvPr id="30" name="Shape 28"/>
          <p:cNvSpPr/>
          <p:nvPr/>
        </p:nvSpPr>
        <p:spPr>
          <a:xfrm>
            <a:off x="6035040" y="1545336"/>
            <a:ext cx="1371600" cy="274320"/>
          </a:xfrm>
          <a:prstGeom prst="rect">
            <a:avLst/>
          </a:prstGeom>
          <a:solidFill>
            <a:srgbClr val="001F3F"/>
          </a:solidFill>
          <a:ln w="12700">
            <a:solidFill>
              <a:srgbClr val="001F3F"/>
            </a:solidFill>
            <a:prstDash val="solid"/>
          </a:ln>
        </p:spPr>
      </p:sp>
      <p:sp>
        <p:nvSpPr>
          <p:cNvPr id="31" name="Text 29"/>
          <p:cNvSpPr/>
          <p:nvPr/>
        </p:nvSpPr>
        <p:spPr>
          <a:xfrm>
            <a:off x="6035040" y="1545336"/>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Runtime</a:t>
            </a:r>
            <a:endParaRPr lang="en-US" sz="800" dirty="0"/>
          </a:p>
        </p:txBody>
      </p:sp>
      <p:sp>
        <p:nvSpPr>
          <p:cNvPr id="32" name="Text 30"/>
          <p:cNvSpPr/>
          <p:nvPr/>
        </p:nvSpPr>
        <p:spPr>
          <a:xfrm>
            <a:off x="7498080" y="1545336"/>
            <a:ext cx="4114800" cy="27432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JBoss EAP 7.x</a:t>
            </a:r>
            <a:endParaRPr lang="en-US" sz="1000" dirty="0"/>
          </a:p>
        </p:txBody>
      </p:sp>
      <p:sp>
        <p:nvSpPr>
          <p:cNvPr id="33" name="Shape 31"/>
          <p:cNvSpPr/>
          <p:nvPr/>
        </p:nvSpPr>
        <p:spPr>
          <a:xfrm>
            <a:off x="6035040" y="1965960"/>
            <a:ext cx="1371600" cy="274320"/>
          </a:xfrm>
          <a:prstGeom prst="rect">
            <a:avLst/>
          </a:prstGeom>
          <a:solidFill>
            <a:srgbClr val="001F3F"/>
          </a:solidFill>
          <a:ln w="12700">
            <a:solidFill>
              <a:srgbClr val="001F3F"/>
            </a:solidFill>
            <a:prstDash val="solid"/>
          </a:ln>
        </p:spPr>
      </p:sp>
      <p:sp>
        <p:nvSpPr>
          <p:cNvPr id="34" name="Text 32"/>
          <p:cNvSpPr/>
          <p:nvPr/>
        </p:nvSpPr>
        <p:spPr>
          <a:xfrm>
            <a:off x="6035040" y="1965960"/>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Java</a:t>
            </a:r>
            <a:endParaRPr lang="en-US" sz="800" dirty="0"/>
          </a:p>
        </p:txBody>
      </p:sp>
      <p:sp>
        <p:nvSpPr>
          <p:cNvPr id="35" name="Text 33"/>
          <p:cNvSpPr/>
          <p:nvPr/>
        </p:nvSpPr>
        <p:spPr>
          <a:xfrm>
            <a:off x="7498080" y="1965960"/>
            <a:ext cx="4114800" cy="27432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Java 8 (EOL)</a:t>
            </a:r>
            <a:endParaRPr lang="en-US" sz="1000" dirty="0"/>
          </a:p>
        </p:txBody>
      </p:sp>
      <p:sp>
        <p:nvSpPr>
          <p:cNvPr id="36" name="Shape 34"/>
          <p:cNvSpPr/>
          <p:nvPr/>
        </p:nvSpPr>
        <p:spPr>
          <a:xfrm>
            <a:off x="6035040" y="2386584"/>
            <a:ext cx="1371600" cy="274320"/>
          </a:xfrm>
          <a:prstGeom prst="rect">
            <a:avLst/>
          </a:prstGeom>
          <a:solidFill>
            <a:srgbClr val="001F3F"/>
          </a:solidFill>
          <a:ln w="12700">
            <a:solidFill>
              <a:srgbClr val="001F3F"/>
            </a:solidFill>
            <a:prstDash val="solid"/>
          </a:ln>
        </p:spPr>
      </p:sp>
      <p:sp>
        <p:nvSpPr>
          <p:cNvPr id="37" name="Text 35"/>
          <p:cNvSpPr/>
          <p:nvPr/>
        </p:nvSpPr>
        <p:spPr>
          <a:xfrm>
            <a:off x="6035040" y="2386584"/>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Framework</a:t>
            </a:r>
            <a:endParaRPr lang="en-US" sz="800" dirty="0"/>
          </a:p>
        </p:txBody>
      </p:sp>
      <p:sp>
        <p:nvSpPr>
          <p:cNvPr id="38" name="Text 36"/>
          <p:cNvSpPr/>
          <p:nvPr/>
        </p:nvSpPr>
        <p:spPr>
          <a:xfrm>
            <a:off x="7498080" y="2386584"/>
            <a:ext cx="4114800" cy="274320"/>
          </a:xfrm>
          <a:prstGeom prst="rect">
            <a:avLst/>
          </a:prstGeom>
          <a:noFill/>
          <a:ln/>
        </p:spPr>
        <p:txBody>
          <a:bodyPr wrap="square" lIns="0" tIns="0" rIns="0" bIns="0" rtlCol="0" anchor="ctr"/>
          <a:lstStyle/>
          <a:p>
            <a:pPr indent="0" marL="0">
              <a:buNone/>
            </a:pPr>
            <a:r>
              <a:rPr lang="en-US" sz="1000" dirty="0">
                <a:solidFill>
                  <a:srgbClr val="D4A017"/>
                </a:solidFill>
                <a:latin typeface="Calibri" pitchFamily="34" charset="0"/>
                <a:ea typeface="Calibri" pitchFamily="34" charset="-122"/>
                <a:cs typeface="Calibri" pitchFamily="34" charset="-120"/>
              </a:rPr>
              <a:t>Apache Turbine 2.3.3 (Finastra bundle)</a:t>
            </a:r>
            <a:endParaRPr lang="en-US" sz="1000" dirty="0"/>
          </a:p>
        </p:txBody>
      </p:sp>
      <p:sp>
        <p:nvSpPr>
          <p:cNvPr id="39" name="Shape 37"/>
          <p:cNvSpPr/>
          <p:nvPr/>
        </p:nvSpPr>
        <p:spPr>
          <a:xfrm>
            <a:off x="6035040" y="2807208"/>
            <a:ext cx="1371600" cy="274320"/>
          </a:xfrm>
          <a:prstGeom prst="rect">
            <a:avLst/>
          </a:prstGeom>
          <a:solidFill>
            <a:srgbClr val="001F3F"/>
          </a:solidFill>
          <a:ln w="12700">
            <a:solidFill>
              <a:srgbClr val="001F3F"/>
            </a:solidFill>
            <a:prstDash val="solid"/>
          </a:ln>
        </p:spPr>
      </p:sp>
      <p:sp>
        <p:nvSpPr>
          <p:cNvPr id="40" name="Text 38"/>
          <p:cNvSpPr/>
          <p:nvPr/>
        </p:nvSpPr>
        <p:spPr>
          <a:xfrm>
            <a:off x="6035040" y="2807208"/>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Servlet API</a:t>
            </a:r>
            <a:endParaRPr lang="en-US" sz="800" dirty="0"/>
          </a:p>
        </p:txBody>
      </p:sp>
      <p:sp>
        <p:nvSpPr>
          <p:cNvPr id="41" name="Text 39"/>
          <p:cNvSpPr/>
          <p:nvPr/>
        </p:nvSpPr>
        <p:spPr>
          <a:xfrm>
            <a:off x="7498080" y="2807208"/>
            <a:ext cx="4114800" cy="27432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javax.servlet.* namespace</a:t>
            </a:r>
            <a:endParaRPr lang="en-US" sz="1000" dirty="0"/>
          </a:p>
        </p:txBody>
      </p:sp>
      <p:sp>
        <p:nvSpPr>
          <p:cNvPr id="42" name="Shape 40"/>
          <p:cNvSpPr/>
          <p:nvPr/>
        </p:nvSpPr>
        <p:spPr>
          <a:xfrm>
            <a:off x="6035040" y="3227832"/>
            <a:ext cx="1371600" cy="274320"/>
          </a:xfrm>
          <a:prstGeom prst="rect">
            <a:avLst/>
          </a:prstGeom>
          <a:solidFill>
            <a:srgbClr val="001F3F"/>
          </a:solidFill>
          <a:ln w="12700">
            <a:solidFill>
              <a:srgbClr val="001F3F"/>
            </a:solidFill>
            <a:prstDash val="solid"/>
          </a:ln>
        </p:spPr>
      </p:sp>
      <p:sp>
        <p:nvSpPr>
          <p:cNvPr id="43" name="Text 41"/>
          <p:cNvSpPr/>
          <p:nvPr/>
        </p:nvSpPr>
        <p:spPr>
          <a:xfrm>
            <a:off x="6035040" y="3227832"/>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Template Engine</a:t>
            </a:r>
            <a:endParaRPr lang="en-US" sz="800" dirty="0"/>
          </a:p>
        </p:txBody>
      </p:sp>
      <p:sp>
        <p:nvSpPr>
          <p:cNvPr id="44" name="Text 42"/>
          <p:cNvSpPr/>
          <p:nvPr/>
        </p:nvSpPr>
        <p:spPr>
          <a:xfrm>
            <a:off x="7498080" y="3227832"/>
            <a:ext cx="4114800" cy="274320"/>
          </a:xfrm>
          <a:prstGeom prst="rect">
            <a:avLst/>
          </a:prstGeom>
          <a:noFill/>
          <a:ln/>
        </p:spPr>
        <p:txBody>
          <a:bodyPr wrap="square" lIns="0" tIns="0" rIns="0" bIns="0" rtlCol="0" anchor="ctr"/>
          <a:lstStyle/>
          <a:p>
            <a:pPr indent="0" marL="0">
              <a:buNone/>
            </a:pPr>
            <a:r>
              <a:rPr lang="en-US" sz="1000" dirty="0">
                <a:solidFill>
                  <a:srgbClr val="1A7A4A"/>
                </a:solidFill>
                <a:latin typeface="Calibri" pitchFamily="34" charset="0"/>
                <a:ea typeface="Calibri" pitchFamily="34" charset="-122"/>
                <a:cs typeface="Calibri" pitchFamily="34" charset="-120"/>
              </a:rPr>
              <a:t>Velocity 1.7  +  ECS 1.4.2</a:t>
            </a:r>
            <a:endParaRPr lang="en-US" sz="1000" dirty="0"/>
          </a:p>
        </p:txBody>
      </p:sp>
      <p:sp>
        <p:nvSpPr>
          <p:cNvPr id="45" name="Shape 43"/>
          <p:cNvSpPr/>
          <p:nvPr/>
        </p:nvSpPr>
        <p:spPr>
          <a:xfrm>
            <a:off x="6035040" y="3648456"/>
            <a:ext cx="1371600" cy="274320"/>
          </a:xfrm>
          <a:prstGeom prst="rect">
            <a:avLst/>
          </a:prstGeom>
          <a:solidFill>
            <a:srgbClr val="001F3F"/>
          </a:solidFill>
          <a:ln w="12700">
            <a:solidFill>
              <a:srgbClr val="001F3F"/>
            </a:solidFill>
            <a:prstDash val="solid"/>
          </a:ln>
        </p:spPr>
      </p:sp>
      <p:sp>
        <p:nvSpPr>
          <p:cNvPr id="46" name="Text 44"/>
          <p:cNvSpPr/>
          <p:nvPr/>
        </p:nvSpPr>
        <p:spPr>
          <a:xfrm>
            <a:off x="6035040" y="3648456"/>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XSLT Processor</a:t>
            </a:r>
            <a:endParaRPr lang="en-US" sz="800" dirty="0"/>
          </a:p>
        </p:txBody>
      </p:sp>
      <p:sp>
        <p:nvSpPr>
          <p:cNvPr id="47" name="Text 45"/>
          <p:cNvSpPr/>
          <p:nvPr/>
        </p:nvSpPr>
        <p:spPr>
          <a:xfrm>
            <a:off x="7498080" y="3648456"/>
            <a:ext cx="4114800" cy="274320"/>
          </a:xfrm>
          <a:prstGeom prst="rect">
            <a:avLst/>
          </a:prstGeom>
          <a:noFill/>
          <a:ln/>
        </p:spPr>
        <p:txBody>
          <a:bodyPr wrap="square" lIns="0" tIns="0" rIns="0" bIns="0" rtlCol="0" anchor="ctr"/>
          <a:lstStyle/>
          <a:p>
            <a:pPr indent="0" marL="0">
              <a:buNone/>
            </a:pPr>
            <a:r>
              <a:rPr lang="en-US" sz="1000" dirty="0">
                <a:solidFill>
                  <a:srgbClr val="1A7A4A"/>
                </a:solidFill>
                <a:latin typeface="Calibri" pitchFamily="34" charset="0"/>
                <a:ea typeface="Calibri" pitchFamily="34" charset="-122"/>
                <a:cs typeface="Calibri" pitchFamily="34" charset="-120"/>
              </a:rPr>
              <a:t>Xalan 2.7.2</a:t>
            </a:r>
            <a:endParaRPr lang="en-US" sz="1000" dirty="0"/>
          </a:p>
        </p:txBody>
      </p:sp>
      <p:sp>
        <p:nvSpPr>
          <p:cNvPr id="48" name="Shape 46"/>
          <p:cNvSpPr/>
          <p:nvPr/>
        </p:nvSpPr>
        <p:spPr>
          <a:xfrm>
            <a:off x="6035040" y="4069080"/>
            <a:ext cx="1371600" cy="274320"/>
          </a:xfrm>
          <a:prstGeom prst="rect">
            <a:avLst/>
          </a:prstGeom>
          <a:solidFill>
            <a:srgbClr val="001F3F"/>
          </a:solidFill>
          <a:ln w="12700">
            <a:solidFill>
              <a:srgbClr val="001F3F"/>
            </a:solidFill>
            <a:prstDash val="solid"/>
          </a:ln>
        </p:spPr>
      </p:sp>
      <p:sp>
        <p:nvSpPr>
          <p:cNvPr id="49" name="Text 47"/>
          <p:cNvSpPr/>
          <p:nvPr/>
        </p:nvSpPr>
        <p:spPr>
          <a:xfrm>
            <a:off x="6035040" y="4069080"/>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ORM</a:t>
            </a:r>
            <a:endParaRPr lang="en-US" sz="800" dirty="0"/>
          </a:p>
        </p:txBody>
      </p:sp>
      <p:sp>
        <p:nvSpPr>
          <p:cNvPr id="50" name="Text 48"/>
          <p:cNvSpPr/>
          <p:nvPr/>
        </p:nvSpPr>
        <p:spPr>
          <a:xfrm>
            <a:off x="7498080" y="4069080"/>
            <a:ext cx="4114800" cy="274320"/>
          </a:xfrm>
          <a:prstGeom prst="rect">
            <a:avLst/>
          </a:prstGeom>
          <a:noFill/>
          <a:ln/>
        </p:spPr>
        <p:txBody>
          <a:bodyPr wrap="square" lIns="0" tIns="0" rIns="0" bIns="0" rtlCol="0" anchor="ctr"/>
          <a:lstStyle/>
          <a:p>
            <a:pPr indent="0" marL="0">
              <a:buNone/>
            </a:pPr>
            <a:r>
              <a:rPr lang="en-US" sz="1000" dirty="0">
                <a:solidFill>
                  <a:srgbClr val="D4A017"/>
                </a:solidFill>
                <a:latin typeface="Calibri" pitchFamily="34" charset="0"/>
                <a:ea typeface="Calibri" pitchFamily="34" charset="-122"/>
                <a:cs typeface="Calibri" pitchFamily="34" charset="-120"/>
              </a:rPr>
              <a:t>Torque 3.1.1  +  PoolBrokerService</a:t>
            </a:r>
            <a:endParaRPr lang="en-US" sz="1000" dirty="0"/>
          </a:p>
        </p:txBody>
      </p:sp>
      <p:sp>
        <p:nvSpPr>
          <p:cNvPr id="51" name="Shape 49"/>
          <p:cNvSpPr/>
          <p:nvPr/>
        </p:nvSpPr>
        <p:spPr>
          <a:xfrm>
            <a:off x="6035040" y="4489704"/>
            <a:ext cx="1371600" cy="274320"/>
          </a:xfrm>
          <a:prstGeom prst="rect">
            <a:avLst/>
          </a:prstGeom>
          <a:solidFill>
            <a:srgbClr val="001F3F"/>
          </a:solidFill>
          <a:ln w="12700">
            <a:solidFill>
              <a:srgbClr val="001F3F"/>
            </a:solidFill>
            <a:prstDash val="solid"/>
          </a:ln>
        </p:spPr>
      </p:sp>
      <p:sp>
        <p:nvSpPr>
          <p:cNvPr id="52" name="Text 50"/>
          <p:cNvSpPr/>
          <p:nvPr/>
        </p:nvSpPr>
        <p:spPr>
          <a:xfrm>
            <a:off x="6035040" y="4489704"/>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Portal Pages</a:t>
            </a:r>
            <a:endParaRPr lang="en-US" sz="800" dirty="0"/>
          </a:p>
        </p:txBody>
      </p:sp>
      <p:sp>
        <p:nvSpPr>
          <p:cNvPr id="53" name="Text 51"/>
          <p:cNvSpPr/>
          <p:nvPr/>
        </p:nvSpPr>
        <p:spPr>
          <a:xfrm>
            <a:off x="7498080" y="4489704"/>
            <a:ext cx="4114800" cy="27432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PSML via Castor XML</a:t>
            </a:r>
            <a:endParaRPr lang="en-US" sz="1000" dirty="0"/>
          </a:p>
        </p:txBody>
      </p:sp>
      <p:sp>
        <p:nvSpPr>
          <p:cNvPr id="54" name="Shape 52"/>
          <p:cNvSpPr/>
          <p:nvPr/>
        </p:nvSpPr>
        <p:spPr>
          <a:xfrm>
            <a:off x="6035040" y="4910328"/>
            <a:ext cx="1371600" cy="274320"/>
          </a:xfrm>
          <a:prstGeom prst="rect">
            <a:avLst/>
          </a:prstGeom>
          <a:solidFill>
            <a:srgbClr val="001F3F"/>
          </a:solidFill>
          <a:ln w="12700">
            <a:solidFill>
              <a:srgbClr val="001F3F"/>
            </a:solidFill>
            <a:prstDash val="solid"/>
          </a:ln>
        </p:spPr>
      </p:sp>
      <p:sp>
        <p:nvSpPr>
          <p:cNvPr id="55" name="Text 53"/>
          <p:cNvSpPr/>
          <p:nvPr/>
        </p:nvSpPr>
        <p:spPr>
          <a:xfrm>
            <a:off x="6035040" y="4910328"/>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Logging</a:t>
            </a:r>
            <a:endParaRPr lang="en-US" sz="800" dirty="0"/>
          </a:p>
        </p:txBody>
      </p:sp>
      <p:sp>
        <p:nvSpPr>
          <p:cNvPr id="56" name="Text 54"/>
          <p:cNvSpPr/>
          <p:nvPr/>
        </p:nvSpPr>
        <p:spPr>
          <a:xfrm>
            <a:off x="7498080" y="4910328"/>
            <a:ext cx="4114800" cy="274320"/>
          </a:xfrm>
          <a:prstGeom prst="rect">
            <a:avLst/>
          </a:prstGeom>
          <a:noFill/>
          <a:ln/>
        </p:spPr>
        <p:txBody>
          <a:bodyPr wrap="square" lIns="0" tIns="0" rIns="0" bIns="0" rtlCol="0" anchor="ctr"/>
          <a:lstStyle/>
          <a:p>
            <a:pPr indent="0" marL="0">
              <a:buNone/>
            </a:pPr>
            <a:r>
              <a:rPr lang="en-US" sz="1000" dirty="0">
                <a:solidFill>
                  <a:srgbClr val="C0392B"/>
                </a:solidFill>
                <a:latin typeface="Calibri" pitchFamily="34" charset="0"/>
                <a:ea typeface="Calibri" pitchFamily="34" charset="-122"/>
                <a:cs typeface="Calibri" pitchFamily="34" charset="-120"/>
              </a:rPr>
              <a:t>log4j 1.2.17 (CRITICAL CVE)</a:t>
            </a:r>
            <a:endParaRPr lang="en-US" sz="1000" dirty="0"/>
          </a:p>
        </p:txBody>
      </p:sp>
      <p:sp>
        <p:nvSpPr>
          <p:cNvPr id="57" name="Shape 55"/>
          <p:cNvSpPr/>
          <p:nvPr/>
        </p:nvSpPr>
        <p:spPr>
          <a:xfrm>
            <a:off x="6035040" y="5330952"/>
            <a:ext cx="1371600" cy="274320"/>
          </a:xfrm>
          <a:prstGeom prst="rect">
            <a:avLst/>
          </a:prstGeom>
          <a:solidFill>
            <a:srgbClr val="001F3F"/>
          </a:solidFill>
          <a:ln w="12700">
            <a:solidFill>
              <a:srgbClr val="001F3F"/>
            </a:solidFill>
            <a:prstDash val="solid"/>
          </a:ln>
        </p:spPr>
      </p:sp>
      <p:sp>
        <p:nvSpPr>
          <p:cNvPr id="58" name="Text 56"/>
          <p:cNvSpPr/>
          <p:nvPr/>
        </p:nvSpPr>
        <p:spPr>
          <a:xfrm>
            <a:off x="6035040" y="5330952"/>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Build</a:t>
            </a:r>
            <a:endParaRPr lang="en-US" sz="800" dirty="0"/>
          </a:p>
        </p:txBody>
      </p:sp>
      <p:sp>
        <p:nvSpPr>
          <p:cNvPr id="59" name="Text 57"/>
          <p:cNvSpPr/>
          <p:nvPr/>
        </p:nvSpPr>
        <p:spPr>
          <a:xfrm>
            <a:off x="7498080" y="5330952"/>
            <a:ext cx="4114800" cy="274320"/>
          </a:xfrm>
          <a:prstGeom prst="rect">
            <a:avLst/>
          </a:prstGeom>
          <a:noFill/>
          <a:ln/>
        </p:spPr>
        <p:txBody>
          <a:bodyPr wrap="square" lIns="0" tIns="0" rIns="0" bIns="0" rtlCol="0" anchor="ctr"/>
          <a:lstStyle/>
          <a:p>
            <a:pPr indent="0" marL="0">
              <a:buNone/>
            </a:pPr>
            <a:r>
              <a:rPr lang="en-US" sz="1000" dirty="0">
                <a:solidFill>
                  <a:srgbClr val="1A7A4A"/>
                </a:solidFill>
                <a:latin typeface="Calibri" pitchFamily="34" charset="0"/>
                <a:ea typeface="Calibri" pitchFamily="34" charset="-122"/>
                <a:cs typeface="Calibri" pitchFamily="34" charset="-120"/>
              </a:rPr>
              <a:t>Apache Ant  +  Bitbucket  +  Jenkins</a:t>
            </a:r>
            <a:endParaRPr lang="en-US" sz="1000" dirty="0"/>
          </a:p>
        </p:txBody>
      </p:sp>
      <p:sp>
        <p:nvSpPr>
          <p:cNvPr id="60" name="Shape 58"/>
          <p:cNvSpPr/>
          <p:nvPr/>
        </p:nvSpPr>
        <p:spPr>
          <a:xfrm>
            <a:off x="6035040" y="5751576"/>
            <a:ext cx="1371600" cy="274320"/>
          </a:xfrm>
          <a:prstGeom prst="rect">
            <a:avLst/>
          </a:prstGeom>
          <a:solidFill>
            <a:srgbClr val="001F3F"/>
          </a:solidFill>
          <a:ln w="12700">
            <a:solidFill>
              <a:srgbClr val="001F3F"/>
            </a:solidFill>
            <a:prstDash val="solid"/>
          </a:ln>
        </p:spPr>
      </p:sp>
      <p:sp>
        <p:nvSpPr>
          <p:cNvPr id="61" name="Text 59"/>
          <p:cNvSpPr/>
          <p:nvPr/>
        </p:nvSpPr>
        <p:spPr>
          <a:xfrm>
            <a:off x="6035040" y="5751576"/>
            <a:ext cx="1371600" cy="274320"/>
          </a:xfrm>
          <a:prstGeom prst="rect">
            <a:avLst/>
          </a:prstGeom>
          <a:noFill/>
          <a:ln/>
        </p:spPr>
        <p:txBody>
          <a:bodyPr wrap="square" lIns="0" tIns="0" rIns="0" bIns="0" rtlCol="0" anchor="ctr"/>
          <a:lstStyle/>
          <a:p>
            <a:pPr algn="ctr" indent="0" marL="0">
              <a:buNone/>
            </a:pPr>
            <a:r>
              <a:rPr lang="en-US" sz="800" b="1" dirty="0">
                <a:solidFill>
                  <a:srgbClr val="8FA3BF"/>
                </a:solidFill>
                <a:latin typeface="Calibri" pitchFamily="34" charset="0"/>
                <a:ea typeface="Calibri" pitchFamily="34" charset="-122"/>
                <a:cs typeface="Calibri" pitchFamily="34" charset="-120"/>
              </a:rPr>
              <a:t>Database</a:t>
            </a:r>
            <a:endParaRPr lang="en-US" sz="800" dirty="0"/>
          </a:p>
        </p:txBody>
      </p:sp>
      <p:sp>
        <p:nvSpPr>
          <p:cNvPr id="62" name="Text 60"/>
          <p:cNvSpPr/>
          <p:nvPr/>
        </p:nvSpPr>
        <p:spPr>
          <a:xfrm>
            <a:off x="7498080" y="5751576"/>
            <a:ext cx="4114800" cy="274320"/>
          </a:xfrm>
          <a:prstGeom prst="rect">
            <a:avLst/>
          </a:prstGeom>
          <a:noFill/>
          <a:ln/>
        </p:spPr>
        <p:txBody>
          <a:bodyPr wrap="square" lIns="0" tIns="0" rIns="0" bIns="0" rtlCol="0" anchor="ctr"/>
          <a:lstStyle/>
          <a:p>
            <a:pPr indent="0" marL="0">
              <a:buNone/>
            </a:pPr>
            <a:r>
              <a:rPr lang="en-US" sz="1000" dirty="0">
                <a:solidFill>
                  <a:srgbClr val="1A7A4A"/>
                </a:solidFill>
                <a:latin typeface="Calibri" pitchFamily="34" charset="0"/>
                <a:ea typeface="Calibri" pitchFamily="34" charset="-122"/>
                <a:cs typeface="Calibri" pitchFamily="34" charset="-120"/>
              </a:rPr>
              <a:t>Oracle  +  DBCP connection pool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Assessment Methodology</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How we approached this — War Room Sprint with hands-on validation</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1005840"/>
            <a:ext cx="5669280" cy="256032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005840"/>
            <a:ext cx="5669280" cy="457200"/>
          </a:xfrm>
          <a:prstGeom prst="rect">
            <a:avLst/>
          </a:prstGeom>
          <a:solidFill>
            <a:srgbClr val="003366"/>
          </a:solidFill>
          <a:ln w="12700">
            <a:solidFill>
              <a:srgbClr val="003366"/>
            </a:solidFill>
            <a:prstDash val="solid"/>
          </a:ln>
        </p:spPr>
      </p:sp>
      <p:sp>
        <p:nvSpPr>
          <p:cNvPr id="9" name="Shape 7"/>
          <p:cNvSpPr/>
          <p:nvPr/>
        </p:nvSpPr>
        <p:spPr>
          <a:xfrm>
            <a:off x="502920" y="1097280"/>
            <a:ext cx="292608" cy="292608"/>
          </a:xfrm>
          <a:prstGeom prst="ellipse">
            <a:avLst/>
          </a:prstGeom>
          <a:solidFill>
            <a:srgbClr val="C9A84C"/>
          </a:solidFill>
          <a:ln w="12700">
            <a:solidFill>
              <a:srgbClr val="C9A84C"/>
            </a:solidFill>
            <a:prstDash val="solid"/>
          </a:ln>
        </p:spPr>
      </p:sp>
      <p:sp>
        <p:nvSpPr>
          <p:cNvPr id="10" name="Text 8"/>
          <p:cNvSpPr/>
          <p:nvPr/>
        </p:nvSpPr>
        <p:spPr>
          <a:xfrm>
            <a:off x="502920" y="1097280"/>
            <a:ext cx="292608" cy="292608"/>
          </a:xfrm>
          <a:prstGeom prst="rect">
            <a:avLst/>
          </a:prstGeom>
          <a:noFill/>
          <a:ln/>
        </p:spPr>
        <p:txBody>
          <a:bodyPr wrap="square" lIns="0" tIns="0" rIns="0" bIns="0" rtlCol="0" anchor="ctr"/>
          <a:lstStyle/>
          <a:p>
            <a:pPr algn="ctr" indent="0" marL="0">
              <a:buNone/>
            </a:pPr>
            <a:r>
              <a:rPr lang="en-US" sz="900" b="1" dirty="0">
                <a:solidFill>
                  <a:srgbClr val="001F3F"/>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886968" y="1106424"/>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Source Code Analysis</a:t>
            </a:r>
            <a:endParaRPr lang="en-US" sz="1300" dirty="0"/>
          </a:p>
        </p:txBody>
      </p:sp>
      <p:sp>
        <p:nvSpPr>
          <p:cNvPr id="12" name="Shape 10"/>
          <p:cNvSpPr/>
          <p:nvPr/>
        </p:nvSpPr>
        <p:spPr>
          <a:xfrm>
            <a:off x="594360" y="1673352"/>
            <a:ext cx="73152" cy="73152"/>
          </a:xfrm>
          <a:prstGeom prst="ellipse">
            <a:avLst/>
          </a:prstGeom>
          <a:solidFill>
            <a:srgbClr val="003366"/>
          </a:solidFill>
          <a:ln w="12700">
            <a:solidFill>
              <a:srgbClr val="003366"/>
            </a:solidFill>
            <a:prstDash val="solid"/>
          </a:ln>
        </p:spPr>
      </p:sp>
      <p:sp>
        <p:nvSpPr>
          <p:cNvPr id="13" name="Text 11"/>
          <p:cNvSpPr/>
          <p:nvPr/>
        </p:nvSpPr>
        <p:spPr>
          <a:xfrm>
            <a:off x="749808" y="1600200"/>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Eclipse IDE deep-dive on real GEB source</a:t>
            </a:r>
            <a:endParaRPr lang="en-US" sz="1000" dirty="0"/>
          </a:p>
        </p:txBody>
      </p:sp>
      <p:sp>
        <p:nvSpPr>
          <p:cNvPr id="14" name="Shape 12"/>
          <p:cNvSpPr/>
          <p:nvPr/>
        </p:nvSpPr>
        <p:spPr>
          <a:xfrm>
            <a:off x="594360" y="2057400"/>
            <a:ext cx="73152" cy="73152"/>
          </a:xfrm>
          <a:prstGeom prst="ellipse">
            <a:avLst/>
          </a:prstGeom>
          <a:solidFill>
            <a:srgbClr val="003366"/>
          </a:solidFill>
          <a:ln w="12700">
            <a:solidFill>
              <a:srgbClr val="003366"/>
            </a:solidFill>
            <a:prstDash val="solid"/>
          </a:ln>
        </p:spPr>
      </p:sp>
      <p:sp>
        <p:nvSpPr>
          <p:cNvPr id="15" name="Text 13"/>
          <p:cNvSpPr/>
          <p:nvPr/>
        </p:nvSpPr>
        <p:spPr>
          <a:xfrm>
            <a:off x="749808" y="1984248"/>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Confirmed: DefaultGTPLayout extends Layout (not VelocityLayout)</a:t>
            </a:r>
            <a:endParaRPr lang="en-US" sz="1000" dirty="0"/>
          </a:p>
        </p:txBody>
      </p:sp>
      <p:sp>
        <p:nvSpPr>
          <p:cNvPr id="16" name="Shape 14"/>
          <p:cNvSpPr/>
          <p:nvPr/>
        </p:nvSpPr>
        <p:spPr>
          <a:xfrm>
            <a:off x="594360" y="2441448"/>
            <a:ext cx="73152" cy="73152"/>
          </a:xfrm>
          <a:prstGeom prst="ellipse">
            <a:avLst/>
          </a:prstGeom>
          <a:solidFill>
            <a:srgbClr val="003366"/>
          </a:solidFill>
          <a:ln w="12700">
            <a:solidFill>
              <a:srgbClr val="003366"/>
            </a:solidFill>
            <a:prstDash val="solid"/>
          </a:ln>
        </p:spPr>
      </p:sp>
      <p:sp>
        <p:nvSpPr>
          <p:cNvPr id="17" name="Text 15"/>
          <p:cNvSpPr/>
          <p:nvPr/>
        </p:nvSpPr>
        <p:spPr>
          <a:xfrm>
            <a:off x="749808" y="2368296"/>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Confirmed: GTPRootPortlet.addGridComparator() — data.getPage() pattern</a:t>
            </a:r>
            <a:endParaRPr lang="en-US" sz="1000" dirty="0"/>
          </a:p>
        </p:txBody>
      </p:sp>
      <p:sp>
        <p:nvSpPr>
          <p:cNvPr id="18" name="Shape 16"/>
          <p:cNvSpPr/>
          <p:nvPr/>
        </p:nvSpPr>
        <p:spPr>
          <a:xfrm>
            <a:off x="594360" y="2825496"/>
            <a:ext cx="73152" cy="73152"/>
          </a:xfrm>
          <a:prstGeom prst="ellipse">
            <a:avLst/>
          </a:prstGeom>
          <a:solidFill>
            <a:srgbClr val="003366"/>
          </a:solidFill>
          <a:ln w="12700">
            <a:solidFill>
              <a:srgbClr val="003366"/>
            </a:solidFill>
            <a:prstDash val="solid"/>
          </a:ln>
        </p:spPr>
      </p:sp>
      <p:sp>
        <p:nvSpPr>
          <p:cNvPr id="19" name="Text 17"/>
          <p:cNvSpPr/>
          <p:nvPr/>
        </p:nvSpPr>
        <p:spPr>
          <a:xfrm>
            <a:off x="749808" y="2752344"/>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Confirmed: 5-layer service architecture from turbine.properties (796 lines)</a:t>
            </a:r>
            <a:endParaRPr lang="en-US" sz="1000" dirty="0"/>
          </a:p>
        </p:txBody>
      </p:sp>
      <p:sp>
        <p:nvSpPr>
          <p:cNvPr id="20" name="Shape 18"/>
          <p:cNvSpPr/>
          <p:nvPr/>
        </p:nvSpPr>
        <p:spPr>
          <a:xfrm>
            <a:off x="594360" y="3209544"/>
            <a:ext cx="73152" cy="73152"/>
          </a:xfrm>
          <a:prstGeom prst="ellipse">
            <a:avLst/>
          </a:prstGeom>
          <a:solidFill>
            <a:srgbClr val="003366"/>
          </a:solidFill>
          <a:ln w="12700">
            <a:solidFill>
              <a:srgbClr val="003366"/>
            </a:solidFill>
            <a:prstDash val="solid"/>
          </a:ln>
        </p:spPr>
      </p:sp>
      <p:sp>
        <p:nvSpPr>
          <p:cNvPr id="21" name="Text 19"/>
          <p:cNvSpPr/>
          <p:nvPr/>
        </p:nvSpPr>
        <p:spPr>
          <a:xfrm>
            <a:off x="749808" y="3136392"/>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Confirmed: 33 services fully class-mapped across 5 layers</a:t>
            </a:r>
            <a:endParaRPr lang="en-US" sz="1000" dirty="0"/>
          </a:p>
        </p:txBody>
      </p:sp>
      <p:sp>
        <p:nvSpPr>
          <p:cNvPr id="22" name="Shape 20"/>
          <p:cNvSpPr/>
          <p:nvPr/>
        </p:nvSpPr>
        <p:spPr>
          <a:xfrm>
            <a:off x="6217920" y="1005840"/>
            <a:ext cx="5669280" cy="256032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217920" y="1005840"/>
            <a:ext cx="5669280" cy="457200"/>
          </a:xfrm>
          <a:prstGeom prst="rect">
            <a:avLst/>
          </a:prstGeom>
          <a:solidFill>
            <a:srgbClr val="1A4A7A"/>
          </a:solidFill>
          <a:ln w="12700">
            <a:solidFill>
              <a:srgbClr val="1A4A7A"/>
            </a:solidFill>
            <a:prstDash val="solid"/>
          </a:ln>
        </p:spPr>
      </p:sp>
      <p:sp>
        <p:nvSpPr>
          <p:cNvPr id="24" name="Shape 22"/>
          <p:cNvSpPr/>
          <p:nvPr/>
        </p:nvSpPr>
        <p:spPr>
          <a:xfrm>
            <a:off x="6355080" y="1097280"/>
            <a:ext cx="292608" cy="292608"/>
          </a:xfrm>
          <a:prstGeom prst="ellipse">
            <a:avLst/>
          </a:prstGeom>
          <a:solidFill>
            <a:srgbClr val="C9A84C"/>
          </a:solidFill>
          <a:ln w="12700">
            <a:solidFill>
              <a:srgbClr val="C9A84C"/>
            </a:solidFill>
            <a:prstDash val="solid"/>
          </a:ln>
        </p:spPr>
      </p:sp>
      <p:sp>
        <p:nvSpPr>
          <p:cNvPr id="25" name="Text 23"/>
          <p:cNvSpPr/>
          <p:nvPr/>
        </p:nvSpPr>
        <p:spPr>
          <a:xfrm>
            <a:off x="6355080" y="1097280"/>
            <a:ext cx="292608" cy="292608"/>
          </a:xfrm>
          <a:prstGeom prst="rect">
            <a:avLst/>
          </a:prstGeom>
          <a:noFill/>
          <a:ln/>
        </p:spPr>
        <p:txBody>
          <a:bodyPr wrap="square" lIns="0" tIns="0" rIns="0" bIns="0" rtlCol="0" anchor="ctr"/>
          <a:lstStyle/>
          <a:p>
            <a:pPr algn="ctr" indent="0" marL="0">
              <a:buNone/>
            </a:pPr>
            <a:r>
              <a:rPr lang="en-US" sz="900" b="1" dirty="0">
                <a:solidFill>
                  <a:srgbClr val="001F3F"/>
                </a:solidFill>
                <a:latin typeface="Calibri" pitchFamily="34" charset="0"/>
                <a:ea typeface="Calibri" pitchFamily="34" charset="-122"/>
                <a:cs typeface="Calibri" pitchFamily="34" charset="-120"/>
              </a:rPr>
              <a:t>02</a:t>
            </a:r>
            <a:endParaRPr lang="en-US" sz="900" dirty="0"/>
          </a:p>
        </p:txBody>
      </p:sp>
      <p:sp>
        <p:nvSpPr>
          <p:cNvPr id="26" name="Text 24"/>
          <p:cNvSpPr/>
          <p:nvPr/>
        </p:nvSpPr>
        <p:spPr>
          <a:xfrm>
            <a:off x="6739128" y="1106424"/>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JAR Compatibility Mapping</a:t>
            </a:r>
            <a:endParaRPr lang="en-US" sz="1300" dirty="0"/>
          </a:p>
        </p:txBody>
      </p:sp>
      <p:sp>
        <p:nvSpPr>
          <p:cNvPr id="27" name="Shape 25"/>
          <p:cNvSpPr/>
          <p:nvPr/>
        </p:nvSpPr>
        <p:spPr>
          <a:xfrm>
            <a:off x="6446520" y="1673352"/>
            <a:ext cx="73152" cy="73152"/>
          </a:xfrm>
          <a:prstGeom prst="ellipse">
            <a:avLst/>
          </a:prstGeom>
          <a:solidFill>
            <a:srgbClr val="1A4A7A"/>
          </a:solidFill>
          <a:ln w="12700">
            <a:solidFill>
              <a:srgbClr val="1A4A7A"/>
            </a:solidFill>
            <a:prstDash val="solid"/>
          </a:ln>
        </p:spPr>
      </p:sp>
      <p:sp>
        <p:nvSpPr>
          <p:cNvPr id="28" name="Text 26"/>
          <p:cNvSpPr/>
          <p:nvPr/>
        </p:nvSpPr>
        <p:spPr>
          <a:xfrm>
            <a:off x="6601968" y="1600200"/>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138 production JARs assessed individually</a:t>
            </a:r>
            <a:endParaRPr lang="en-US" sz="1000" dirty="0"/>
          </a:p>
        </p:txBody>
      </p:sp>
      <p:sp>
        <p:nvSpPr>
          <p:cNvPr id="29" name="Shape 27"/>
          <p:cNvSpPr/>
          <p:nvPr/>
        </p:nvSpPr>
        <p:spPr>
          <a:xfrm>
            <a:off x="6446520" y="2057400"/>
            <a:ext cx="73152" cy="73152"/>
          </a:xfrm>
          <a:prstGeom prst="ellipse">
            <a:avLst/>
          </a:prstGeom>
          <a:solidFill>
            <a:srgbClr val="1A4A7A"/>
          </a:solidFill>
          <a:ln w="12700">
            <a:solidFill>
              <a:srgbClr val="1A4A7A"/>
            </a:solidFill>
            <a:prstDash val="solid"/>
          </a:ln>
        </p:spPr>
      </p:sp>
      <p:sp>
        <p:nvSpPr>
          <p:cNvPr id="30" name="Text 28"/>
          <p:cNvSpPr/>
          <p:nvPr/>
        </p:nvSpPr>
        <p:spPr>
          <a:xfrm>
            <a:off x="6601968" y="1984248"/>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CVE scoring, Java 17 compatibility, Jakarta EE readiness</a:t>
            </a:r>
            <a:endParaRPr lang="en-US" sz="1000" dirty="0"/>
          </a:p>
        </p:txBody>
      </p:sp>
      <p:sp>
        <p:nvSpPr>
          <p:cNvPr id="31" name="Shape 29"/>
          <p:cNvSpPr/>
          <p:nvPr/>
        </p:nvSpPr>
        <p:spPr>
          <a:xfrm>
            <a:off x="6446520" y="2441448"/>
            <a:ext cx="73152" cy="73152"/>
          </a:xfrm>
          <a:prstGeom prst="ellipse">
            <a:avLst/>
          </a:prstGeom>
          <a:solidFill>
            <a:srgbClr val="1A4A7A"/>
          </a:solidFill>
          <a:ln w="12700">
            <a:solidFill>
              <a:srgbClr val="1A4A7A"/>
            </a:solidFill>
            <a:prstDash val="solid"/>
          </a:ln>
        </p:spPr>
      </p:sp>
      <p:sp>
        <p:nvSpPr>
          <p:cNvPr id="32" name="Text 30"/>
          <p:cNvSpPr/>
          <p:nvPr/>
        </p:nvSpPr>
        <p:spPr>
          <a:xfrm>
            <a:off x="6601968" y="2368296"/>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33 CRITICAL  ·  52 Upgrade needed  ·  28 Internal rebuild  ·  12 Verify</a:t>
            </a:r>
            <a:endParaRPr lang="en-US" sz="1000" dirty="0"/>
          </a:p>
        </p:txBody>
      </p:sp>
      <p:sp>
        <p:nvSpPr>
          <p:cNvPr id="33" name="Shape 31"/>
          <p:cNvSpPr/>
          <p:nvPr/>
        </p:nvSpPr>
        <p:spPr>
          <a:xfrm>
            <a:off x="6446520" y="2825496"/>
            <a:ext cx="73152" cy="73152"/>
          </a:xfrm>
          <a:prstGeom prst="ellipse">
            <a:avLst/>
          </a:prstGeom>
          <a:solidFill>
            <a:srgbClr val="1A4A7A"/>
          </a:solidFill>
          <a:ln w="12700">
            <a:solidFill>
              <a:srgbClr val="1A4A7A"/>
            </a:solidFill>
            <a:prstDash val="solid"/>
          </a:ln>
        </p:spPr>
      </p:sp>
      <p:sp>
        <p:nvSpPr>
          <p:cNvPr id="34" name="Text 32"/>
          <p:cNvSpPr/>
          <p:nvPr/>
        </p:nvSpPr>
        <p:spPr>
          <a:xfrm>
            <a:off x="6601968" y="2752344"/>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Identified devtools.jar + SNAPSHOT JARs in production</a:t>
            </a:r>
            <a:endParaRPr lang="en-US" sz="1000" dirty="0"/>
          </a:p>
        </p:txBody>
      </p:sp>
      <p:sp>
        <p:nvSpPr>
          <p:cNvPr id="35" name="Shape 33"/>
          <p:cNvSpPr/>
          <p:nvPr/>
        </p:nvSpPr>
        <p:spPr>
          <a:xfrm>
            <a:off x="6446520" y="3209544"/>
            <a:ext cx="73152" cy="73152"/>
          </a:xfrm>
          <a:prstGeom prst="ellipse">
            <a:avLst/>
          </a:prstGeom>
          <a:solidFill>
            <a:srgbClr val="1A4A7A"/>
          </a:solidFill>
          <a:ln w="12700">
            <a:solidFill>
              <a:srgbClr val="1A4A7A"/>
            </a:solidFill>
            <a:prstDash val="solid"/>
          </a:ln>
        </p:spPr>
      </p:sp>
      <p:sp>
        <p:nvSpPr>
          <p:cNvPr id="36" name="Text 34"/>
          <p:cNvSpPr/>
          <p:nvPr/>
        </p:nvSpPr>
        <p:spPr>
          <a:xfrm>
            <a:off x="6601968" y="3136392"/>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log4j 1.2.17 flagged as CRITICAL CVE — immediate action required</a:t>
            </a:r>
            <a:endParaRPr lang="en-US" sz="1000" dirty="0"/>
          </a:p>
        </p:txBody>
      </p:sp>
      <p:sp>
        <p:nvSpPr>
          <p:cNvPr id="37" name="Shape 35"/>
          <p:cNvSpPr/>
          <p:nvPr/>
        </p:nvSpPr>
        <p:spPr>
          <a:xfrm>
            <a:off x="365760" y="3611880"/>
            <a:ext cx="5669280" cy="256032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365760" y="3611880"/>
            <a:ext cx="5669280" cy="457200"/>
          </a:xfrm>
          <a:prstGeom prst="rect">
            <a:avLst/>
          </a:prstGeom>
          <a:solidFill>
            <a:srgbClr val="2C6FAC"/>
          </a:solidFill>
          <a:ln w="12700">
            <a:solidFill>
              <a:srgbClr val="2C6FAC"/>
            </a:solidFill>
            <a:prstDash val="solid"/>
          </a:ln>
        </p:spPr>
      </p:sp>
      <p:sp>
        <p:nvSpPr>
          <p:cNvPr id="39" name="Shape 37"/>
          <p:cNvSpPr/>
          <p:nvPr/>
        </p:nvSpPr>
        <p:spPr>
          <a:xfrm>
            <a:off x="502920" y="3703320"/>
            <a:ext cx="292608" cy="292608"/>
          </a:xfrm>
          <a:prstGeom prst="ellipse">
            <a:avLst/>
          </a:prstGeom>
          <a:solidFill>
            <a:srgbClr val="C9A84C"/>
          </a:solidFill>
          <a:ln w="12700">
            <a:solidFill>
              <a:srgbClr val="C9A84C"/>
            </a:solidFill>
            <a:prstDash val="solid"/>
          </a:ln>
        </p:spPr>
      </p:sp>
      <p:sp>
        <p:nvSpPr>
          <p:cNvPr id="40" name="Text 38"/>
          <p:cNvSpPr/>
          <p:nvPr/>
        </p:nvSpPr>
        <p:spPr>
          <a:xfrm>
            <a:off x="502920" y="3703320"/>
            <a:ext cx="292608" cy="292608"/>
          </a:xfrm>
          <a:prstGeom prst="rect">
            <a:avLst/>
          </a:prstGeom>
          <a:noFill/>
          <a:ln/>
        </p:spPr>
        <p:txBody>
          <a:bodyPr wrap="square" lIns="0" tIns="0" rIns="0" bIns="0" rtlCol="0" anchor="ctr"/>
          <a:lstStyle/>
          <a:p>
            <a:pPr algn="ctr" indent="0" marL="0">
              <a:buNone/>
            </a:pPr>
            <a:r>
              <a:rPr lang="en-US" sz="900" b="1" dirty="0">
                <a:solidFill>
                  <a:srgbClr val="001F3F"/>
                </a:solidFill>
                <a:latin typeface="Calibri" pitchFamily="34" charset="0"/>
                <a:ea typeface="Calibri" pitchFamily="34" charset="-122"/>
                <a:cs typeface="Calibri" pitchFamily="34" charset="-120"/>
              </a:rPr>
              <a:t>03</a:t>
            </a:r>
            <a:endParaRPr lang="en-US" sz="900" dirty="0"/>
          </a:p>
        </p:txBody>
      </p:sp>
      <p:sp>
        <p:nvSpPr>
          <p:cNvPr id="41" name="Text 39"/>
          <p:cNvSpPr/>
          <p:nvPr/>
        </p:nvSpPr>
        <p:spPr>
          <a:xfrm>
            <a:off x="886968" y="3712464"/>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War Room Sprint</a:t>
            </a:r>
            <a:endParaRPr lang="en-US" sz="1300" dirty="0"/>
          </a:p>
        </p:txBody>
      </p:sp>
      <p:sp>
        <p:nvSpPr>
          <p:cNvPr id="42" name="Shape 40"/>
          <p:cNvSpPr/>
          <p:nvPr/>
        </p:nvSpPr>
        <p:spPr>
          <a:xfrm>
            <a:off x="594360" y="4279392"/>
            <a:ext cx="73152" cy="73152"/>
          </a:xfrm>
          <a:prstGeom prst="ellipse">
            <a:avLst/>
          </a:prstGeom>
          <a:solidFill>
            <a:srgbClr val="2C6FAC"/>
          </a:solidFill>
          <a:ln w="12700">
            <a:solidFill>
              <a:srgbClr val="2C6FAC"/>
            </a:solidFill>
            <a:prstDash val="solid"/>
          </a:ln>
        </p:spPr>
      </p:sp>
      <p:sp>
        <p:nvSpPr>
          <p:cNvPr id="43" name="Text 41"/>
          <p:cNvSpPr/>
          <p:nvPr/>
        </p:nvSpPr>
        <p:spPr>
          <a:xfrm>
            <a:off x="749808" y="4206240"/>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Dedicated war room with offshore team (6 engineers)</a:t>
            </a:r>
            <a:endParaRPr lang="en-US" sz="1000" dirty="0"/>
          </a:p>
        </p:txBody>
      </p:sp>
      <p:sp>
        <p:nvSpPr>
          <p:cNvPr id="44" name="Shape 42"/>
          <p:cNvSpPr/>
          <p:nvPr/>
        </p:nvSpPr>
        <p:spPr>
          <a:xfrm>
            <a:off x="594360" y="4663440"/>
            <a:ext cx="73152" cy="73152"/>
          </a:xfrm>
          <a:prstGeom prst="ellipse">
            <a:avLst/>
          </a:prstGeom>
          <a:solidFill>
            <a:srgbClr val="2C6FAC"/>
          </a:solidFill>
          <a:ln w="12700">
            <a:solidFill>
              <a:srgbClr val="2C6FAC"/>
            </a:solidFill>
            <a:prstDash val="solid"/>
          </a:ln>
        </p:spPr>
      </p:sp>
      <p:sp>
        <p:nvSpPr>
          <p:cNvPr id="45" name="Text 43"/>
          <p:cNvSpPr/>
          <p:nvPr/>
        </p:nvSpPr>
        <p:spPr>
          <a:xfrm>
            <a:off x="749808" y="4590288"/>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Gokul — Torque + Bank Admin assessment</a:t>
            </a:r>
            <a:endParaRPr lang="en-US" sz="1000" dirty="0"/>
          </a:p>
        </p:txBody>
      </p:sp>
      <p:sp>
        <p:nvSpPr>
          <p:cNvPr id="46" name="Shape 44"/>
          <p:cNvSpPr/>
          <p:nvPr/>
        </p:nvSpPr>
        <p:spPr>
          <a:xfrm>
            <a:off x="594360" y="5047488"/>
            <a:ext cx="73152" cy="73152"/>
          </a:xfrm>
          <a:prstGeom prst="ellipse">
            <a:avLst/>
          </a:prstGeom>
          <a:solidFill>
            <a:srgbClr val="2C6FAC"/>
          </a:solidFill>
          <a:ln w="12700">
            <a:solidFill>
              <a:srgbClr val="2C6FAC"/>
            </a:solidFill>
            <a:prstDash val="solid"/>
          </a:ln>
        </p:spPr>
      </p:sp>
      <p:sp>
        <p:nvSpPr>
          <p:cNvPr id="47" name="Text 45"/>
          <p:cNvSpPr/>
          <p:nvPr/>
        </p:nvSpPr>
        <p:spPr>
          <a:xfrm>
            <a:off x="749808" y="4974336"/>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Sakthi — Trade Core + javax→jakarta namespace scan</a:t>
            </a:r>
            <a:endParaRPr lang="en-US" sz="1000" dirty="0"/>
          </a:p>
        </p:txBody>
      </p:sp>
      <p:sp>
        <p:nvSpPr>
          <p:cNvPr id="48" name="Shape 46"/>
          <p:cNvSpPr/>
          <p:nvPr/>
        </p:nvSpPr>
        <p:spPr>
          <a:xfrm>
            <a:off x="594360" y="5431536"/>
            <a:ext cx="73152" cy="73152"/>
          </a:xfrm>
          <a:prstGeom prst="ellipse">
            <a:avLst/>
          </a:prstGeom>
          <a:solidFill>
            <a:srgbClr val="2C6FAC"/>
          </a:solidFill>
          <a:ln w="12700">
            <a:solidFill>
              <a:srgbClr val="2C6FAC"/>
            </a:solidFill>
            <a:prstDash val="solid"/>
          </a:ln>
        </p:spPr>
      </p:sp>
      <p:sp>
        <p:nvSpPr>
          <p:cNvPr id="49" name="Text 47"/>
          <p:cNvSpPr/>
          <p:nvPr/>
        </p:nvSpPr>
        <p:spPr>
          <a:xfrm>
            <a:off x="749808" y="5358384"/>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Akshith/Chandra — Utilities, Spring layer, XSL layer</a:t>
            </a:r>
            <a:endParaRPr lang="en-US" sz="1000" dirty="0"/>
          </a:p>
        </p:txBody>
      </p:sp>
      <p:sp>
        <p:nvSpPr>
          <p:cNvPr id="50" name="Shape 48"/>
          <p:cNvSpPr/>
          <p:nvPr/>
        </p:nvSpPr>
        <p:spPr>
          <a:xfrm>
            <a:off x="594360" y="5815584"/>
            <a:ext cx="73152" cy="73152"/>
          </a:xfrm>
          <a:prstGeom prst="ellipse">
            <a:avLst/>
          </a:prstGeom>
          <a:solidFill>
            <a:srgbClr val="2C6FAC"/>
          </a:solidFill>
          <a:ln w="12700">
            <a:solidFill>
              <a:srgbClr val="2C6FAC"/>
            </a:solidFill>
            <a:prstDash val="solid"/>
          </a:ln>
        </p:spPr>
      </p:sp>
      <p:sp>
        <p:nvSpPr>
          <p:cNvPr id="51" name="Text 49"/>
          <p:cNvSpPr/>
          <p:nvPr/>
        </p:nvSpPr>
        <p:spPr>
          <a:xfrm>
            <a:off x="749808" y="5742432"/>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Kreshan/Archana — Token mechanism + E2EEService (grey area)</a:t>
            </a:r>
            <a:endParaRPr lang="en-US" sz="1000" dirty="0"/>
          </a:p>
        </p:txBody>
      </p:sp>
      <p:sp>
        <p:nvSpPr>
          <p:cNvPr id="52" name="Shape 50"/>
          <p:cNvSpPr/>
          <p:nvPr/>
        </p:nvSpPr>
        <p:spPr>
          <a:xfrm>
            <a:off x="6217920" y="3611880"/>
            <a:ext cx="5669280" cy="256032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53" name="Shape 51"/>
          <p:cNvSpPr/>
          <p:nvPr/>
        </p:nvSpPr>
        <p:spPr>
          <a:xfrm>
            <a:off x="6217920" y="3611880"/>
            <a:ext cx="5669280" cy="457200"/>
          </a:xfrm>
          <a:prstGeom prst="rect">
            <a:avLst/>
          </a:prstGeom>
          <a:solidFill>
            <a:srgbClr val="0D7377"/>
          </a:solidFill>
          <a:ln w="12700">
            <a:solidFill>
              <a:srgbClr val="0D7377"/>
            </a:solidFill>
            <a:prstDash val="solid"/>
          </a:ln>
        </p:spPr>
      </p:sp>
      <p:sp>
        <p:nvSpPr>
          <p:cNvPr id="54" name="Shape 52"/>
          <p:cNvSpPr/>
          <p:nvPr/>
        </p:nvSpPr>
        <p:spPr>
          <a:xfrm>
            <a:off x="6355080" y="3703320"/>
            <a:ext cx="292608" cy="292608"/>
          </a:xfrm>
          <a:prstGeom prst="ellipse">
            <a:avLst/>
          </a:prstGeom>
          <a:solidFill>
            <a:srgbClr val="C9A84C"/>
          </a:solidFill>
          <a:ln w="12700">
            <a:solidFill>
              <a:srgbClr val="C9A84C"/>
            </a:solidFill>
            <a:prstDash val="solid"/>
          </a:ln>
        </p:spPr>
      </p:sp>
      <p:sp>
        <p:nvSpPr>
          <p:cNvPr id="55" name="Text 53"/>
          <p:cNvSpPr/>
          <p:nvPr/>
        </p:nvSpPr>
        <p:spPr>
          <a:xfrm>
            <a:off x="6355080" y="3703320"/>
            <a:ext cx="292608" cy="292608"/>
          </a:xfrm>
          <a:prstGeom prst="rect">
            <a:avLst/>
          </a:prstGeom>
          <a:noFill/>
          <a:ln/>
        </p:spPr>
        <p:txBody>
          <a:bodyPr wrap="square" lIns="0" tIns="0" rIns="0" bIns="0" rtlCol="0" anchor="ctr"/>
          <a:lstStyle/>
          <a:p>
            <a:pPr algn="ctr" indent="0" marL="0">
              <a:buNone/>
            </a:pPr>
            <a:r>
              <a:rPr lang="en-US" sz="900" b="1" dirty="0">
                <a:solidFill>
                  <a:srgbClr val="001F3F"/>
                </a:solidFill>
                <a:latin typeface="Calibri" pitchFamily="34" charset="0"/>
                <a:ea typeface="Calibri" pitchFamily="34" charset="-122"/>
                <a:cs typeface="Calibri" pitchFamily="34" charset="-120"/>
              </a:rPr>
              <a:t>04</a:t>
            </a:r>
            <a:endParaRPr lang="en-US" sz="900" dirty="0"/>
          </a:p>
        </p:txBody>
      </p:sp>
      <p:sp>
        <p:nvSpPr>
          <p:cNvPr id="56" name="Text 54"/>
          <p:cNvSpPr/>
          <p:nvPr/>
        </p:nvSpPr>
        <p:spPr>
          <a:xfrm>
            <a:off x="6739128" y="3712464"/>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Hands-On POC — Mini-GEB</a:t>
            </a:r>
            <a:endParaRPr lang="en-US" sz="1300" dirty="0"/>
          </a:p>
        </p:txBody>
      </p:sp>
      <p:sp>
        <p:nvSpPr>
          <p:cNvPr id="57" name="Shape 55"/>
          <p:cNvSpPr/>
          <p:nvPr/>
        </p:nvSpPr>
        <p:spPr>
          <a:xfrm>
            <a:off x="6446520" y="4279392"/>
            <a:ext cx="73152" cy="73152"/>
          </a:xfrm>
          <a:prstGeom prst="ellipse">
            <a:avLst/>
          </a:prstGeom>
          <a:solidFill>
            <a:srgbClr val="0D7377"/>
          </a:solidFill>
          <a:ln w="12700">
            <a:solidFill>
              <a:srgbClr val="0D7377"/>
            </a:solidFill>
            <a:prstDash val="solid"/>
          </a:ln>
        </p:spPr>
      </p:sp>
      <p:sp>
        <p:nvSpPr>
          <p:cNvPr id="58" name="Text 56"/>
          <p:cNvSpPr/>
          <p:nvPr/>
        </p:nvSpPr>
        <p:spPr>
          <a:xfrm>
            <a:off x="6601968" y="4206240"/>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Built mini-replica of ACTUAL GEB architecture from scratch</a:t>
            </a:r>
            <a:endParaRPr lang="en-US" sz="1000" dirty="0"/>
          </a:p>
        </p:txBody>
      </p:sp>
      <p:sp>
        <p:nvSpPr>
          <p:cNvPr id="59" name="Shape 57"/>
          <p:cNvSpPr/>
          <p:nvPr/>
        </p:nvSpPr>
        <p:spPr>
          <a:xfrm>
            <a:off x="6446520" y="4663440"/>
            <a:ext cx="73152" cy="73152"/>
          </a:xfrm>
          <a:prstGeom prst="ellipse">
            <a:avLst/>
          </a:prstGeom>
          <a:solidFill>
            <a:srgbClr val="0D7377"/>
          </a:solidFill>
          <a:ln w="12700">
            <a:solidFill>
              <a:srgbClr val="0D7377"/>
            </a:solidFill>
            <a:prstDash val="solid"/>
          </a:ln>
        </p:spPr>
      </p:sp>
      <p:sp>
        <p:nvSpPr>
          <p:cNvPr id="60" name="Text 58"/>
          <p:cNvSpPr/>
          <p:nvPr/>
        </p:nvSpPr>
        <p:spPr>
          <a:xfrm>
            <a:off x="6601968" y="4590288"/>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Ran on Turbine 7 + Java 17 + Jakarta EE + Tomcat 10</a:t>
            </a:r>
            <a:endParaRPr lang="en-US" sz="1000" dirty="0"/>
          </a:p>
        </p:txBody>
      </p:sp>
      <p:sp>
        <p:nvSpPr>
          <p:cNvPr id="61" name="Shape 59"/>
          <p:cNvSpPr/>
          <p:nvPr/>
        </p:nvSpPr>
        <p:spPr>
          <a:xfrm>
            <a:off x="6446520" y="5047488"/>
            <a:ext cx="73152" cy="73152"/>
          </a:xfrm>
          <a:prstGeom prst="ellipse">
            <a:avLst/>
          </a:prstGeom>
          <a:solidFill>
            <a:srgbClr val="0D7377"/>
          </a:solidFill>
          <a:ln w="12700">
            <a:solidFill>
              <a:srgbClr val="0D7377"/>
            </a:solidFill>
            <a:prstDash val="solid"/>
          </a:ln>
        </p:spPr>
      </p:sp>
      <p:sp>
        <p:nvSpPr>
          <p:cNvPr id="62" name="Text 60"/>
          <p:cNvSpPr/>
          <p:nvPr/>
        </p:nvSpPr>
        <p:spPr>
          <a:xfrm>
            <a:off x="6601968" y="4974336"/>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Replicated: RunData pooling, PSML, ECS→XSL, PoolBroker, Velocity</a:t>
            </a:r>
            <a:endParaRPr lang="en-US" sz="1000" dirty="0"/>
          </a:p>
        </p:txBody>
      </p:sp>
      <p:sp>
        <p:nvSpPr>
          <p:cNvPr id="63" name="Shape 61"/>
          <p:cNvSpPr/>
          <p:nvPr/>
        </p:nvSpPr>
        <p:spPr>
          <a:xfrm>
            <a:off x="6446520" y="5431536"/>
            <a:ext cx="73152" cy="73152"/>
          </a:xfrm>
          <a:prstGeom prst="ellipse">
            <a:avLst/>
          </a:prstGeom>
          <a:solidFill>
            <a:srgbClr val="0D7377"/>
          </a:solidFill>
          <a:ln w="12700">
            <a:solidFill>
              <a:srgbClr val="0D7377"/>
            </a:solidFill>
            <a:prstDash val="solid"/>
          </a:ln>
        </p:spPr>
      </p:sp>
      <p:sp>
        <p:nvSpPr>
          <p:cNvPr id="64" name="Text 62"/>
          <p:cNvSpPr/>
          <p:nvPr/>
        </p:nvSpPr>
        <p:spPr>
          <a:xfrm>
            <a:off x="6601968" y="5358384"/>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4 RunData architecture tests — executed live, results verified</a:t>
            </a:r>
            <a:endParaRPr lang="en-US" sz="1000" dirty="0"/>
          </a:p>
        </p:txBody>
      </p:sp>
      <p:sp>
        <p:nvSpPr>
          <p:cNvPr id="65" name="Shape 63"/>
          <p:cNvSpPr/>
          <p:nvPr/>
        </p:nvSpPr>
        <p:spPr>
          <a:xfrm>
            <a:off x="6446520" y="5815584"/>
            <a:ext cx="73152" cy="73152"/>
          </a:xfrm>
          <a:prstGeom prst="ellipse">
            <a:avLst/>
          </a:prstGeom>
          <a:solidFill>
            <a:srgbClr val="0D7377"/>
          </a:solidFill>
          <a:ln w="12700">
            <a:solidFill>
              <a:srgbClr val="0D7377"/>
            </a:solidFill>
            <a:prstDash val="solid"/>
          </a:ln>
        </p:spPr>
      </p:sp>
      <p:sp>
        <p:nvSpPr>
          <p:cNvPr id="66" name="Text 64"/>
          <p:cNvSpPr/>
          <p:nvPr/>
        </p:nvSpPr>
        <p:spPr>
          <a:xfrm>
            <a:off x="6601968" y="5742432"/>
            <a:ext cx="502920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Every finding traceable to specific GEB source class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0" y="6492240"/>
            <a:ext cx="12161520" cy="365760"/>
          </a:xfrm>
          <a:prstGeom prst="rect">
            <a:avLst/>
          </a:prstGeom>
          <a:solidFill>
            <a:srgbClr val="001F3F"/>
          </a:solidFill>
          <a:ln w="12700">
            <a:solidFill>
              <a:srgbClr val="001122"/>
            </a:solidFill>
            <a:prstDash val="solid"/>
          </a:ln>
        </p:spPr>
      </p:sp>
      <p:sp>
        <p:nvSpPr>
          <p:cNvPr id="3" name="Text 1"/>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4" name="Shape 2"/>
          <p:cNvSpPr/>
          <p:nvPr/>
        </p:nvSpPr>
        <p:spPr>
          <a:xfrm>
            <a:off x="365760" y="228600"/>
            <a:ext cx="64008" cy="457200"/>
          </a:xfrm>
          <a:prstGeom prst="rect">
            <a:avLst/>
          </a:prstGeom>
          <a:solidFill>
            <a:srgbClr val="C9A84C"/>
          </a:solidFill>
          <a:ln w="12700">
            <a:solidFill>
              <a:srgbClr val="C9A84C"/>
            </a:solidFill>
            <a:prstDash val="solid"/>
          </a:ln>
        </p:spPr>
      </p:sp>
      <p:sp>
        <p:nvSpPr>
          <p:cNvPr id="5" name="Text 3"/>
          <p:cNvSpPr/>
          <p:nvPr/>
        </p:nvSpPr>
        <p:spPr>
          <a:xfrm>
            <a:off x="548640" y="201168"/>
            <a:ext cx="914400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GEB Architecture — 5-Layer Turbine Service Model</a:t>
            </a:r>
            <a:endParaRPr lang="en-US" sz="2000" dirty="0"/>
          </a:p>
        </p:txBody>
      </p:sp>
      <p:sp>
        <p:nvSpPr>
          <p:cNvPr id="6" name="Text 4"/>
          <p:cNvSpPr/>
          <p:nvPr/>
        </p:nvSpPr>
        <p:spPr>
          <a:xfrm>
            <a:off x="548640" y="566928"/>
            <a:ext cx="10972800" cy="201168"/>
          </a:xfrm>
          <a:prstGeom prst="rect">
            <a:avLst/>
          </a:prstGeom>
          <a:noFill/>
          <a:ln/>
        </p:spPr>
        <p:txBody>
          <a:bodyPr wrap="square" lIns="0" tIns="0" rIns="0" bIns="0" rtlCol="0" anchor="ctr"/>
          <a:lstStyle/>
          <a:p>
            <a:pPr indent="0" marL="0">
              <a:buNone/>
            </a:pPr>
            <a:r>
              <a:rPr lang="en-US" sz="1000" i="1" dirty="0">
                <a:solidFill>
                  <a:srgbClr val="8FA3BF"/>
                </a:solidFill>
                <a:latin typeface="Calibri" pitchFamily="34" charset="0"/>
                <a:ea typeface="Calibri" pitchFamily="34" charset="-122"/>
                <a:cs typeface="Calibri" pitchFamily="34" charset="-120"/>
              </a:rPr>
              <a:t>Fully mapped from turbine.properties + portal.properties + services.xml + deep Eclipse source analysis</a:t>
            </a:r>
            <a:endParaRPr lang="en-US" sz="1000" dirty="0"/>
          </a:p>
        </p:txBody>
      </p:sp>
      <p:sp>
        <p:nvSpPr>
          <p:cNvPr id="7" name="Shape 5"/>
          <p:cNvSpPr/>
          <p:nvPr/>
        </p:nvSpPr>
        <p:spPr>
          <a:xfrm>
            <a:off x="274320" y="914400"/>
            <a:ext cx="11612880" cy="960120"/>
          </a:xfrm>
          <a:prstGeom prst="rect">
            <a:avLst/>
          </a:prstGeom>
          <a:solidFill>
            <a:srgbClr val="4A4A5A"/>
          </a:solidFill>
          <a:ln w="12700">
            <a:solidFill>
              <a:srgbClr val="4A4A5A"/>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11480" y="987552"/>
            <a:ext cx="100584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LAYER 5</a:t>
            </a:r>
            <a:endParaRPr lang="en-US" sz="900" dirty="0"/>
          </a:p>
        </p:txBody>
      </p:sp>
      <p:sp>
        <p:nvSpPr>
          <p:cNvPr id="9" name="Text 7"/>
          <p:cNvSpPr/>
          <p:nvPr/>
        </p:nvSpPr>
        <p:spPr>
          <a:xfrm>
            <a:off x="411480" y="1252728"/>
            <a:ext cx="2103120" cy="502920"/>
          </a:xfrm>
          <a:prstGeom prst="rect">
            <a:avLst/>
          </a:prstGeom>
          <a:noFill/>
          <a:ln/>
        </p:spPr>
        <p:txBody>
          <a:bodyPr wrap="square" lIns="0" tIns="0" rIns="0" bIns="0"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Disabled Services</a:t>
            </a:r>
            <a:endParaRPr lang="en-US" sz="1100" dirty="0"/>
          </a:p>
        </p:txBody>
      </p:sp>
      <p:sp>
        <p:nvSpPr>
          <p:cNvPr id="10" name="Shape 8"/>
          <p:cNvSpPr/>
          <p:nvPr/>
        </p:nvSpPr>
        <p:spPr>
          <a:xfrm>
            <a:off x="2606040" y="1078992"/>
            <a:ext cx="1325880" cy="256032"/>
          </a:xfrm>
          <a:prstGeom prst="rect">
            <a:avLst/>
          </a:prstGeom>
          <a:solidFill>
            <a:srgbClr val="FFFFFF">
              <a:alpha val="15000"/>
            </a:srgbClr>
          </a:solidFill>
          <a:ln w="12700">
            <a:solidFill>
              <a:srgbClr val="FFFFFF">
                <a:alpha val="30000"/>
              </a:srgbClr>
            </a:solidFill>
            <a:prstDash val="solid"/>
          </a:ln>
        </p:spPr>
      </p:sp>
      <p:sp>
        <p:nvSpPr>
          <p:cNvPr id="11" name="Text 9"/>
          <p:cNvSpPr/>
          <p:nvPr/>
        </p:nvSpPr>
        <p:spPr>
          <a:xfrm>
            <a:off x="2606040" y="1078992"/>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IntakeService</a:t>
            </a:r>
            <a:endParaRPr lang="en-US" sz="750" dirty="0"/>
          </a:p>
        </p:txBody>
      </p:sp>
      <p:sp>
        <p:nvSpPr>
          <p:cNvPr id="12" name="Shape 10"/>
          <p:cNvSpPr/>
          <p:nvPr/>
        </p:nvSpPr>
        <p:spPr>
          <a:xfrm>
            <a:off x="4023360" y="1078992"/>
            <a:ext cx="1325880" cy="256032"/>
          </a:xfrm>
          <a:prstGeom prst="rect">
            <a:avLst/>
          </a:prstGeom>
          <a:solidFill>
            <a:srgbClr val="FFFFFF">
              <a:alpha val="15000"/>
            </a:srgbClr>
          </a:solidFill>
          <a:ln w="12700">
            <a:solidFill>
              <a:srgbClr val="FFFFFF">
                <a:alpha val="30000"/>
              </a:srgbClr>
            </a:solidFill>
            <a:prstDash val="solid"/>
          </a:ln>
        </p:spPr>
      </p:sp>
      <p:sp>
        <p:nvSpPr>
          <p:cNvPr id="13" name="Text 11"/>
          <p:cNvSpPr/>
          <p:nvPr/>
        </p:nvSpPr>
        <p:spPr>
          <a:xfrm>
            <a:off x="4023360" y="1078992"/>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MimeTypeService</a:t>
            </a:r>
            <a:endParaRPr lang="en-US" sz="750" dirty="0"/>
          </a:p>
        </p:txBody>
      </p:sp>
      <p:sp>
        <p:nvSpPr>
          <p:cNvPr id="14" name="Shape 12"/>
          <p:cNvSpPr/>
          <p:nvPr/>
        </p:nvSpPr>
        <p:spPr>
          <a:xfrm>
            <a:off x="5440680" y="1078992"/>
            <a:ext cx="1325880" cy="256032"/>
          </a:xfrm>
          <a:prstGeom prst="rect">
            <a:avLst/>
          </a:prstGeom>
          <a:solidFill>
            <a:srgbClr val="FFFFFF">
              <a:alpha val="15000"/>
            </a:srgbClr>
          </a:solidFill>
          <a:ln w="12700">
            <a:solidFill>
              <a:srgbClr val="FFFFFF">
                <a:alpha val="30000"/>
              </a:srgbClr>
            </a:solidFill>
            <a:prstDash val="solid"/>
          </a:ln>
        </p:spPr>
      </p:sp>
      <p:sp>
        <p:nvSpPr>
          <p:cNvPr id="15" name="Text 13"/>
          <p:cNvSpPr/>
          <p:nvPr/>
        </p:nvSpPr>
        <p:spPr>
          <a:xfrm>
            <a:off x="5440680" y="1078992"/>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PythonScreenFactory</a:t>
            </a:r>
            <a:endParaRPr lang="en-US" sz="750" dirty="0"/>
          </a:p>
        </p:txBody>
      </p:sp>
      <p:sp>
        <p:nvSpPr>
          <p:cNvPr id="16" name="Text 14"/>
          <p:cNvSpPr/>
          <p:nvPr/>
        </p:nvSpPr>
        <p:spPr>
          <a:xfrm>
            <a:off x="411480" y="1600200"/>
            <a:ext cx="11247120" cy="182880"/>
          </a:xfrm>
          <a:prstGeom prst="rect">
            <a:avLst/>
          </a:prstGeom>
          <a:noFill/>
          <a:ln/>
        </p:spPr>
        <p:txBody>
          <a:bodyPr wrap="square" lIns="0" tIns="0" rIns="0" bIns="0" rtlCol="0" anchor="ctr"/>
          <a:lstStyle/>
          <a:p>
            <a:pPr indent="0" marL="0">
              <a:buNone/>
            </a:pPr>
            <a:r>
              <a:rPr lang="en-US" sz="850" i="1" dirty="0">
                <a:solidFill>
                  <a:srgbClr val="8FA3BF"/>
                </a:solidFill>
                <a:latin typeface="Calibri" pitchFamily="34" charset="0"/>
                <a:ea typeface="Calibri" pitchFamily="34" charset="-122"/>
                <a:cs typeface="Calibri" pitchFamily="34" charset="-120"/>
              </a:rPr>
              <a:t>Commented out — dead code</a:t>
            </a:r>
            <a:endParaRPr lang="en-US" sz="850" dirty="0"/>
          </a:p>
        </p:txBody>
      </p:sp>
      <p:sp>
        <p:nvSpPr>
          <p:cNvPr id="17" name="Shape 15"/>
          <p:cNvSpPr/>
          <p:nvPr/>
        </p:nvSpPr>
        <p:spPr>
          <a:xfrm>
            <a:off x="274320" y="1984248"/>
            <a:ext cx="11612880" cy="960120"/>
          </a:xfrm>
          <a:prstGeom prst="rect">
            <a:avLst/>
          </a:prstGeom>
          <a:solidFill>
            <a:srgbClr val="1A3A5A"/>
          </a:solidFill>
          <a:ln w="12700">
            <a:solidFill>
              <a:srgbClr val="1A3A5A"/>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11480" y="2057400"/>
            <a:ext cx="100584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LAYER 4</a:t>
            </a:r>
            <a:endParaRPr lang="en-US" sz="900" dirty="0"/>
          </a:p>
        </p:txBody>
      </p:sp>
      <p:sp>
        <p:nvSpPr>
          <p:cNvPr id="19" name="Text 17"/>
          <p:cNvSpPr/>
          <p:nvPr/>
        </p:nvSpPr>
        <p:spPr>
          <a:xfrm>
            <a:off x="411480" y="2322576"/>
            <a:ext cx="210312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17 GTP Business Services</a:t>
            </a:r>
            <a:endParaRPr lang="en-US" sz="1100" dirty="0"/>
          </a:p>
        </p:txBody>
      </p:sp>
      <p:sp>
        <p:nvSpPr>
          <p:cNvPr id="20" name="Shape 18"/>
          <p:cNvSpPr/>
          <p:nvPr/>
        </p:nvSpPr>
        <p:spPr>
          <a:xfrm>
            <a:off x="2606040" y="2148840"/>
            <a:ext cx="1325880" cy="256032"/>
          </a:xfrm>
          <a:prstGeom prst="rect">
            <a:avLst/>
          </a:prstGeom>
          <a:solidFill>
            <a:srgbClr val="FFFFFF">
              <a:alpha val="15000"/>
            </a:srgbClr>
          </a:solidFill>
          <a:ln w="12700">
            <a:solidFill>
              <a:srgbClr val="FFFFFF">
                <a:alpha val="30000"/>
              </a:srgbClr>
            </a:solidFill>
            <a:prstDash val="solid"/>
          </a:ln>
        </p:spPr>
      </p:sp>
      <p:sp>
        <p:nvSpPr>
          <p:cNvPr id="21" name="Text 19"/>
          <p:cNvSpPr/>
          <p:nvPr/>
        </p:nvSpPr>
        <p:spPr>
          <a:xfrm>
            <a:off x="260604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GTPPoolBrokerService</a:t>
            </a:r>
            <a:endParaRPr lang="en-US" sz="750" dirty="0"/>
          </a:p>
        </p:txBody>
      </p:sp>
      <p:sp>
        <p:nvSpPr>
          <p:cNvPr id="22" name="Shape 20"/>
          <p:cNvSpPr/>
          <p:nvPr/>
        </p:nvSpPr>
        <p:spPr>
          <a:xfrm>
            <a:off x="4023360" y="2148840"/>
            <a:ext cx="1325880" cy="256032"/>
          </a:xfrm>
          <a:prstGeom prst="rect">
            <a:avLst/>
          </a:prstGeom>
          <a:solidFill>
            <a:srgbClr val="FFFFFF">
              <a:alpha val="15000"/>
            </a:srgbClr>
          </a:solidFill>
          <a:ln w="12700">
            <a:solidFill>
              <a:srgbClr val="FFFFFF">
                <a:alpha val="30000"/>
              </a:srgbClr>
            </a:solidFill>
            <a:prstDash val="solid"/>
          </a:ln>
        </p:spPr>
      </p:sp>
      <p:sp>
        <p:nvSpPr>
          <p:cNvPr id="23" name="Text 21"/>
          <p:cNvSpPr/>
          <p:nvPr/>
        </p:nvSpPr>
        <p:spPr>
          <a:xfrm>
            <a:off x="402336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GTPAuthenticationService</a:t>
            </a:r>
            <a:endParaRPr lang="en-US" sz="750" dirty="0"/>
          </a:p>
        </p:txBody>
      </p:sp>
      <p:sp>
        <p:nvSpPr>
          <p:cNvPr id="24" name="Shape 22"/>
          <p:cNvSpPr/>
          <p:nvPr/>
        </p:nvSpPr>
        <p:spPr>
          <a:xfrm>
            <a:off x="5440680" y="2148840"/>
            <a:ext cx="1325880" cy="256032"/>
          </a:xfrm>
          <a:prstGeom prst="rect">
            <a:avLst/>
          </a:prstGeom>
          <a:solidFill>
            <a:srgbClr val="FFFFFF">
              <a:alpha val="15000"/>
            </a:srgbClr>
          </a:solidFill>
          <a:ln w="12700">
            <a:solidFill>
              <a:srgbClr val="FFFFFF">
                <a:alpha val="30000"/>
              </a:srgbClr>
            </a:solidFill>
            <a:prstDash val="solid"/>
          </a:ln>
        </p:spPr>
      </p:sp>
      <p:sp>
        <p:nvSpPr>
          <p:cNvPr id="25" name="Text 23"/>
          <p:cNvSpPr/>
          <p:nvPr/>
        </p:nvSpPr>
        <p:spPr>
          <a:xfrm>
            <a:off x="544068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GTPAuthorizationService</a:t>
            </a:r>
            <a:endParaRPr lang="en-US" sz="750" dirty="0"/>
          </a:p>
        </p:txBody>
      </p:sp>
      <p:sp>
        <p:nvSpPr>
          <p:cNvPr id="26" name="Shape 24"/>
          <p:cNvSpPr/>
          <p:nvPr/>
        </p:nvSpPr>
        <p:spPr>
          <a:xfrm>
            <a:off x="6858000" y="2148840"/>
            <a:ext cx="1325880" cy="256032"/>
          </a:xfrm>
          <a:prstGeom prst="rect">
            <a:avLst/>
          </a:prstGeom>
          <a:solidFill>
            <a:srgbClr val="FFFFFF">
              <a:alpha val="15000"/>
            </a:srgbClr>
          </a:solidFill>
          <a:ln w="12700">
            <a:solidFill>
              <a:srgbClr val="FFFFFF">
                <a:alpha val="30000"/>
              </a:srgbClr>
            </a:solidFill>
            <a:prstDash val="solid"/>
          </a:ln>
        </p:spPr>
      </p:sp>
      <p:sp>
        <p:nvSpPr>
          <p:cNvPr id="27" name="Text 25"/>
          <p:cNvSpPr/>
          <p:nvPr/>
        </p:nvSpPr>
        <p:spPr>
          <a:xfrm>
            <a:off x="685800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E2EEService</a:t>
            </a:r>
            <a:endParaRPr lang="en-US" sz="750" dirty="0"/>
          </a:p>
        </p:txBody>
      </p:sp>
      <p:sp>
        <p:nvSpPr>
          <p:cNvPr id="28" name="Shape 26"/>
          <p:cNvSpPr/>
          <p:nvPr/>
        </p:nvSpPr>
        <p:spPr>
          <a:xfrm>
            <a:off x="8275320" y="2148840"/>
            <a:ext cx="1325880" cy="256032"/>
          </a:xfrm>
          <a:prstGeom prst="rect">
            <a:avLst/>
          </a:prstGeom>
          <a:solidFill>
            <a:srgbClr val="FFFFFF">
              <a:alpha val="15000"/>
            </a:srgbClr>
          </a:solidFill>
          <a:ln w="12700">
            <a:solidFill>
              <a:srgbClr val="FFFFFF">
                <a:alpha val="30000"/>
              </a:srgbClr>
            </a:solidFill>
            <a:prstDash val="solid"/>
          </a:ln>
        </p:spPr>
      </p:sp>
      <p:sp>
        <p:nvSpPr>
          <p:cNvPr id="29" name="Text 27"/>
          <p:cNvSpPr/>
          <p:nvPr/>
        </p:nvSpPr>
        <p:spPr>
          <a:xfrm>
            <a:off x="827532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PsmlScreenManager</a:t>
            </a:r>
            <a:endParaRPr lang="en-US" sz="750" dirty="0"/>
          </a:p>
        </p:txBody>
      </p:sp>
      <p:sp>
        <p:nvSpPr>
          <p:cNvPr id="30" name="Shape 28"/>
          <p:cNvSpPr/>
          <p:nvPr/>
        </p:nvSpPr>
        <p:spPr>
          <a:xfrm>
            <a:off x="9692640" y="2148840"/>
            <a:ext cx="1325880" cy="256032"/>
          </a:xfrm>
          <a:prstGeom prst="rect">
            <a:avLst/>
          </a:prstGeom>
          <a:solidFill>
            <a:srgbClr val="FFFFFF">
              <a:alpha val="15000"/>
            </a:srgbClr>
          </a:solidFill>
          <a:ln w="12700">
            <a:solidFill>
              <a:srgbClr val="FFFFFF">
                <a:alpha val="30000"/>
              </a:srgbClr>
            </a:solidFill>
            <a:prstDash val="solid"/>
          </a:ln>
        </p:spPr>
      </p:sp>
      <p:sp>
        <p:nvSpPr>
          <p:cNvPr id="31" name="Text 29"/>
          <p:cNvSpPr/>
          <p:nvPr/>
        </p:nvSpPr>
        <p:spPr>
          <a:xfrm>
            <a:off x="969264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DaemonFactory</a:t>
            </a:r>
            <a:endParaRPr lang="en-US" sz="750" dirty="0"/>
          </a:p>
        </p:txBody>
      </p:sp>
      <p:sp>
        <p:nvSpPr>
          <p:cNvPr id="32" name="Shape 30"/>
          <p:cNvSpPr/>
          <p:nvPr/>
        </p:nvSpPr>
        <p:spPr>
          <a:xfrm>
            <a:off x="11109960" y="2148840"/>
            <a:ext cx="1325880" cy="256032"/>
          </a:xfrm>
          <a:prstGeom prst="rect">
            <a:avLst/>
          </a:prstGeom>
          <a:solidFill>
            <a:srgbClr val="FFFFFF">
              <a:alpha val="15000"/>
            </a:srgbClr>
          </a:solidFill>
          <a:ln w="12700">
            <a:solidFill>
              <a:srgbClr val="FFFFFF">
                <a:alpha val="30000"/>
              </a:srgbClr>
            </a:solidFill>
            <a:prstDash val="solid"/>
          </a:ln>
        </p:spPr>
      </p:sp>
      <p:sp>
        <p:nvSpPr>
          <p:cNvPr id="33" name="Text 31"/>
          <p:cNvSpPr/>
          <p:nvPr/>
        </p:nvSpPr>
        <p:spPr>
          <a:xfrm>
            <a:off x="11109960" y="2148840"/>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+11 more</a:t>
            </a:r>
            <a:endParaRPr lang="en-US" sz="750" dirty="0"/>
          </a:p>
        </p:txBody>
      </p:sp>
      <p:sp>
        <p:nvSpPr>
          <p:cNvPr id="34" name="Text 32"/>
          <p:cNvSpPr/>
          <p:nvPr/>
        </p:nvSpPr>
        <p:spPr>
          <a:xfrm>
            <a:off x="411480" y="2670048"/>
            <a:ext cx="11247120" cy="182880"/>
          </a:xfrm>
          <a:prstGeom prst="rect">
            <a:avLst/>
          </a:prstGeom>
          <a:noFill/>
          <a:ln/>
        </p:spPr>
        <p:txBody>
          <a:bodyPr wrap="square" lIns="0" tIns="0" rIns="0" bIns="0" rtlCol="0" anchor="ctr"/>
          <a:lstStyle/>
          <a:p>
            <a:pPr indent="0" marL="0">
              <a:buNone/>
            </a:pPr>
            <a:r>
              <a:rPr lang="en-US" sz="850" i="1" dirty="0">
                <a:solidFill>
                  <a:srgbClr val="F0D080"/>
                </a:solidFill>
                <a:latin typeface="Calibri" pitchFamily="34" charset="0"/>
                <a:ea typeface="Calibri" pitchFamily="34" charset="-122"/>
                <a:cs typeface="Calibri" pitchFamily="34" charset="-120"/>
              </a:rPr>
              <a:t>portal.properties / services.xml — NOT in turbine.properties</a:t>
            </a:r>
            <a:endParaRPr lang="en-US" sz="850" dirty="0"/>
          </a:p>
        </p:txBody>
      </p:sp>
      <p:sp>
        <p:nvSpPr>
          <p:cNvPr id="35" name="Shape 33"/>
          <p:cNvSpPr/>
          <p:nvPr/>
        </p:nvSpPr>
        <p:spPr>
          <a:xfrm>
            <a:off x="274320" y="3054096"/>
            <a:ext cx="11612880" cy="960120"/>
          </a:xfrm>
          <a:prstGeom prst="rect">
            <a:avLst/>
          </a:prstGeom>
          <a:solidFill>
            <a:srgbClr val="003A60"/>
          </a:solidFill>
          <a:ln w="12700">
            <a:solidFill>
              <a:srgbClr val="003A60"/>
            </a:solidFill>
            <a:prstDash val="solid"/>
          </a:ln>
          <a:effectLst>
            <a:outerShdw sx="100000" sy="100000" kx="0" ky="0" algn="bl" rotWithShape="0" blurRad="101600" dist="38100" dir="8100000">
              <a:srgbClr val="000000">
                <a:alpha val="12000"/>
              </a:srgbClr>
            </a:outerShdw>
          </a:effectLst>
        </p:spPr>
      </p:sp>
      <p:sp>
        <p:nvSpPr>
          <p:cNvPr id="36" name="Text 34"/>
          <p:cNvSpPr/>
          <p:nvPr/>
        </p:nvSpPr>
        <p:spPr>
          <a:xfrm>
            <a:off x="411480" y="3127248"/>
            <a:ext cx="100584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LAYER 3</a:t>
            </a:r>
            <a:endParaRPr lang="en-US" sz="900" dirty="0"/>
          </a:p>
        </p:txBody>
      </p:sp>
      <p:sp>
        <p:nvSpPr>
          <p:cNvPr id="37" name="Text 35"/>
          <p:cNvSpPr/>
          <p:nvPr/>
        </p:nvSpPr>
        <p:spPr>
          <a:xfrm>
            <a:off x="411480" y="3392424"/>
            <a:ext cx="210312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Pure GTP Services</a:t>
            </a:r>
            <a:endParaRPr lang="en-US" sz="1100" dirty="0"/>
          </a:p>
        </p:txBody>
      </p:sp>
      <p:sp>
        <p:nvSpPr>
          <p:cNvPr id="38" name="Shape 36"/>
          <p:cNvSpPr/>
          <p:nvPr/>
        </p:nvSpPr>
        <p:spPr>
          <a:xfrm>
            <a:off x="2606040" y="3218688"/>
            <a:ext cx="1325880" cy="256032"/>
          </a:xfrm>
          <a:prstGeom prst="rect">
            <a:avLst/>
          </a:prstGeom>
          <a:solidFill>
            <a:srgbClr val="FFFFFF">
              <a:alpha val="15000"/>
            </a:srgbClr>
          </a:solidFill>
          <a:ln w="12700">
            <a:solidFill>
              <a:srgbClr val="FFFFFF">
                <a:alpha val="30000"/>
              </a:srgbClr>
            </a:solidFill>
            <a:prstDash val="solid"/>
          </a:ln>
        </p:spPr>
      </p:sp>
      <p:sp>
        <p:nvSpPr>
          <p:cNvPr id="39" name="Text 37"/>
          <p:cNvSpPr/>
          <p:nvPr/>
        </p:nvSpPr>
        <p:spPr>
          <a:xfrm>
            <a:off x="2606040" y="3218688"/>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GTPAuditService</a:t>
            </a:r>
            <a:endParaRPr lang="en-US" sz="750" dirty="0"/>
          </a:p>
        </p:txBody>
      </p:sp>
      <p:sp>
        <p:nvSpPr>
          <p:cNvPr id="40" name="Shape 38"/>
          <p:cNvSpPr/>
          <p:nvPr/>
        </p:nvSpPr>
        <p:spPr>
          <a:xfrm>
            <a:off x="4023360" y="3218688"/>
            <a:ext cx="1325880" cy="256032"/>
          </a:xfrm>
          <a:prstGeom prst="rect">
            <a:avLst/>
          </a:prstGeom>
          <a:solidFill>
            <a:srgbClr val="FFFFFF">
              <a:alpha val="15000"/>
            </a:srgbClr>
          </a:solidFill>
          <a:ln w="12700">
            <a:solidFill>
              <a:srgbClr val="FFFFFF">
                <a:alpha val="30000"/>
              </a:srgbClr>
            </a:solidFill>
            <a:prstDash val="solid"/>
          </a:ln>
        </p:spPr>
      </p:sp>
      <p:sp>
        <p:nvSpPr>
          <p:cNvPr id="41" name="Text 39"/>
          <p:cNvSpPr/>
          <p:nvPr/>
        </p:nvSpPr>
        <p:spPr>
          <a:xfrm>
            <a:off x="4023360" y="3218688"/>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GTPDefaultTemplateEngineService</a:t>
            </a:r>
            <a:endParaRPr lang="en-US" sz="750" dirty="0"/>
          </a:p>
        </p:txBody>
      </p:sp>
      <p:sp>
        <p:nvSpPr>
          <p:cNvPr id="42" name="Text 40"/>
          <p:cNvSpPr/>
          <p:nvPr/>
        </p:nvSpPr>
        <p:spPr>
          <a:xfrm>
            <a:off x="411480" y="3739896"/>
            <a:ext cx="11247120" cy="182880"/>
          </a:xfrm>
          <a:prstGeom prst="rect">
            <a:avLst/>
          </a:prstGeom>
          <a:noFill/>
          <a:ln/>
        </p:spPr>
        <p:txBody>
          <a:bodyPr wrap="square" lIns="0" tIns="0" rIns="0" bIns="0" rtlCol="0" anchor="ctr"/>
          <a:lstStyle/>
          <a:p>
            <a:pPr indent="0" marL="0">
              <a:buNone/>
            </a:pPr>
            <a:r>
              <a:rPr lang="en-US" sz="850" i="1" dirty="0">
                <a:solidFill>
                  <a:srgbClr val="F0D080"/>
                </a:solidFill>
                <a:latin typeface="Calibri" pitchFamily="34" charset="0"/>
                <a:ea typeface="Calibri" pitchFamily="34" charset="-122"/>
                <a:cs typeface="Calibri" pitchFamily="34" charset="-120"/>
              </a:rPr>
              <a:t>No Apache equivalent</a:t>
            </a:r>
            <a:endParaRPr lang="en-US" sz="850" dirty="0"/>
          </a:p>
        </p:txBody>
      </p:sp>
      <p:sp>
        <p:nvSpPr>
          <p:cNvPr id="43" name="Shape 41"/>
          <p:cNvSpPr/>
          <p:nvPr/>
        </p:nvSpPr>
        <p:spPr>
          <a:xfrm>
            <a:off x="274320" y="4123944"/>
            <a:ext cx="11612880" cy="960120"/>
          </a:xfrm>
          <a:prstGeom prst="rect">
            <a:avLst/>
          </a:prstGeom>
          <a:solidFill>
            <a:srgbClr val="1A4A7A"/>
          </a:solidFill>
          <a:ln w="12700">
            <a:solidFill>
              <a:srgbClr val="1A4A7A"/>
            </a:solidFill>
            <a:prstDash val="solid"/>
          </a:ln>
          <a:effectLst>
            <a:outerShdw sx="100000" sy="100000" kx="0" ky="0" algn="bl" rotWithShape="0" blurRad="101600" dist="38100" dir="8100000">
              <a:srgbClr val="000000">
                <a:alpha val="12000"/>
              </a:srgbClr>
            </a:outerShdw>
          </a:effectLst>
        </p:spPr>
      </p:sp>
      <p:sp>
        <p:nvSpPr>
          <p:cNvPr id="44" name="Text 42"/>
          <p:cNvSpPr/>
          <p:nvPr/>
        </p:nvSpPr>
        <p:spPr>
          <a:xfrm>
            <a:off x="411480" y="4197096"/>
            <a:ext cx="100584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LAYER 2</a:t>
            </a:r>
            <a:endParaRPr lang="en-US" sz="900" dirty="0"/>
          </a:p>
        </p:txBody>
      </p:sp>
      <p:sp>
        <p:nvSpPr>
          <p:cNvPr id="45" name="Text 43"/>
          <p:cNvSpPr/>
          <p:nvPr/>
        </p:nvSpPr>
        <p:spPr>
          <a:xfrm>
            <a:off x="411480" y="4462272"/>
            <a:ext cx="210312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Apache Services — Overridden by Finastra GTP</a:t>
            </a:r>
            <a:endParaRPr lang="en-US" sz="1100" dirty="0"/>
          </a:p>
        </p:txBody>
      </p:sp>
      <p:sp>
        <p:nvSpPr>
          <p:cNvPr id="46" name="Shape 44"/>
          <p:cNvSpPr/>
          <p:nvPr/>
        </p:nvSpPr>
        <p:spPr>
          <a:xfrm>
            <a:off x="2606040" y="4288536"/>
            <a:ext cx="1325880" cy="256032"/>
          </a:xfrm>
          <a:prstGeom prst="rect">
            <a:avLst/>
          </a:prstGeom>
          <a:solidFill>
            <a:srgbClr val="FFFFFF">
              <a:alpha val="15000"/>
            </a:srgbClr>
          </a:solidFill>
          <a:ln w="12700">
            <a:solidFill>
              <a:srgbClr val="FFFFFF">
                <a:alpha val="30000"/>
              </a:srgbClr>
            </a:solidFill>
            <a:prstDash val="solid"/>
          </a:ln>
        </p:spPr>
      </p:sp>
      <p:sp>
        <p:nvSpPr>
          <p:cNvPr id="47" name="Text 45"/>
          <p:cNvSpPr/>
          <p:nvPr/>
        </p:nvSpPr>
        <p:spPr>
          <a:xfrm>
            <a:off x="260604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GTPRunDataService</a:t>
            </a:r>
            <a:endParaRPr lang="en-US" sz="750" dirty="0"/>
          </a:p>
        </p:txBody>
      </p:sp>
      <p:sp>
        <p:nvSpPr>
          <p:cNvPr id="48" name="Shape 46"/>
          <p:cNvSpPr/>
          <p:nvPr/>
        </p:nvSpPr>
        <p:spPr>
          <a:xfrm>
            <a:off x="4023360" y="4288536"/>
            <a:ext cx="1325880" cy="256032"/>
          </a:xfrm>
          <a:prstGeom prst="rect">
            <a:avLst/>
          </a:prstGeom>
          <a:solidFill>
            <a:srgbClr val="FFFFFF">
              <a:alpha val="15000"/>
            </a:srgbClr>
          </a:solidFill>
          <a:ln w="12700">
            <a:solidFill>
              <a:srgbClr val="FFFFFF">
                <a:alpha val="30000"/>
              </a:srgbClr>
            </a:solidFill>
            <a:prstDash val="solid"/>
          </a:ln>
        </p:spPr>
      </p:sp>
      <p:sp>
        <p:nvSpPr>
          <p:cNvPr id="49" name="Text 47"/>
          <p:cNvSpPr/>
          <p:nvPr/>
        </p:nvSpPr>
        <p:spPr>
          <a:xfrm>
            <a:off x="402336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EHCacheService</a:t>
            </a:r>
            <a:endParaRPr lang="en-US" sz="750" dirty="0"/>
          </a:p>
        </p:txBody>
      </p:sp>
      <p:sp>
        <p:nvSpPr>
          <p:cNvPr id="50" name="Shape 48"/>
          <p:cNvSpPr/>
          <p:nvPr/>
        </p:nvSpPr>
        <p:spPr>
          <a:xfrm>
            <a:off x="5440680" y="4288536"/>
            <a:ext cx="1325880" cy="256032"/>
          </a:xfrm>
          <a:prstGeom prst="rect">
            <a:avLst/>
          </a:prstGeom>
          <a:solidFill>
            <a:srgbClr val="FFFFFF">
              <a:alpha val="15000"/>
            </a:srgbClr>
          </a:solidFill>
          <a:ln w="12700">
            <a:solidFill>
              <a:srgbClr val="FFFFFF">
                <a:alpha val="30000"/>
              </a:srgbClr>
            </a:solidFill>
            <a:prstDash val="solid"/>
          </a:ln>
        </p:spPr>
      </p:sp>
      <p:sp>
        <p:nvSpPr>
          <p:cNvPr id="51" name="Text 49"/>
          <p:cNvSpPr/>
          <p:nvPr/>
        </p:nvSpPr>
        <p:spPr>
          <a:xfrm>
            <a:off x="544068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GTPSchedulerService</a:t>
            </a:r>
            <a:endParaRPr lang="en-US" sz="750" dirty="0"/>
          </a:p>
        </p:txBody>
      </p:sp>
      <p:sp>
        <p:nvSpPr>
          <p:cNvPr id="52" name="Shape 50"/>
          <p:cNvSpPr/>
          <p:nvPr/>
        </p:nvSpPr>
        <p:spPr>
          <a:xfrm>
            <a:off x="6858000" y="4288536"/>
            <a:ext cx="1325880" cy="256032"/>
          </a:xfrm>
          <a:prstGeom prst="rect">
            <a:avLst/>
          </a:prstGeom>
          <a:solidFill>
            <a:srgbClr val="FFFFFF">
              <a:alpha val="15000"/>
            </a:srgbClr>
          </a:solidFill>
          <a:ln w="12700">
            <a:solidFill>
              <a:srgbClr val="FFFFFF">
                <a:alpha val="30000"/>
              </a:srgbClr>
            </a:solidFill>
            <a:prstDash val="solid"/>
          </a:ln>
        </p:spPr>
      </p:sp>
      <p:sp>
        <p:nvSpPr>
          <p:cNvPr id="53" name="Text 51"/>
          <p:cNvSpPr/>
          <p:nvPr/>
        </p:nvSpPr>
        <p:spPr>
          <a:xfrm>
            <a:off x="685800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XSLTCachingService</a:t>
            </a:r>
            <a:endParaRPr lang="en-US" sz="750" dirty="0"/>
          </a:p>
        </p:txBody>
      </p:sp>
      <p:sp>
        <p:nvSpPr>
          <p:cNvPr id="54" name="Shape 52"/>
          <p:cNvSpPr/>
          <p:nvPr/>
        </p:nvSpPr>
        <p:spPr>
          <a:xfrm>
            <a:off x="8275320" y="4288536"/>
            <a:ext cx="1325880" cy="256032"/>
          </a:xfrm>
          <a:prstGeom prst="rect">
            <a:avLst/>
          </a:prstGeom>
          <a:solidFill>
            <a:srgbClr val="FFFFFF">
              <a:alpha val="15000"/>
            </a:srgbClr>
          </a:solidFill>
          <a:ln w="12700">
            <a:solidFill>
              <a:srgbClr val="FFFFFF">
                <a:alpha val="30000"/>
              </a:srgbClr>
            </a:solidFill>
            <a:prstDash val="solid"/>
          </a:ln>
        </p:spPr>
      </p:sp>
      <p:sp>
        <p:nvSpPr>
          <p:cNvPr id="55" name="Text 53"/>
          <p:cNvSpPr/>
          <p:nvPr/>
        </p:nvSpPr>
        <p:spPr>
          <a:xfrm>
            <a:off x="827532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UniqueSessionService</a:t>
            </a:r>
            <a:endParaRPr lang="en-US" sz="750" dirty="0"/>
          </a:p>
        </p:txBody>
      </p:sp>
      <p:sp>
        <p:nvSpPr>
          <p:cNvPr id="56" name="Shape 54"/>
          <p:cNvSpPr/>
          <p:nvPr/>
        </p:nvSpPr>
        <p:spPr>
          <a:xfrm>
            <a:off x="9692640" y="4288536"/>
            <a:ext cx="1325880" cy="256032"/>
          </a:xfrm>
          <a:prstGeom prst="rect">
            <a:avLst/>
          </a:prstGeom>
          <a:solidFill>
            <a:srgbClr val="FFFFFF">
              <a:alpha val="15000"/>
            </a:srgbClr>
          </a:solidFill>
          <a:ln w="12700">
            <a:solidFill>
              <a:srgbClr val="FFFFFF">
                <a:alpha val="30000"/>
              </a:srgbClr>
            </a:solidFill>
            <a:prstDash val="solid"/>
          </a:ln>
        </p:spPr>
      </p:sp>
      <p:sp>
        <p:nvSpPr>
          <p:cNvPr id="57" name="Text 55"/>
          <p:cNvSpPr/>
          <p:nvPr/>
        </p:nvSpPr>
        <p:spPr>
          <a:xfrm>
            <a:off x="969264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PortalUploadService</a:t>
            </a:r>
            <a:endParaRPr lang="en-US" sz="750" dirty="0"/>
          </a:p>
        </p:txBody>
      </p:sp>
      <p:sp>
        <p:nvSpPr>
          <p:cNvPr id="58" name="Shape 56"/>
          <p:cNvSpPr/>
          <p:nvPr/>
        </p:nvSpPr>
        <p:spPr>
          <a:xfrm>
            <a:off x="11109960" y="4288536"/>
            <a:ext cx="1325880" cy="256032"/>
          </a:xfrm>
          <a:prstGeom prst="rect">
            <a:avLst/>
          </a:prstGeom>
          <a:solidFill>
            <a:srgbClr val="FFFFFF">
              <a:alpha val="15000"/>
            </a:srgbClr>
          </a:solidFill>
          <a:ln w="12700">
            <a:solidFill>
              <a:srgbClr val="FFFFFF">
                <a:alpha val="30000"/>
              </a:srgbClr>
            </a:solidFill>
            <a:prstDash val="solid"/>
          </a:ln>
        </p:spPr>
      </p:sp>
      <p:sp>
        <p:nvSpPr>
          <p:cNvPr id="59" name="Text 57"/>
          <p:cNvSpPr/>
          <p:nvPr/>
        </p:nvSpPr>
        <p:spPr>
          <a:xfrm>
            <a:off x="11109960" y="4288536"/>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AdapterForTurbineSecurityService</a:t>
            </a:r>
            <a:endParaRPr lang="en-US" sz="750" dirty="0"/>
          </a:p>
        </p:txBody>
      </p:sp>
      <p:sp>
        <p:nvSpPr>
          <p:cNvPr id="60" name="Text 58"/>
          <p:cNvSpPr/>
          <p:nvPr/>
        </p:nvSpPr>
        <p:spPr>
          <a:xfrm>
            <a:off x="411480" y="4809744"/>
            <a:ext cx="11247120" cy="182880"/>
          </a:xfrm>
          <a:prstGeom prst="rect">
            <a:avLst/>
          </a:prstGeom>
          <a:noFill/>
          <a:ln/>
        </p:spPr>
        <p:txBody>
          <a:bodyPr wrap="square" lIns="0" tIns="0" rIns="0" bIns="0" rtlCol="0" anchor="ctr"/>
          <a:lstStyle/>
          <a:p>
            <a:pPr indent="0" marL="0">
              <a:buNone/>
            </a:pPr>
            <a:r>
              <a:rPr lang="en-US" sz="850" i="1" dirty="0">
                <a:solidFill>
                  <a:srgbClr val="F0D080"/>
                </a:solidFill>
                <a:latin typeface="Calibri" pitchFamily="34" charset="0"/>
                <a:ea typeface="Calibri" pitchFamily="34" charset="-122"/>
                <a:cs typeface="Calibri" pitchFamily="34" charset="-120"/>
              </a:rPr>
              <a:t>Apache class bypassed — GTP class active</a:t>
            </a:r>
            <a:endParaRPr lang="en-US" sz="850" dirty="0"/>
          </a:p>
        </p:txBody>
      </p:sp>
      <p:sp>
        <p:nvSpPr>
          <p:cNvPr id="61" name="Shape 59"/>
          <p:cNvSpPr/>
          <p:nvPr/>
        </p:nvSpPr>
        <p:spPr>
          <a:xfrm>
            <a:off x="274320" y="5193792"/>
            <a:ext cx="11612880" cy="960120"/>
          </a:xfrm>
          <a:prstGeom prst="rect">
            <a:avLst/>
          </a:prstGeom>
          <a:solidFill>
            <a:srgbClr val="C9A84C"/>
          </a:solidFill>
          <a:ln w="12700">
            <a:solidFill>
              <a:srgbClr val="C9A84C"/>
            </a:solidFill>
            <a:prstDash val="solid"/>
          </a:ln>
          <a:effectLst>
            <a:outerShdw sx="100000" sy="100000" kx="0" ky="0" algn="bl" rotWithShape="0" blurRad="101600" dist="38100" dir="8100000">
              <a:srgbClr val="000000">
                <a:alpha val="12000"/>
              </a:srgbClr>
            </a:outerShdw>
          </a:effectLst>
        </p:spPr>
      </p:sp>
      <p:sp>
        <p:nvSpPr>
          <p:cNvPr id="62" name="Text 60"/>
          <p:cNvSpPr/>
          <p:nvPr/>
        </p:nvSpPr>
        <p:spPr>
          <a:xfrm>
            <a:off x="411480" y="5266944"/>
            <a:ext cx="100584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LAYER 1</a:t>
            </a:r>
            <a:endParaRPr lang="en-US" sz="900" dirty="0"/>
          </a:p>
        </p:txBody>
      </p:sp>
      <p:sp>
        <p:nvSpPr>
          <p:cNvPr id="63" name="Text 61"/>
          <p:cNvSpPr/>
          <p:nvPr/>
        </p:nvSpPr>
        <p:spPr>
          <a:xfrm>
            <a:off x="411480" y="5532120"/>
            <a:ext cx="2103120" cy="502920"/>
          </a:xfrm>
          <a:prstGeom prst="rect">
            <a:avLst/>
          </a:prstGeom>
          <a:noFill/>
          <a:ln/>
        </p:spPr>
        <p:txBody>
          <a:bodyPr wrap="square" lIns="0" tIns="0" rIns="0" bIns="0" rtlCol="0" anchor="ctr"/>
          <a:lstStyle/>
          <a:p>
            <a:pPr indent="0" marL="0">
              <a:buNone/>
            </a:pPr>
            <a:r>
              <a:rPr lang="en-US" sz="1100" b="1" dirty="0">
                <a:solidFill>
                  <a:srgbClr val="001F3F"/>
                </a:solidFill>
                <a:latin typeface="Calibri" pitchFamily="34" charset="0"/>
                <a:ea typeface="Calibri" pitchFamily="34" charset="-122"/>
                <a:cs typeface="Calibri" pitchFamily="34" charset="-120"/>
              </a:rPr>
              <a:t>Apache Standard Services (Backbone)</a:t>
            </a:r>
            <a:endParaRPr lang="en-US" sz="1100" dirty="0"/>
          </a:p>
        </p:txBody>
      </p:sp>
      <p:sp>
        <p:nvSpPr>
          <p:cNvPr id="64" name="Shape 62"/>
          <p:cNvSpPr/>
          <p:nvPr/>
        </p:nvSpPr>
        <p:spPr>
          <a:xfrm>
            <a:off x="2606040" y="5358384"/>
            <a:ext cx="1325880" cy="256032"/>
          </a:xfrm>
          <a:prstGeom prst="rect">
            <a:avLst/>
          </a:prstGeom>
          <a:solidFill>
            <a:srgbClr val="FFFFFF">
              <a:alpha val="15000"/>
            </a:srgbClr>
          </a:solidFill>
          <a:ln w="12700">
            <a:solidFill>
              <a:srgbClr val="FFFFFF">
                <a:alpha val="30000"/>
              </a:srgbClr>
            </a:solidFill>
            <a:prstDash val="solid"/>
          </a:ln>
        </p:spPr>
      </p:sp>
      <p:sp>
        <p:nvSpPr>
          <p:cNvPr id="65" name="Text 63"/>
          <p:cNvSpPr/>
          <p:nvPr/>
        </p:nvSpPr>
        <p:spPr>
          <a:xfrm>
            <a:off x="260604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TurbineFactoryService</a:t>
            </a:r>
            <a:endParaRPr lang="en-US" sz="750" dirty="0"/>
          </a:p>
        </p:txBody>
      </p:sp>
      <p:sp>
        <p:nvSpPr>
          <p:cNvPr id="66" name="Shape 64"/>
          <p:cNvSpPr/>
          <p:nvPr/>
        </p:nvSpPr>
        <p:spPr>
          <a:xfrm>
            <a:off x="4023360" y="5358384"/>
            <a:ext cx="1325880" cy="256032"/>
          </a:xfrm>
          <a:prstGeom prst="rect">
            <a:avLst/>
          </a:prstGeom>
          <a:solidFill>
            <a:srgbClr val="FFFFFF">
              <a:alpha val="15000"/>
            </a:srgbClr>
          </a:solidFill>
          <a:ln w="12700">
            <a:solidFill>
              <a:srgbClr val="FFFFFF">
                <a:alpha val="30000"/>
              </a:srgbClr>
            </a:solidFill>
            <a:prstDash val="solid"/>
          </a:ln>
        </p:spPr>
      </p:sp>
      <p:sp>
        <p:nvSpPr>
          <p:cNvPr id="67" name="Text 65"/>
          <p:cNvSpPr/>
          <p:nvPr/>
        </p:nvSpPr>
        <p:spPr>
          <a:xfrm>
            <a:off x="402336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TurbinePoolService</a:t>
            </a:r>
            <a:endParaRPr lang="en-US" sz="750" dirty="0"/>
          </a:p>
        </p:txBody>
      </p:sp>
      <p:sp>
        <p:nvSpPr>
          <p:cNvPr id="68" name="Shape 66"/>
          <p:cNvSpPr/>
          <p:nvPr/>
        </p:nvSpPr>
        <p:spPr>
          <a:xfrm>
            <a:off x="5440680" y="5358384"/>
            <a:ext cx="1325880" cy="256032"/>
          </a:xfrm>
          <a:prstGeom prst="rect">
            <a:avLst/>
          </a:prstGeom>
          <a:solidFill>
            <a:srgbClr val="FFFFFF">
              <a:alpha val="15000"/>
            </a:srgbClr>
          </a:solidFill>
          <a:ln w="12700">
            <a:solidFill>
              <a:srgbClr val="FFFFFF">
                <a:alpha val="30000"/>
              </a:srgbClr>
            </a:solidFill>
            <a:prstDash val="solid"/>
          </a:ln>
        </p:spPr>
      </p:sp>
      <p:sp>
        <p:nvSpPr>
          <p:cNvPr id="69" name="Text 67"/>
          <p:cNvSpPr/>
          <p:nvPr/>
        </p:nvSpPr>
        <p:spPr>
          <a:xfrm>
            <a:off x="544068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TurbineVelocityService</a:t>
            </a:r>
            <a:endParaRPr lang="en-US" sz="750" dirty="0"/>
          </a:p>
        </p:txBody>
      </p:sp>
      <p:sp>
        <p:nvSpPr>
          <p:cNvPr id="70" name="Shape 68"/>
          <p:cNvSpPr/>
          <p:nvPr/>
        </p:nvSpPr>
        <p:spPr>
          <a:xfrm>
            <a:off x="6858000" y="5358384"/>
            <a:ext cx="1325880" cy="256032"/>
          </a:xfrm>
          <a:prstGeom prst="rect">
            <a:avLst/>
          </a:prstGeom>
          <a:solidFill>
            <a:srgbClr val="FFFFFF">
              <a:alpha val="15000"/>
            </a:srgbClr>
          </a:solidFill>
          <a:ln w="12700">
            <a:solidFill>
              <a:srgbClr val="FFFFFF">
                <a:alpha val="30000"/>
              </a:srgbClr>
            </a:solidFill>
            <a:prstDash val="solid"/>
          </a:ln>
        </p:spPr>
      </p:sp>
      <p:sp>
        <p:nvSpPr>
          <p:cNvPr id="71" name="Text 69"/>
          <p:cNvSpPr/>
          <p:nvPr/>
        </p:nvSpPr>
        <p:spPr>
          <a:xfrm>
            <a:off x="685800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TurbineTemplateService</a:t>
            </a:r>
            <a:endParaRPr lang="en-US" sz="750" dirty="0"/>
          </a:p>
        </p:txBody>
      </p:sp>
      <p:sp>
        <p:nvSpPr>
          <p:cNvPr id="72" name="Shape 70"/>
          <p:cNvSpPr/>
          <p:nvPr/>
        </p:nvSpPr>
        <p:spPr>
          <a:xfrm>
            <a:off x="8275320" y="5358384"/>
            <a:ext cx="1325880" cy="256032"/>
          </a:xfrm>
          <a:prstGeom prst="rect">
            <a:avLst/>
          </a:prstGeom>
          <a:solidFill>
            <a:srgbClr val="FFFFFF">
              <a:alpha val="15000"/>
            </a:srgbClr>
          </a:solidFill>
          <a:ln w="12700">
            <a:solidFill>
              <a:srgbClr val="FFFFFF">
                <a:alpha val="30000"/>
              </a:srgbClr>
            </a:solidFill>
            <a:prstDash val="solid"/>
          </a:ln>
        </p:spPr>
      </p:sp>
      <p:sp>
        <p:nvSpPr>
          <p:cNvPr id="73" name="Text 71"/>
          <p:cNvSpPr/>
          <p:nvPr/>
        </p:nvSpPr>
        <p:spPr>
          <a:xfrm>
            <a:off x="827532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TurbineAssemblerBrokerService</a:t>
            </a:r>
            <a:endParaRPr lang="en-US" sz="750" dirty="0"/>
          </a:p>
        </p:txBody>
      </p:sp>
      <p:sp>
        <p:nvSpPr>
          <p:cNvPr id="74" name="Shape 72"/>
          <p:cNvSpPr/>
          <p:nvPr/>
        </p:nvSpPr>
        <p:spPr>
          <a:xfrm>
            <a:off x="9692640" y="5358384"/>
            <a:ext cx="1325880" cy="256032"/>
          </a:xfrm>
          <a:prstGeom prst="rect">
            <a:avLst/>
          </a:prstGeom>
          <a:solidFill>
            <a:srgbClr val="FFFFFF">
              <a:alpha val="15000"/>
            </a:srgbClr>
          </a:solidFill>
          <a:ln w="12700">
            <a:solidFill>
              <a:srgbClr val="FFFFFF">
                <a:alpha val="30000"/>
              </a:srgbClr>
            </a:solidFill>
            <a:prstDash val="solid"/>
          </a:ln>
        </p:spPr>
      </p:sp>
      <p:sp>
        <p:nvSpPr>
          <p:cNvPr id="75" name="Text 73"/>
          <p:cNvSpPr/>
          <p:nvPr/>
        </p:nvSpPr>
        <p:spPr>
          <a:xfrm>
            <a:off x="9692640" y="5358384"/>
            <a:ext cx="13258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TurbinePullService</a:t>
            </a:r>
            <a:endParaRPr lang="en-US" sz="750" dirty="0"/>
          </a:p>
        </p:txBody>
      </p:sp>
      <p:sp>
        <p:nvSpPr>
          <p:cNvPr id="76" name="Text 74"/>
          <p:cNvSpPr/>
          <p:nvPr/>
        </p:nvSpPr>
        <p:spPr>
          <a:xfrm>
            <a:off x="411480" y="5879592"/>
            <a:ext cx="11247120" cy="182880"/>
          </a:xfrm>
          <a:prstGeom prst="rect">
            <a:avLst/>
          </a:prstGeom>
          <a:noFill/>
          <a:ln/>
        </p:spPr>
        <p:txBody>
          <a:bodyPr wrap="square" lIns="0" tIns="0" rIns="0" bIns="0" rtlCol="0" anchor="ctr"/>
          <a:lstStyle/>
          <a:p>
            <a:pPr indent="0" marL="0">
              <a:buNone/>
            </a:pPr>
            <a:r>
              <a:rPr lang="en-US" sz="850" i="1" dirty="0">
                <a:solidFill>
                  <a:srgbClr val="001F3F"/>
                </a:solidFill>
                <a:latin typeface="Calibri" pitchFamily="34" charset="0"/>
                <a:ea typeface="Calibri" pitchFamily="34" charset="-122"/>
                <a:cs typeface="Calibri" pitchFamily="34" charset="-120"/>
              </a:rPr>
              <a:t>Proven mandatory — crash if removed (POC validated)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RunData — The Central Data Bus</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Every Action, Portlet and Layout receives this single object — migration impact is widest here</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960120"/>
            <a:ext cx="5212080" cy="52120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960120"/>
            <a:ext cx="5212080" cy="411480"/>
          </a:xfrm>
          <a:prstGeom prst="rect">
            <a:avLst/>
          </a:prstGeom>
          <a:solidFill>
            <a:srgbClr val="003366"/>
          </a:solidFill>
          <a:ln w="12700">
            <a:solidFill>
              <a:srgbClr val="003366"/>
            </a:solidFill>
            <a:prstDash val="solid"/>
          </a:ln>
        </p:spPr>
      </p:sp>
      <p:sp>
        <p:nvSpPr>
          <p:cNvPr id="9" name="Text 7"/>
          <p:cNvSpPr/>
          <p:nvPr/>
        </p:nvSpPr>
        <p:spPr>
          <a:xfrm>
            <a:off x="502920" y="978408"/>
            <a:ext cx="4937760" cy="347472"/>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WHAT RUNDATA CARRIES — confirmed from Eclipse debugger</a:t>
            </a:r>
            <a:endParaRPr lang="en-US" sz="1000" dirty="0"/>
          </a:p>
        </p:txBody>
      </p:sp>
      <p:sp>
        <p:nvSpPr>
          <p:cNvPr id="10" name="Shape 8"/>
          <p:cNvSpPr/>
          <p:nvPr/>
        </p:nvSpPr>
        <p:spPr>
          <a:xfrm>
            <a:off x="502920" y="1508760"/>
            <a:ext cx="4937760" cy="548640"/>
          </a:xfrm>
          <a:prstGeom prst="rect">
            <a:avLst/>
          </a:prstGeom>
          <a:solidFill>
            <a:srgbClr val="F4F6FA"/>
          </a:solidFill>
          <a:ln w="12700">
            <a:solidFill>
              <a:srgbClr val="E8ECF2"/>
            </a:solidFill>
            <a:prstDash val="solid"/>
          </a:ln>
        </p:spPr>
      </p:sp>
      <p:sp>
        <p:nvSpPr>
          <p:cNvPr id="11" name="Text 9"/>
          <p:cNvSpPr/>
          <p:nvPr/>
        </p:nvSpPr>
        <p:spPr>
          <a:xfrm>
            <a:off x="594360" y="1545336"/>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DefaultTurbineRunData base</a:t>
            </a:r>
            <a:endParaRPr lang="en-US" sz="900" dirty="0"/>
          </a:p>
        </p:txBody>
      </p:sp>
      <p:sp>
        <p:nvSpPr>
          <p:cNvPr id="12" name="Text 10"/>
          <p:cNvSpPr/>
          <p:nvPr/>
        </p:nvSpPr>
        <p:spPr>
          <a:xfrm>
            <a:off x="594360" y="1746504"/>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HttpServletRequest, Response, Session, ParameterParser, CookieParser</a:t>
            </a:r>
            <a:endParaRPr lang="en-US" sz="900" dirty="0"/>
          </a:p>
        </p:txBody>
      </p:sp>
      <p:sp>
        <p:nvSpPr>
          <p:cNvPr id="13" name="Shape 11"/>
          <p:cNvSpPr/>
          <p:nvPr/>
        </p:nvSpPr>
        <p:spPr>
          <a:xfrm>
            <a:off x="502920" y="2176272"/>
            <a:ext cx="4937760" cy="548640"/>
          </a:xfrm>
          <a:prstGeom prst="rect">
            <a:avLst/>
          </a:prstGeom>
          <a:solidFill>
            <a:srgbClr val="FFFFFF"/>
          </a:solidFill>
          <a:ln w="12700">
            <a:solidFill>
              <a:srgbClr val="E8ECF2"/>
            </a:solidFill>
            <a:prstDash val="solid"/>
          </a:ln>
        </p:spPr>
      </p:sp>
      <p:sp>
        <p:nvSpPr>
          <p:cNvPr id="14" name="Text 12"/>
          <p:cNvSpPr/>
          <p:nvPr/>
        </p:nvSpPr>
        <p:spPr>
          <a:xfrm>
            <a:off x="594360" y="2212848"/>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GTPRunData additions</a:t>
            </a:r>
            <a:endParaRPr lang="en-US" sz="900" dirty="0"/>
          </a:p>
        </p:txBody>
      </p:sp>
      <p:sp>
        <p:nvSpPr>
          <p:cNvPr id="15" name="Text 13"/>
          <p:cNvSpPr/>
          <p:nvPr/>
        </p:nvSpPr>
        <p:spPr>
          <a:xfrm>
            <a:off x="594360" y="2414016"/>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getMiniGEBUser()  ·  getCompanyAcl()  ·  getUserAcl()</a:t>
            </a:r>
            <a:endParaRPr lang="en-US" sz="900" dirty="0"/>
          </a:p>
        </p:txBody>
      </p:sp>
      <p:sp>
        <p:nvSpPr>
          <p:cNvPr id="16" name="Shape 14"/>
          <p:cNvSpPr/>
          <p:nvPr/>
        </p:nvSpPr>
        <p:spPr>
          <a:xfrm>
            <a:off x="502920" y="2843784"/>
            <a:ext cx="4937760" cy="548640"/>
          </a:xfrm>
          <a:prstGeom prst="rect">
            <a:avLst/>
          </a:prstGeom>
          <a:solidFill>
            <a:srgbClr val="F4F6FA"/>
          </a:solidFill>
          <a:ln w="12700">
            <a:solidFill>
              <a:srgbClr val="E8ECF2"/>
            </a:solidFill>
            <a:prstDash val="solid"/>
          </a:ln>
        </p:spPr>
      </p:sp>
      <p:sp>
        <p:nvSpPr>
          <p:cNvPr id="17" name="Text 15"/>
          <p:cNvSpPr/>
          <p:nvPr/>
        </p:nvSpPr>
        <p:spPr>
          <a:xfrm>
            <a:off x="594360" y="2880360"/>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Country Code</a:t>
            </a:r>
            <a:endParaRPr lang="en-US" sz="900" dirty="0"/>
          </a:p>
        </p:txBody>
      </p:sp>
      <p:sp>
        <p:nvSpPr>
          <p:cNvPr id="18" name="Text 16"/>
          <p:cNvSpPr/>
          <p:nvPr/>
        </p:nvSpPr>
        <p:spPr>
          <a:xfrm>
            <a:off x="594360" y="3081528"/>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getCountryCode() — drives GTP_PARAM_DATA lookup (SG/MY/VN/CN/HK/TH)</a:t>
            </a:r>
            <a:endParaRPr lang="en-US" sz="900" dirty="0"/>
          </a:p>
        </p:txBody>
      </p:sp>
      <p:sp>
        <p:nvSpPr>
          <p:cNvPr id="19" name="Shape 17"/>
          <p:cNvSpPr/>
          <p:nvPr/>
        </p:nvSpPr>
        <p:spPr>
          <a:xfrm>
            <a:off x="502920" y="3511296"/>
            <a:ext cx="4937760" cy="548640"/>
          </a:xfrm>
          <a:prstGeom prst="rect">
            <a:avLst/>
          </a:prstGeom>
          <a:solidFill>
            <a:srgbClr val="FFFFFF"/>
          </a:solidFill>
          <a:ln w="12700">
            <a:solidFill>
              <a:srgbClr val="E8ECF2"/>
            </a:solidFill>
            <a:prstDash val="solid"/>
          </a:ln>
        </p:spPr>
      </p:sp>
      <p:sp>
        <p:nvSpPr>
          <p:cNvPr id="20" name="Text 18"/>
          <p:cNvSpPr/>
          <p:nvPr/>
        </p:nvSpPr>
        <p:spPr>
          <a:xfrm>
            <a:off x="594360" y="3547872"/>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Token / SSO State</a:t>
            </a:r>
            <a:endParaRPr lang="en-US" sz="900" dirty="0"/>
          </a:p>
        </p:txBody>
      </p:sp>
      <p:sp>
        <p:nvSpPr>
          <p:cNvPr id="21" name="Text 19"/>
          <p:cNvSpPr/>
          <p:nvPr/>
        </p:nvSpPr>
        <p:spPr>
          <a:xfrm>
            <a:off x="594360" y="3749040"/>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isTokenAuthenticated()  ·  isSsoAuthenticated()</a:t>
            </a:r>
            <a:endParaRPr lang="en-US" sz="900" dirty="0"/>
          </a:p>
        </p:txBody>
      </p:sp>
      <p:sp>
        <p:nvSpPr>
          <p:cNvPr id="22" name="Shape 20"/>
          <p:cNvSpPr/>
          <p:nvPr/>
        </p:nvSpPr>
        <p:spPr>
          <a:xfrm>
            <a:off x="502920" y="4178808"/>
            <a:ext cx="4937760" cy="548640"/>
          </a:xfrm>
          <a:prstGeom prst="rect">
            <a:avLst/>
          </a:prstGeom>
          <a:solidFill>
            <a:srgbClr val="F4F6FA"/>
          </a:solidFill>
          <a:ln w="12700">
            <a:solidFill>
              <a:srgbClr val="E8ECF2"/>
            </a:solidFill>
            <a:prstDash val="solid"/>
          </a:ln>
        </p:spPr>
      </p:sp>
      <p:sp>
        <p:nvSpPr>
          <p:cNvPr id="23" name="Text 21"/>
          <p:cNvSpPr/>
          <p:nvPr/>
        </p:nvSpPr>
        <p:spPr>
          <a:xfrm>
            <a:off x="594360" y="4215384"/>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Pool Context</a:t>
            </a:r>
            <a:endParaRPr lang="en-US" sz="900" dirty="0"/>
          </a:p>
        </p:txBody>
      </p:sp>
      <p:sp>
        <p:nvSpPr>
          <p:cNvPr id="24" name="Text 22"/>
          <p:cNvSpPr/>
          <p:nvPr/>
        </p:nvSpPr>
        <p:spPr>
          <a:xfrm>
            <a:off x="594360" y="4416552"/>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cfg[0]=DefaultGTPRunData  cfg[1]=GTPParameterParser  cfg[2]=DefaultCookieParser</a:t>
            </a:r>
            <a:endParaRPr lang="en-US" sz="900" dirty="0"/>
          </a:p>
        </p:txBody>
      </p:sp>
      <p:sp>
        <p:nvSpPr>
          <p:cNvPr id="25" name="Shape 23"/>
          <p:cNvSpPr/>
          <p:nvPr/>
        </p:nvSpPr>
        <p:spPr>
          <a:xfrm>
            <a:off x="502920" y="4846320"/>
            <a:ext cx="4937760" cy="548640"/>
          </a:xfrm>
          <a:prstGeom prst="rect">
            <a:avLst/>
          </a:prstGeom>
          <a:solidFill>
            <a:srgbClr val="FFFFFF"/>
          </a:solidFill>
          <a:ln w="12700">
            <a:solidFill>
              <a:srgbClr val="E8ECF2"/>
            </a:solidFill>
            <a:prstDash val="solid"/>
          </a:ln>
        </p:spPr>
      </p:sp>
      <p:sp>
        <p:nvSpPr>
          <p:cNvPr id="26" name="Text 24"/>
          <p:cNvSpPr/>
          <p:nvPr/>
        </p:nvSpPr>
        <p:spPr>
          <a:xfrm>
            <a:off x="594360" y="4882896"/>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Assembler</a:t>
            </a:r>
            <a:endParaRPr lang="en-US" sz="900" dirty="0"/>
          </a:p>
        </p:txBody>
      </p:sp>
      <p:sp>
        <p:nvSpPr>
          <p:cNvPr id="27" name="Text 25"/>
          <p:cNvSpPr/>
          <p:nvPr/>
        </p:nvSpPr>
        <p:spPr>
          <a:xfrm>
            <a:off x="594360" y="5084064"/>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GTPRunDataService.getRunData() assembles all 3 from TurbinePoolService</a:t>
            </a:r>
            <a:endParaRPr lang="en-US" sz="900" dirty="0"/>
          </a:p>
        </p:txBody>
      </p:sp>
      <p:sp>
        <p:nvSpPr>
          <p:cNvPr id="28" name="Shape 26"/>
          <p:cNvSpPr/>
          <p:nvPr/>
        </p:nvSpPr>
        <p:spPr>
          <a:xfrm>
            <a:off x="502920" y="5513832"/>
            <a:ext cx="4937760" cy="548640"/>
          </a:xfrm>
          <a:prstGeom prst="rect">
            <a:avLst/>
          </a:prstGeom>
          <a:solidFill>
            <a:srgbClr val="F4F6FA"/>
          </a:solidFill>
          <a:ln w="12700">
            <a:solidFill>
              <a:srgbClr val="E8ECF2"/>
            </a:solidFill>
            <a:prstDash val="solid"/>
          </a:ln>
        </p:spPr>
      </p:sp>
      <p:sp>
        <p:nvSpPr>
          <p:cNvPr id="29" name="Text 27"/>
          <p:cNvSpPr/>
          <p:nvPr/>
        </p:nvSpPr>
        <p:spPr>
          <a:xfrm>
            <a:off x="594360" y="5550408"/>
            <a:ext cx="4754880" cy="201168"/>
          </a:xfrm>
          <a:prstGeom prst="rect">
            <a:avLst/>
          </a:prstGeom>
          <a:noFill/>
          <a:ln/>
        </p:spPr>
        <p:txBody>
          <a:bodyPr wrap="square" lIns="0" tIns="0" rIns="0" bIns="0" rtlCol="0" anchor="ctr"/>
          <a:lstStyle/>
          <a:p>
            <a:pPr indent="0" marL="0">
              <a:buNone/>
            </a:pPr>
            <a:r>
              <a:rPr lang="en-US" sz="900" b="1" dirty="0">
                <a:solidFill>
                  <a:srgbClr val="1A4A7A"/>
                </a:solidFill>
                <a:latin typeface="Calibri" pitchFamily="34" charset="0"/>
                <a:ea typeface="Calibri" pitchFamily="34" charset="-122"/>
                <a:cs typeface="Calibri" pitchFamily="34" charset="-120"/>
              </a:rPr>
              <a:t>Recycle</a:t>
            </a:r>
            <a:endParaRPr lang="en-US" sz="900" dirty="0"/>
          </a:p>
        </p:txBody>
      </p:sp>
      <p:sp>
        <p:nvSpPr>
          <p:cNvPr id="30" name="Text 28"/>
          <p:cNvSpPr/>
          <p:nvPr/>
        </p:nvSpPr>
        <p:spPr>
          <a:xfrm>
            <a:off x="594360" y="5751576"/>
            <a:ext cx="4754880" cy="256032"/>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putRunData() recycles all 3 separately — session isolation critical for banking security</a:t>
            </a:r>
            <a:endParaRPr lang="en-US" sz="900" dirty="0"/>
          </a:p>
        </p:txBody>
      </p:sp>
      <p:sp>
        <p:nvSpPr>
          <p:cNvPr id="31" name="Shape 29"/>
          <p:cNvSpPr/>
          <p:nvPr/>
        </p:nvSpPr>
        <p:spPr>
          <a:xfrm>
            <a:off x="5852160" y="960120"/>
            <a:ext cx="5943600" cy="52120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5852160" y="960120"/>
            <a:ext cx="5943600" cy="411480"/>
          </a:xfrm>
          <a:prstGeom prst="rect">
            <a:avLst/>
          </a:prstGeom>
          <a:solidFill>
            <a:srgbClr val="C0392B"/>
          </a:solidFill>
          <a:ln w="12700">
            <a:solidFill>
              <a:srgbClr val="C0392B"/>
            </a:solidFill>
            <a:prstDash val="solid"/>
          </a:ln>
        </p:spPr>
      </p:sp>
      <p:sp>
        <p:nvSpPr>
          <p:cNvPr id="33" name="Text 31"/>
          <p:cNvSpPr/>
          <p:nvPr/>
        </p:nvSpPr>
        <p:spPr>
          <a:xfrm>
            <a:off x="5989320" y="978408"/>
            <a:ext cx="566928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MIGRATION IMPACT — proven by POC (not theoretical)</a:t>
            </a:r>
            <a:endParaRPr lang="en-US" sz="1000" dirty="0"/>
          </a:p>
        </p:txBody>
      </p:sp>
      <p:sp>
        <p:nvSpPr>
          <p:cNvPr id="34" name="Shape 32"/>
          <p:cNvSpPr/>
          <p:nvPr/>
        </p:nvSpPr>
        <p:spPr>
          <a:xfrm>
            <a:off x="5989320" y="1508760"/>
            <a:ext cx="5669280" cy="685800"/>
          </a:xfrm>
          <a:prstGeom prst="rect">
            <a:avLst/>
          </a:prstGeom>
          <a:solidFill>
            <a:srgbClr val="F4F6FA"/>
          </a:solidFill>
          <a:ln w="12700">
            <a:solidFill>
              <a:srgbClr val="E8ECF2"/>
            </a:solidFill>
            <a:prstDash val="solid"/>
          </a:ln>
        </p:spPr>
      </p:sp>
      <p:sp>
        <p:nvSpPr>
          <p:cNvPr id="35" name="Shape 33"/>
          <p:cNvSpPr/>
          <p:nvPr/>
        </p:nvSpPr>
        <p:spPr>
          <a:xfrm>
            <a:off x="5989320" y="1508760"/>
            <a:ext cx="685800" cy="274320"/>
          </a:xfrm>
          <a:prstGeom prst="rect">
            <a:avLst/>
          </a:prstGeom>
          <a:solidFill>
            <a:srgbClr val="C0392B"/>
          </a:solidFill>
          <a:ln w="12700">
            <a:solidFill>
              <a:srgbClr val="C0392B"/>
            </a:solidFill>
            <a:prstDash val="solid"/>
          </a:ln>
        </p:spPr>
      </p:sp>
      <p:sp>
        <p:nvSpPr>
          <p:cNvPr id="36" name="Text 34"/>
          <p:cNvSpPr/>
          <p:nvPr/>
        </p:nvSpPr>
        <p:spPr>
          <a:xfrm>
            <a:off x="5989320" y="1508760"/>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37" name="Text 35"/>
          <p:cNvSpPr/>
          <p:nvPr/>
        </p:nvSpPr>
        <p:spPr>
          <a:xfrm>
            <a:off x="6748272" y="1536192"/>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data.getPage() REMOVED from RunData in Turbine 7</a:t>
            </a:r>
            <a:endParaRPr lang="en-US" sz="1000" dirty="0"/>
          </a:p>
        </p:txBody>
      </p:sp>
      <p:sp>
        <p:nvSpPr>
          <p:cNvPr id="38" name="Text 36"/>
          <p:cNvSpPr/>
          <p:nvPr/>
        </p:nvSpPr>
        <p:spPr>
          <a:xfrm>
            <a:off x="6035040" y="1828800"/>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GTPRootPortlet.addGridComparator() uses data.getPage().getBody().addElement(script) — ALL portlets break. 10+ compile errors proven.</a:t>
            </a:r>
            <a:endParaRPr lang="en-US" sz="900" dirty="0"/>
          </a:p>
        </p:txBody>
      </p:sp>
      <p:sp>
        <p:nvSpPr>
          <p:cNvPr id="39" name="Shape 37"/>
          <p:cNvSpPr/>
          <p:nvPr/>
        </p:nvSpPr>
        <p:spPr>
          <a:xfrm>
            <a:off x="5989320" y="2304288"/>
            <a:ext cx="5669280" cy="685800"/>
          </a:xfrm>
          <a:prstGeom prst="rect">
            <a:avLst/>
          </a:prstGeom>
          <a:solidFill>
            <a:srgbClr val="F4F6FA"/>
          </a:solidFill>
          <a:ln w="12700">
            <a:solidFill>
              <a:srgbClr val="E8ECF2"/>
            </a:solidFill>
            <a:prstDash val="solid"/>
          </a:ln>
        </p:spPr>
      </p:sp>
      <p:sp>
        <p:nvSpPr>
          <p:cNvPr id="40" name="Shape 38"/>
          <p:cNvSpPr/>
          <p:nvPr/>
        </p:nvSpPr>
        <p:spPr>
          <a:xfrm>
            <a:off x="5989320" y="2304288"/>
            <a:ext cx="685800" cy="274320"/>
          </a:xfrm>
          <a:prstGeom prst="rect">
            <a:avLst/>
          </a:prstGeom>
          <a:solidFill>
            <a:srgbClr val="C0392B"/>
          </a:solidFill>
          <a:ln w="12700">
            <a:solidFill>
              <a:srgbClr val="C0392B"/>
            </a:solidFill>
            <a:prstDash val="solid"/>
          </a:ln>
        </p:spPr>
      </p:sp>
      <p:sp>
        <p:nvSpPr>
          <p:cNvPr id="41" name="Text 39"/>
          <p:cNvSpPr/>
          <p:nvPr/>
        </p:nvSpPr>
        <p:spPr>
          <a:xfrm>
            <a:off x="5989320" y="2304288"/>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42" name="Text 40"/>
          <p:cNvSpPr/>
          <p:nvPr/>
        </p:nvSpPr>
        <p:spPr>
          <a:xfrm>
            <a:off x="6748272" y="2331720"/>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Action / Layout changed from class → interface</a:t>
            </a:r>
            <a:endParaRPr lang="en-US" sz="1000" dirty="0"/>
          </a:p>
        </p:txBody>
      </p:sp>
      <p:sp>
        <p:nvSpPr>
          <p:cNvPr id="43" name="Text 41"/>
          <p:cNvSpPr/>
          <p:nvPr/>
        </p:nvSpPr>
        <p:spPr>
          <a:xfrm>
            <a:off x="6035040" y="2624328"/>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Every extends Action / extends Layout in GEB = compile error. Affects all 18+ business modules.</a:t>
            </a:r>
            <a:endParaRPr lang="en-US" sz="900" dirty="0"/>
          </a:p>
        </p:txBody>
      </p:sp>
      <p:sp>
        <p:nvSpPr>
          <p:cNvPr id="44" name="Shape 42"/>
          <p:cNvSpPr/>
          <p:nvPr/>
        </p:nvSpPr>
        <p:spPr>
          <a:xfrm>
            <a:off x="5989320" y="3099816"/>
            <a:ext cx="5669280" cy="685800"/>
          </a:xfrm>
          <a:prstGeom prst="rect">
            <a:avLst/>
          </a:prstGeom>
          <a:solidFill>
            <a:srgbClr val="F4F6FA"/>
          </a:solidFill>
          <a:ln w="12700">
            <a:solidFill>
              <a:srgbClr val="E8ECF2"/>
            </a:solidFill>
            <a:prstDash val="solid"/>
          </a:ln>
        </p:spPr>
      </p:sp>
      <p:sp>
        <p:nvSpPr>
          <p:cNvPr id="45" name="Shape 43"/>
          <p:cNvSpPr/>
          <p:nvPr/>
        </p:nvSpPr>
        <p:spPr>
          <a:xfrm>
            <a:off x="5989320" y="3099816"/>
            <a:ext cx="685800" cy="274320"/>
          </a:xfrm>
          <a:prstGeom prst="rect">
            <a:avLst/>
          </a:prstGeom>
          <a:solidFill>
            <a:srgbClr val="D4A017"/>
          </a:solidFill>
          <a:ln w="12700">
            <a:solidFill>
              <a:srgbClr val="D4A017"/>
            </a:solidFill>
            <a:prstDash val="solid"/>
          </a:ln>
        </p:spPr>
      </p:sp>
      <p:sp>
        <p:nvSpPr>
          <p:cNvPr id="46" name="Text 44"/>
          <p:cNvSpPr/>
          <p:nvPr/>
        </p:nvSpPr>
        <p:spPr>
          <a:xfrm>
            <a:off x="5989320" y="3099816"/>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47" name="Text 45"/>
          <p:cNvSpPr/>
          <p:nvPr/>
        </p:nvSpPr>
        <p:spPr>
          <a:xfrm>
            <a:off x="6748272" y="3127248"/>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GTPParameterParser integration broken</a:t>
            </a:r>
            <a:endParaRPr lang="en-US" sz="1000" dirty="0"/>
          </a:p>
        </p:txBody>
      </p:sp>
      <p:sp>
        <p:nvSpPr>
          <p:cNvPr id="48" name="Text 46"/>
          <p:cNvSpPr/>
          <p:nvPr/>
        </p:nvSpPr>
        <p:spPr>
          <a:xfrm>
            <a:off x="6035040" y="3419856"/>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fulcrum-parser 4.0.0 does not support custom parser registration. XSS sanitization, Dojo indexed params silently bypassed. Proven in POC — Test 2 FAIL.</a:t>
            </a:r>
            <a:endParaRPr lang="en-US" sz="900" dirty="0"/>
          </a:p>
        </p:txBody>
      </p:sp>
      <p:sp>
        <p:nvSpPr>
          <p:cNvPr id="49" name="Shape 47"/>
          <p:cNvSpPr/>
          <p:nvPr/>
        </p:nvSpPr>
        <p:spPr>
          <a:xfrm>
            <a:off x="5989320" y="3895344"/>
            <a:ext cx="5669280" cy="685800"/>
          </a:xfrm>
          <a:prstGeom prst="rect">
            <a:avLst/>
          </a:prstGeom>
          <a:solidFill>
            <a:srgbClr val="F4F6FA"/>
          </a:solidFill>
          <a:ln w="12700">
            <a:solidFill>
              <a:srgbClr val="E8ECF2"/>
            </a:solidFill>
            <a:prstDash val="solid"/>
          </a:ln>
        </p:spPr>
      </p:sp>
      <p:sp>
        <p:nvSpPr>
          <p:cNvPr id="50" name="Shape 48"/>
          <p:cNvSpPr/>
          <p:nvPr/>
        </p:nvSpPr>
        <p:spPr>
          <a:xfrm>
            <a:off x="5989320" y="3895344"/>
            <a:ext cx="685800" cy="274320"/>
          </a:xfrm>
          <a:prstGeom prst="rect">
            <a:avLst/>
          </a:prstGeom>
          <a:solidFill>
            <a:srgbClr val="D4A017"/>
          </a:solidFill>
          <a:ln w="12700">
            <a:solidFill>
              <a:srgbClr val="D4A017"/>
            </a:solidFill>
            <a:prstDash val="solid"/>
          </a:ln>
        </p:spPr>
      </p:sp>
      <p:sp>
        <p:nvSpPr>
          <p:cNvPr id="51" name="Text 49"/>
          <p:cNvSpPr/>
          <p:nvPr/>
        </p:nvSpPr>
        <p:spPr>
          <a:xfrm>
            <a:off x="5989320" y="3895344"/>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52" name="Text 50"/>
          <p:cNvSpPr/>
          <p:nvPr/>
        </p:nvSpPr>
        <p:spPr>
          <a:xfrm>
            <a:off x="6748272" y="3922776"/>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javax.servlet.* → jakarta.servlet.* namespace</a:t>
            </a:r>
            <a:endParaRPr lang="en-US" sz="1000" dirty="0"/>
          </a:p>
        </p:txBody>
      </p:sp>
      <p:sp>
        <p:nvSpPr>
          <p:cNvPr id="53" name="Text 51"/>
          <p:cNvSpPr/>
          <p:nvPr/>
        </p:nvSpPr>
        <p:spPr>
          <a:xfrm>
            <a:off x="6035040" y="4215384"/>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fulcrum-parser 2.0.1 crashes on Tomcat 10. ALL libraries compiled against javax.* will fail. Proven by ClassNotFoundException.</a:t>
            </a:r>
            <a:endParaRPr lang="en-US" sz="900" dirty="0"/>
          </a:p>
        </p:txBody>
      </p:sp>
      <p:sp>
        <p:nvSpPr>
          <p:cNvPr id="54" name="Shape 52"/>
          <p:cNvSpPr/>
          <p:nvPr/>
        </p:nvSpPr>
        <p:spPr>
          <a:xfrm>
            <a:off x="5989320" y="4690872"/>
            <a:ext cx="5669280" cy="685800"/>
          </a:xfrm>
          <a:prstGeom prst="rect">
            <a:avLst/>
          </a:prstGeom>
          <a:solidFill>
            <a:srgbClr val="F4F6FA"/>
          </a:solidFill>
          <a:ln w="12700">
            <a:solidFill>
              <a:srgbClr val="E8ECF2"/>
            </a:solidFill>
            <a:prstDash val="solid"/>
          </a:ln>
        </p:spPr>
      </p:sp>
      <p:sp>
        <p:nvSpPr>
          <p:cNvPr id="55" name="Shape 53"/>
          <p:cNvSpPr/>
          <p:nvPr/>
        </p:nvSpPr>
        <p:spPr>
          <a:xfrm>
            <a:off x="5989320" y="4690872"/>
            <a:ext cx="685800" cy="274320"/>
          </a:xfrm>
          <a:prstGeom prst="rect">
            <a:avLst/>
          </a:prstGeom>
          <a:solidFill>
            <a:srgbClr val="D4A017"/>
          </a:solidFill>
          <a:ln w="12700">
            <a:solidFill>
              <a:srgbClr val="D4A017"/>
            </a:solidFill>
            <a:prstDash val="solid"/>
          </a:ln>
        </p:spPr>
      </p:sp>
      <p:sp>
        <p:nvSpPr>
          <p:cNvPr id="56" name="Text 54"/>
          <p:cNvSpPr/>
          <p:nvPr/>
        </p:nvSpPr>
        <p:spPr>
          <a:xfrm>
            <a:off x="5989320" y="4690872"/>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57" name="Text 55"/>
          <p:cNvSpPr/>
          <p:nvPr/>
        </p:nvSpPr>
        <p:spPr>
          <a:xfrm>
            <a:off x="6748272" y="4718304"/>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TurbinePoolService / TurbineFactoryService removed</a:t>
            </a:r>
            <a:endParaRPr lang="en-US" sz="1000" dirty="0"/>
          </a:p>
        </p:txBody>
      </p:sp>
      <p:sp>
        <p:nvSpPr>
          <p:cNvPr id="58" name="Text 56"/>
          <p:cNvSpPr/>
          <p:nvPr/>
        </p:nvSpPr>
        <p:spPr>
          <a:xfrm>
            <a:off x="6035040" y="5010912"/>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Both services removed from Turbine 7. Any turbine.properties entry referencing them = ClassNotFoundException on startup.</a:t>
            </a:r>
            <a:endParaRPr lang="en-US" sz="900" dirty="0"/>
          </a:p>
        </p:txBody>
      </p:sp>
      <p:sp>
        <p:nvSpPr>
          <p:cNvPr id="59" name="Shape 57"/>
          <p:cNvSpPr/>
          <p:nvPr/>
        </p:nvSpPr>
        <p:spPr>
          <a:xfrm>
            <a:off x="5989320" y="5486400"/>
            <a:ext cx="5669280" cy="685800"/>
          </a:xfrm>
          <a:prstGeom prst="rect">
            <a:avLst/>
          </a:prstGeom>
          <a:solidFill>
            <a:srgbClr val="F4F6FA"/>
          </a:solidFill>
          <a:ln w="12700">
            <a:solidFill>
              <a:srgbClr val="E8ECF2"/>
            </a:solidFill>
            <a:prstDash val="solid"/>
          </a:ln>
        </p:spPr>
      </p:sp>
      <p:sp>
        <p:nvSpPr>
          <p:cNvPr id="60" name="Shape 58"/>
          <p:cNvSpPr/>
          <p:nvPr/>
        </p:nvSpPr>
        <p:spPr>
          <a:xfrm>
            <a:off x="5989320" y="5486400"/>
            <a:ext cx="685800" cy="274320"/>
          </a:xfrm>
          <a:prstGeom prst="rect">
            <a:avLst/>
          </a:prstGeom>
          <a:solidFill>
            <a:srgbClr val="2C6FAC"/>
          </a:solidFill>
          <a:ln w="12700">
            <a:solidFill>
              <a:srgbClr val="2C6FAC"/>
            </a:solidFill>
            <a:prstDash val="solid"/>
          </a:ln>
        </p:spPr>
      </p:sp>
      <p:sp>
        <p:nvSpPr>
          <p:cNvPr id="61" name="Text 59"/>
          <p:cNvSpPr/>
          <p:nvPr/>
        </p:nvSpPr>
        <p:spPr>
          <a:xfrm>
            <a:off x="5989320" y="5486400"/>
            <a:ext cx="68580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62" name="Text 60"/>
          <p:cNvSpPr/>
          <p:nvPr/>
        </p:nvSpPr>
        <p:spPr>
          <a:xfrm>
            <a:off x="6748272" y="5513832"/>
            <a:ext cx="4754880" cy="228600"/>
          </a:xfrm>
          <a:prstGeom prst="rect">
            <a:avLst/>
          </a:prstGeom>
          <a:noFill/>
          <a:ln/>
        </p:spPr>
        <p:txBody>
          <a:bodyPr wrap="square" lIns="0" tIns="0" rIns="0" bIns="0" rtlCol="0" anchor="ctr"/>
          <a:lstStyle/>
          <a:p>
            <a:pPr indent="0" marL="0">
              <a:buNone/>
            </a:pPr>
            <a:r>
              <a:rPr lang="en-US" sz="1000" b="1" dirty="0">
                <a:solidFill>
                  <a:srgbClr val="1A2A3A"/>
                </a:solidFill>
                <a:latin typeface="Calibri" pitchFamily="34" charset="0"/>
                <a:ea typeface="Calibri" pitchFamily="34" charset="-122"/>
                <a:cs typeface="Calibri" pitchFamily="34" charset="-120"/>
              </a:rPr>
              <a:t>RunData → PipelineData signature changes</a:t>
            </a:r>
            <a:endParaRPr lang="en-US" sz="1000" dirty="0"/>
          </a:p>
        </p:txBody>
      </p:sp>
      <p:sp>
        <p:nvSpPr>
          <p:cNvPr id="63" name="Text 61"/>
          <p:cNvSpPr/>
          <p:nvPr/>
        </p:nvSpPr>
        <p:spPr>
          <a:xfrm>
            <a:off x="6035040" y="5806440"/>
            <a:ext cx="5577840" cy="32004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Every doPerform(RunData) in Actions must change to doPerform(PipelineData). Silent data bleed risk if recycle() not updated.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0" y="6492240"/>
            <a:ext cx="12161520" cy="365760"/>
          </a:xfrm>
          <a:prstGeom prst="rect">
            <a:avLst/>
          </a:prstGeom>
          <a:solidFill>
            <a:srgbClr val="001F3F"/>
          </a:solidFill>
          <a:ln w="12700">
            <a:solidFill>
              <a:srgbClr val="001122"/>
            </a:solidFill>
            <a:prstDash val="solid"/>
          </a:ln>
        </p:spPr>
      </p:sp>
      <p:sp>
        <p:nvSpPr>
          <p:cNvPr id="3" name="Text 1"/>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4" name="Shape 2"/>
          <p:cNvSpPr/>
          <p:nvPr/>
        </p:nvSpPr>
        <p:spPr>
          <a:xfrm>
            <a:off x="365760" y="201168"/>
            <a:ext cx="64008" cy="457200"/>
          </a:xfrm>
          <a:prstGeom prst="rect">
            <a:avLst/>
          </a:prstGeom>
          <a:solidFill>
            <a:srgbClr val="C9A84C"/>
          </a:solidFill>
          <a:ln w="12700">
            <a:solidFill>
              <a:srgbClr val="C9A84C"/>
            </a:solidFill>
            <a:prstDash val="solid"/>
          </a:ln>
        </p:spPr>
      </p:sp>
      <p:sp>
        <p:nvSpPr>
          <p:cNvPr id="5" name="Text 3"/>
          <p:cNvSpPr/>
          <p:nvPr/>
        </p:nvSpPr>
        <p:spPr>
          <a:xfrm>
            <a:off x="548640" y="182880"/>
            <a:ext cx="1097280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POC — Mini-GEB Running Live on Turbine 7 + Java 17</a:t>
            </a:r>
            <a:endParaRPr lang="en-US" sz="2000" dirty="0"/>
          </a:p>
        </p:txBody>
      </p:sp>
      <p:sp>
        <p:nvSpPr>
          <p:cNvPr id="6" name="Text 4"/>
          <p:cNvSpPr/>
          <p:nvPr/>
        </p:nvSpPr>
        <p:spPr>
          <a:xfrm>
            <a:off x="548640" y="548640"/>
            <a:ext cx="11338560" cy="228600"/>
          </a:xfrm>
          <a:prstGeom prst="rect">
            <a:avLst/>
          </a:prstGeom>
          <a:noFill/>
          <a:ln/>
        </p:spPr>
        <p:txBody>
          <a:bodyPr wrap="square" lIns="0" tIns="0" rIns="0" bIns="0" rtlCol="0" anchor="ctr"/>
          <a:lstStyle/>
          <a:p>
            <a:pPr indent="0" marL="0">
              <a:buNone/>
            </a:pPr>
            <a:r>
              <a:rPr lang="en-US" sz="1050" i="1" dirty="0">
                <a:solidFill>
                  <a:srgbClr val="F0D080"/>
                </a:solidFill>
                <a:latin typeface="Calibri" pitchFamily="34" charset="0"/>
                <a:ea typeface="Calibri" pitchFamily="34" charset="-122"/>
                <a:cs typeface="Calibri" pitchFamily="34" charset="-120"/>
              </a:rPr>
              <a:t>We built a mini-replica of the ACTUAL GEB application — same architecture, same patterns — and validated it on Turbine 7 + Java 17 + Jakarta EE. Note: Tomcat 10 used for POC validation; production target remains JBoss EAP 8.</a:t>
            </a:r>
            <a:endParaRPr lang="en-US" sz="1050" dirty="0"/>
          </a:p>
        </p:txBody>
      </p:sp>
      <p:sp>
        <p:nvSpPr>
          <p:cNvPr id="7" name="Shape 5"/>
          <p:cNvSpPr/>
          <p:nvPr/>
        </p:nvSpPr>
        <p:spPr>
          <a:xfrm>
            <a:off x="274320" y="960120"/>
            <a:ext cx="5669280" cy="2423160"/>
          </a:xfrm>
          <a:prstGeom prst="rect">
            <a:avLst/>
          </a:prstGeom>
          <a:solidFill>
            <a:srgbClr val="0A1628"/>
          </a:solidFill>
          <a:ln w="12700">
            <a:solidFill>
              <a:srgbClr val="1A2A40"/>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74320" y="960120"/>
            <a:ext cx="5669280" cy="457200"/>
          </a:xfrm>
          <a:prstGeom prst="rect">
            <a:avLst/>
          </a:prstGeom>
          <a:solidFill>
            <a:srgbClr val="1A7A4A"/>
          </a:solidFill>
          <a:ln w="12700">
            <a:solidFill>
              <a:srgbClr val="1A7A4A"/>
            </a:solidFill>
            <a:prstDash val="solid"/>
          </a:ln>
        </p:spPr>
      </p:sp>
      <p:sp>
        <p:nvSpPr>
          <p:cNvPr id="9" name="Text 7"/>
          <p:cNvSpPr/>
          <p:nvPr/>
        </p:nvSpPr>
        <p:spPr>
          <a:xfrm>
            <a:off x="411480" y="1051560"/>
            <a:ext cx="10058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TEST 1</a:t>
            </a:r>
            <a:endParaRPr lang="en-US" sz="1000" dirty="0"/>
          </a:p>
        </p:txBody>
      </p:sp>
      <p:sp>
        <p:nvSpPr>
          <p:cNvPr id="10" name="Shape 8"/>
          <p:cNvSpPr/>
          <p:nvPr/>
        </p:nvSpPr>
        <p:spPr>
          <a:xfrm>
            <a:off x="4480560" y="1024128"/>
            <a:ext cx="347472" cy="347472"/>
          </a:xfrm>
          <a:prstGeom prst="ellipse">
            <a:avLst/>
          </a:prstGeom>
          <a:solidFill>
            <a:srgbClr val="FFFFFF">
              <a:alpha val="80000"/>
            </a:srgbClr>
          </a:solidFill>
          <a:ln w="12700">
            <a:solidFill>
              <a:srgbClr val="FFFFFF">
                <a:alpha val="80000"/>
              </a:srgbClr>
            </a:solidFill>
            <a:prstDash val="solid"/>
          </a:ln>
        </p:spPr>
      </p:sp>
      <p:sp>
        <p:nvSpPr>
          <p:cNvPr id="11" name="Text 9"/>
          <p:cNvSpPr/>
          <p:nvPr/>
        </p:nvSpPr>
        <p:spPr>
          <a:xfrm>
            <a:off x="4480560" y="10241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4892040" y="1051560"/>
            <a:ext cx="914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PASS</a:t>
            </a:r>
            <a:endParaRPr lang="en-US" sz="1400" dirty="0"/>
          </a:p>
        </p:txBody>
      </p:sp>
      <p:sp>
        <p:nvSpPr>
          <p:cNvPr id="13" name="Text 11"/>
          <p:cNvSpPr/>
          <p:nvPr/>
        </p:nvSpPr>
        <p:spPr>
          <a:xfrm>
            <a:off x="457200" y="1527048"/>
            <a:ext cx="53035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Custom RunDataService Creates Our RunData Class</a:t>
            </a:r>
            <a:endParaRPr lang="en-US" sz="1100" dirty="0"/>
          </a:p>
        </p:txBody>
      </p:sp>
      <p:sp>
        <p:nvSpPr>
          <p:cNvPr id="14" name="Text 12"/>
          <p:cNvSpPr/>
          <p:nvPr/>
        </p:nvSpPr>
        <p:spPr>
          <a:xfrm>
            <a:off x="457200" y="1965960"/>
            <a:ext cx="530352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MiniGEBRunDataService successfully creates DefaultMiniGEBRunData (our custom class) in Turbine 7. Registered via turbine.properties.</a:t>
            </a:r>
            <a:endParaRPr lang="en-US" sz="1000" dirty="0"/>
          </a:p>
        </p:txBody>
      </p:sp>
      <p:sp>
        <p:nvSpPr>
          <p:cNvPr id="15" name="Shape 13"/>
          <p:cNvSpPr/>
          <p:nvPr/>
        </p:nvSpPr>
        <p:spPr>
          <a:xfrm>
            <a:off x="411480" y="2697480"/>
            <a:ext cx="5394960" cy="502920"/>
          </a:xfrm>
          <a:prstGeom prst="rect">
            <a:avLst/>
          </a:prstGeom>
          <a:solidFill>
            <a:srgbClr val="0D1E30"/>
          </a:solidFill>
          <a:ln w="12700">
            <a:solidFill>
              <a:srgbClr val="1A3050"/>
            </a:solidFill>
            <a:prstDash val="solid"/>
          </a:ln>
        </p:spPr>
      </p:sp>
      <p:sp>
        <p:nvSpPr>
          <p:cNvPr id="16" name="Shape 14"/>
          <p:cNvSpPr/>
          <p:nvPr/>
        </p:nvSpPr>
        <p:spPr>
          <a:xfrm>
            <a:off x="411480" y="2697480"/>
            <a:ext cx="54864" cy="502920"/>
          </a:xfrm>
          <a:prstGeom prst="rect">
            <a:avLst/>
          </a:prstGeom>
          <a:solidFill>
            <a:srgbClr val="1A7A4A"/>
          </a:solidFill>
          <a:ln w="12700">
            <a:solidFill>
              <a:srgbClr val="1A7A4A"/>
            </a:solidFill>
            <a:prstDash val="solid"/>
          </a:ln>
        </p:spPr>
      </p:sp>
      <p:sp>
        <p:nvSpPr>
          <p:cNvPr id="17" name="Text 15"/>
          <p:cNvSpPr/>
          <p:nvPr/>
        </p:nvSpPr>
        <p:spPr>
          <a:xfrm>
            <a:off x="530352" y="2752344"/>
            <a:ext cx="5212080" cy="384048"/>
          </a:xfrm>
          <a:prstGeom prst="rect">
            <a:avLst/>
          </a:prstGeom>
          <a:noFill/>
          <a:ln/>
        </p:spPr>
        <p:txBody>
          <a:bodyPr wrap="square" lIns="0" tIns="0" rIns="0" bIns="0" rtlCol="0" anchor="ctr"/>
          <a:lstStyle/>
          <a:p>
            <a:pPr indent="0" marL="0">
              <a:buNone/>
            </a:pPr>
            <a:r>
              <a:rPr lang="en-US" sz="850" dirty="0">
                <a:solidFill>
                  <a:srgbClr val="F0D080"/>
                </a:solidFill>
                <a:latin typeface="Consolas" pitchFamily="34" charset="0"/>
                <a:ea typeface="Consolas" pitchFamily="34" charset="-122"/>
                <a:cs typeface="Consolas" pitchFamily="34" charset="-120"/>
              </a:rPr>
              <a:t>Log: DefaultMiniGEBRunData CREATED: RunData-2eb84678 (class=DefaultMiniGEBRunData)</a:t>
            </a:r>
            <a:endParaRPr lang="en-US" sz="850" dirty="0"/>
          </a:p>
        </p:txBody>
      </p:sp>
      <p:sp>
        <p:nvSpPr>
          <p:cNvPr id="18" name="Shape 16"/>
          <p:cNvSpPr/>
          <p:nvPr/>
        </p:nvSpPr>
        <p:spPr>
          <a:xfrm>
            <a:off x="6172200" y="960120"/>
            <a:ext cx="5669280" cy="2423160"/>
          </a:xfrm>
          <a:prstGeom prst="rect">
            <a:avLst/>
          </a:prstGeom>
          <a:solidFill>
            <a:srgbClr val="0A1628"/>
          </a:solidFill>
          <a:ln w="12700">
            <a:solidFill>
              <a:srgbClr val="1A2A4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172200" y="960120"/>
            <a:ext cx="5669280" cy="457200"/>
          </a:xfrm>
          <a:prstGeom prst="rect">
            <a:avLst/>
          </a:prstGeom>
          <a:solidFill>
            <a:srgbClr val="C0392B"/>
          </a:solidFill>
          <a:ln w="12700">
            <a:solidFill>
              <a:srgbClr val="C0392B"/>
            </a:solidFill>
            <a:prstDash val="solid"/>
          </a:ln>
        </p:spPr>
      </p:sp>
      <p:sp>
        <p:nvSpPr>
          <p:cNvPr id="20" name="Text 18"/>
          <p:cNvSpPr/>
          <p:nvPr/>
        </p:nvSpPr>
        <p:spPr>
          <a:xfrm>
            <a:off x="6309360" y="1051560"/>
            <a:ext cx="10058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TEST 2</a:t>
            </a:r>
            <a:endParaRPr lang="en-US" sz="1000" dirty="0"/>
          </a:p>
        </p:txBody>
      </p:sp>
      <p:sp>
        <p:nvSpPr>
          <p:cNvPr id="21" name="Shape 19"/>
          <p:cNvSpPr/>
          <p:nvPr/>
        </p:nvSpPr>
        <p:spPr>
          <a:xfrm>
            <a:off x="10378440" y="1024128"/>
            <a:ext cx="347472" cy="347472"/>
          </a:xfrm>
          <a:prstGeom prst="ellipse">
            <a:avLst/>
          </a:prstGeom>
          <a:solidFill>
            <a:srgbClr val="FFFFFF">
              <a:alpha val="80000"/>
            </a:srgbClr>
          </a:solidFill>
          <a:ln w="12700">
            <a:solidFill>
              <a:srgbClr val="FFFFFF">
                <a:alpha val="80000"/>
              </a:srgbClr>
            </a:solidFill>
            <a:prstDash val="solid"/>
          </a:ln>
        </p:spPr>
      </p:sp>
      <p:sp>
        <p:nvSpPr>
          <p:cNvPr id="22" name="Text 20"/>
          <p:cNvSpPr/>
          <p:nvPr/>
        </p:nvSpPr>
        <p:spPr>
          <a:xfrm>
            <a:off x="10378440" y="10241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0789920" y="1051560"/>
            <a:ext cx="914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FAIL</a:t>
            </a:r>
            <a:endParaRPr lang="en-US" sz="1400" dirty="0"/>
          </a:p>
        </p:txBody>
      </p:sp>
      <p:sp>
        <p:nvSpPr>
          <p:cNvPr id="24" name="Text 22"/>
          <p:cNvSpPr/>
          <p:nvPr/>
        </p:nvSpPr>
        <p:spPr>
          <a:xfrm>
            <a:off x="6355080" y="1527048"/>
            <a:ext cx="53035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Custom ParameterParser Cannot Be Plugged In</a:t>
            </a:r>
            <a:endParaRPr lang="en-US" sz="1100" dirty="0"/>
          </a:p>
        </p:txBody>
      </p:sp>
      <p:sp>
        <p:nvSpPr>
          <p:cNvPr id="25" name="Text 23"/>
          <p:cNvSpPr/>
          <p:nvPr/>
        </p:nvSpPr>
        <p:spPr>
          <a:xfrm>
            <a:off x="6355080" y="1965960"/>
            <a:ext cx="530352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GTPParameterParser equivalent cannot be registered in Turbine 7's fulcrum-parser 4.0.0 layer. XSS sanitization, Dojo indexed params silently bypassed.</a:t>
            </a:r>
            <a:endParaRPr lang="en-US" sz="1000" dirty="0"/>
          </a:p>
        </p:txBody>
      </p:sp>
      <p:sp>
        <p:nvSpPr>
          <p:cNvPr id="26" name="Shape 24"/>
          <p:cNvSpPr/>
          <p:nvPr/>
        </p:nvSpPr>
        <p:spPr>
          <a:xfrm>
            <a:off x="6309360" y="2697480"/>
            <a:ext cx="5394960" cy="502920"/>
          </a:xfrm>
          <a:prstGeom prst="rect">
            <a:avLst/>
          </a:prstGeom>
          <a:solidFill>
            <a:srgbClr val="0D1E30"/>
          </a:solidFill>
          <a:ln w="12700">
            <a:solidFill>
              <a:srgbClr val="1A3050"/>
            </a:solidFill>
            <a:prstDash val="solid"/>
          </a:ln>
        </p:spPr>
      </p:sp>
      <p:sp>
        <p:nvSpPr>
          <p:cNvPr id="27" name="Shape 25"/>
          <p:cNvSpPr/>
          <p:nvPr/>
        </p:nvSpPr>
        <p:spPr>
          <a:xfrm>
            <a:off x="6309360" y="2697480"/>
            <a:ext cx="54864" cy="502920"/>
          </a:xfrm>
          <a:prstGeom prst="rect">
            <a:avLst/>
          </a:prstGeom>
          <a:solidFill>
            <a:srgbClr val="C0392B"/>
          </a:solidFill>
          <a:ln w="12700">
            <a:solidFill>
              <a:srgbClr val="C0392B"/>
            </a:solidFill>
            <a:prstDash val="solid"/>
          </a:ln>
        </p:spPr>
      </p:sp>
      <p:sp>
        <p:nvSpPr>
          <p:cNvPr id="28" name="Text 26"/>
          <p:cNvSpPr/>
          <p:nvPr/>
        </p:nvSpPr>
        <p:spPr>
          <a:xfrm>
            <a:off x="6428232" y="2752344"/>
            <a:ext cx="5212080" cy="384048"/>
          </a:xfrm>
          <a:prstGeom prst="rect">
            <a:avLst/>
          </a:prstGeom>
          <a:noFill/>
          <a:ln/>
        </p:spPr>
        <p:txBody>
          <a:bodyPr wrap="square" lIns="0" tIns="0" rIns="0" bIns="0" rtlCol="0" anchor="ctr"/>
          <a:lstStyle/>
          <a:p>
            <a:pPr indent="0" marL="0">
              <a:buNone/>
            </a:pPr>
            <a:r>
              <a:rPr lang="en-US" sz="850" dirty="0">
                <a:solidFill>
                  <a:srgbClr val="F0D080"/>
                </a:solidFill>
                <a:latin typeface="Consolas" pitchFamily="34" charset="0"/>
                <a:ea typeface="Consolas" pitchFamily="34" charset="-122"/>
                <a:cs typeface="Consolas" pitchFamily="34" charset="-120"/>
              </a:rPr>
              <a:t>Error: fulcrum-parser 4.0.0 DefaultParserService does not support custom parser class</a:t>
            </a:r>
            <a:endParaRPr lang="en-US" sz="850" dirty="0"/>
          </a:p>
        </p:txBody>
      </p:sp>
      <p:sp>
        <p:nvSpPr>
          <p:cNvPr id="29" name="Shape 27"/>
          <p:cNvSpPr/>
          <p:nvPr/>
        </p:nvSpPr>
        <p:spPr>
          <a:xfrm>
            <a:off x="274320" y="3611880"/>
            <a:ext cx="5669280" cy="2423160"/>
          </a:xfrm>
          <a:prstGeom prst="rect">
            <a:avLst/>
          </a:prstGeom>
          <a:solidFill>
            <a:srgbClr val="0A1628"/>
          </a:solidFill>
          <a:ln w="12700">
            <a:solidFill>
              <a:srgbClr val="1A2A4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74320" y="3611880"/>
            <a:ext cx="5669280" cy="457200"/>
          </a:xfrm>
          <a:prstGeom prst="rect">
            <a:avLst/>
          </a:prstGeom>
          <a:solidFill>
            <a:srgbClr val="1A7A4A"/>
          </a:solidFill>
          <a:ln w="12700">
            <a:solidFill>
              <a:srgbClr val="1A7A4A"/>
            </a:solidFill>
            <a:prstDash val="solid"/>
          </a:ln>
        </p:spPr>
      </p:sp>
      <p:sp>
        <p:nvSpPr>
          <p:cNvPr id="31" name="Text 29"/>
          <p:cNvSpPr/>
          <p:nvPr/>
        </p:nvSpPr>
        <p:spPr>
          <a:xfrm>
            <a:off x="411480" y="3703320"/>
            <a:ext cx="10058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TEST 3</a:t>
            </a:r>
            <a:endParaRPr lang="en-US" sz="1000" dirty="0"/>
          </a:p>
        </p:txBody>
      </p:sp>
      <p:sp>
        <p:nvSpPr>
          <p:cNvPr id="32" name="Shape 30"/>
          <p:cNvSpPr/>
          <p:nvPr/>
        </p:nvSpPr>
        <p:spPr>
          <a:xfrm>
            <a:off x="4480560" y="3675888"/>
            <a:ext cx="347472" cy="347472"/>
          </a:xfrm>
          <a:prstGeom prst="ellipse">
            <a:avLst/>
          </a:prstGeom>
          <a:solidFill>
            <a:srgbClr val="FFFFFF">
              <a:alpha val="80000"/>
            </a:srgbClr>
          </a:solidFill>
          <a:ln w="12700">
            <a:solidFill>
              <a:srgbClr val="FFFFFF">
                <a:alpha val="80000"/>
              </a:srgbClr>
            </a:solidFill>
            <a:prstDash val="solid"/>
          </a:ln>
        </p:spPr>
      </p:sp>
      <p:sp>
        <p:nvSpPr>
          <p:cNvPr id="33" name="Text 31"/>
          <p:cNvSpPr/>
          <p:nvPr/>
        </p:nvSpPr>
        <p:spPr>
          <a:xfrm>
            <a:off x="4480560" y="36758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4892040" y="3703320"/>
            <a:ext cx="914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PASS</a:t>
            </a:r>
            <a:endParaRPr lang="en-US" sz="1400" dirty="0"/>
          </a:p>
        </p:txBody>
      </p:sp>
      <p:sp>
        <p:nvSpPr>
          <p:cNvPr id="35" name="Text 33"/>
          <p:cNvSpPr/>
          <p:nvPr/>
        </p:nvSpPr>
        <p:spPr>
          <a:xfrm>
            <a:off x="457200" y="4178808"/>
            <a:ext cx="53035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Custom Fields Flow Correctly Through Entire Pipeline</a:t>
            </a:r>
            <a:endParaRPr lang="en-US" sz="1100" dirty="0"/>
          </a:p>
        </p:txBody>
      </p:sp>
      <p:sp>
        <p:nvSpPr>
          <p:cNvPr id="36" name="Text 34"/>
          <p:cNvSpPr/>
          <p:nvPr/>
        </p:nvSpPr>
        <p:spPr>
          <a:xfrm>
            <a:off x="457200" y="4617720"/>
            <a:ext cx="530352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getMiniGEBUser(), getCompanyAcl(), getCountryCode() all correctly populated and accessible in Action → Portlet → Layout chain.</a:t>
            </a:r>
            <a:endParaRPr lang="en-US" sz="1000" dirty="0"/>
          </a:p>
        </p:txBody>
      </p:sp>
      <p:sp>
        <p:nvSpPr>
          <p:cNvPr id="37" name="Shape 35"/>
          <p:cNvSpPr/>
          <p:nvPr/>
        </p:nvSpPr>
        <p:spPr>
          <a:xfrm>
            <a:off x="411480" y="5349240"/>
            <a:ext cx="5394960" cy="502920"/>
          </a:xfrm>
          <a:prstGeom prst="rect">
            <a:avLst/>
          </a:prstGeom>
          <a:solidFill>
            <a:srgbClr val="0D1E30"/>
          </a:solidFill>
          <a:ln w="12700">
            <a:solidFill>
              <a:srgbClr val="1A3050"/>
            </a:solidFill>
            <a:prstDash val="solid"/>
          </a:ln>
        </p:spPr>
      </p:sp>
      <p:sp>
        <p:nvSpPr>
          <p:cNvPr id="38" name="Shape 36"/>
          <p:cNvSpPr/>
          <p:nvPr/>
        </p:nvSpPr>
        <p:spPr>
          <a:xfrm>
            <a:off x="411480" y="5349240"/>
            <a:ext cx="54864" cy="502920"/>
          </a:xfrm>
          <a:prstGeom prst="rect">
            <a:avLst/>
          </a:prstGeom>
          <a:solidFill>
            <a:srgbClr val="1A7A4A"/>
          </a:solidFill>
          <a:ln w="12700">
            <a:solidFill>
              <a:srgbClr val="1A7A4A"/>
            </a:solidFill>
            <a:prstDash val="solid"/>
          </a:ln>
        </p:spPr>
      </p:sp>
      <p:sp>
        <p:nvSpPr>
          <p:cNvPr id="39" name="Text 37"/>
          <p:cNvSpPr/>
          <p:nvPr/>
        </p:nvSpPr>
        <p:spPr>
          <a:xfrm>
            <a:off x="530352" y="5404104"/>
            <a:ext cx="5212080" cy="384048"/>
          </a:xfrm>
          <a:prstGeom prst="rect">
            <a:avLst/>
          </a:prstGeom>
          <a:noFill/>
          <a:ln/>
        </p:spPr>
        <p:txBody>
          <a:bodyPr wrap="square" lIns="0" tIns="0" rIns="0" bIns="0" rtlCol="0" anchor="ctr"/>
          <a:lstStyle/>
          <a:p>
            <a:pPr indent="0" marL="0">
              <a:buNone/>
            </a:pPr>
            <a:r>
              <a:rPr lang="en-US" sz="850" dirty="0">
                <a:solidFill>
                  <a:srgbClr val="F0D080"/>
                </a:solidFill>
                <a:latin typeface="Consolas" pitchFamily="34" charset="0"/>
                <a:ea typeface="Consolas" pitchFamily="34" charset="-122"/>
                <a:cs typeface="Consolas" pitchFamily="34" charset="-120"/>
              </a:rPr>
              <a:t>Browser: pavan.demo | MAKER_CHECKER | SG | 6 ACL permissions loaded</a:t>
            </a:r>
            <a:endParaRPr lang="en-US" sz="850" dirty="0"/>
          </a:p>
        </p:txBody>
      </p:sp>
      <p:sp>
        <p:nvSpPr>
          <p:cNvPr id="40" name="Shape 38"/>
          <p:cNvSpPr/>
          <p:nvPr/>
        </p:nvSpPr>
        <p:spPr>
          <a:xfrm>
            <a:off x="6172200" y="3611880"/>
            <a:ext cx="5669280" cy="2423160"/>
          </a:xfrm>
          <a:prstGeom prst="rect">
            <a:avLst/>
          </a:prstGeom>
          <a:solidFill>
            <a:srgbClr val="0A1628"/>
          </a:solidFill>
          <a:ln w="12700">
            <a:solidFill>
              <a:srgbClr val="1A2A4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6172200" y="3611880"/>
            <a:ext cx="5669280" cy="457200"/>
          </a:xfrm>
          <a:prstGeom prst="rect">
            <a:avLst/>
          </a:prstGeom>
          <a:solidFill>
            <a:srgbClr val="1A7A4A"/>
          </a:solidFill>
          <a:ln w="12700">
            <a:solidFill>
              <a:srgbClr val="1A7A4A"/>
            </a:solidFill>
            <a:prstDash val="solid"/>
          </a:ln>
        </p:spPr>
      </p:sp>
      <p:sp>
        <p:nvSpPr>
          <p:cNvPr id="42" name="Text 40"/>
          <p:cNvSpPr/>
          <p:nvPr/>
        </p:nvSpPr>
        <p:spPr>
          <a:xfrm>
            <a:off x="6309360" y="3703320"/>
            <a:ext cx="10058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TEST 4</a:t>
            </a:r>
            <a:endParaRPr lang="en-US" sz="1000" dirty="0"/>
          </a:p>
        </p:txBody>
      </p:sp>
      <p:sp>
        <p:nvSpPr>
          <p:cNvPr id="43" name="Shape 41"/>
          <p:cNvSpPr/>
          <p:nvPr/>
        </p:nvSpPr>
        <p:spPr>
          <a:xfrm>
            <a:off x="10378440" y="3675888"/>
            <a:ext cx="347472" cy="347472"/>
          </a:xfrm>
          <a:prstGeom prst="ellipse">
            <a:avLst/>
          </a:prstGeom>
          <a:solidFill>
            <a:srgbClr val="FFFFFF">
              <a:alpha val="80000"/>
            </a:srgbClr>
          </a:solidFill>
          <a:ln w="12700">
            <a:solidFill>
              <a:srgbClr val="FFFFFF">
                <a:alpha val="80000"/>
              </a:srgbClr>
            </a:solidFill>
            <a:prstDash val="solid"/>
          </a:ln>
        </p:spPr>
      </p:sp>
      <p:sp>
        <p:nvSpPr>
          <p:cNvPr id="44" name="Text 42"/>
          <p:cNvSpPr/>
          <p:nvPr/>
        </p:nvSpPr>
        <p:spPr>
          <a:xfrm>
            <a:off x="10378440" y="36758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5" name="Text 43"/>
          <p:cNvSpPr/>
          <p:nvPr/>
        </p:nvSpPr>
        <p:spPr>
          <a:xfrm>
            <a:off x="10789920" y="3703320"/>
            <a:ext cx="914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PASS</a:t>
            </a:r>
            <a:endParaRPr lang="en-US" sz="1400" dirty="0"/>
          </a:p>
        </p:txBody>
      </p:sp>
      <p:sp>
        <p:nvSpPr>
          <p:cNvPr id="46" name="Text 44"/>
          <p:cNvSpPr/>
          <p:nvPr/>
        </p:nvSpPr>
        <p:spPr>
          <a:xfrm>
            <a:off x="6355080" y="4178808"/>
            <a:ext cx="53035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Pool Recycling Works — Same Object Reused</a:t>
            </a:r>
            <a:endParaRPr lang="en-US" sz="1100" dirty="0"/>
          </a:p>
        </p:txBody>
      </p:sp>
      <p:sp>
        <p:nvSpPr>
          <p:cNvPr id="47" name="Text 45"/>
          <p:cNvSpPr/>
          <p:nvPr/>
        </p:nvSpPr>
        <p:spPr>
          <a:xfrm>
            <a:off x="6355080" y="4617720"/>
            <a:ext cx="530352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TurbinePoolService returns same RunData object across requests. recycle() clears all GEB fields. recycleCount increments per request.</a:t>
            </a:r>
            <a:endParaRPr lang="en-US" sz="1000" dirty="0"/>
          </a:p>
        </p:txBody>
      </p:sp>
      <p:sp>
        <p:nvSpPr>
          <p:cNvPr id="48" name="Shape 46"/>
          <p:cNvSpPr/>
          <p:nvPr/>
        </p:nvSpPr>
        <p:spPr>
          <a:xfrm>
            <a:off x="6309360" y="5349240"/>
            <a:ext cx="5394960" cy="502920"/>
          </a:xfrm>
          <a:prstGeom prst="rect">
            <a:avLst/>
          </a:prstGeom>
          <a:solidFill>
            <a:srgbClr val="0D1E30"/>
          </a:solidFill>
          <a:ln w="12700">
            <a:solidFill>
              <a:srgbClr val="1A3050"/>
            </a:solidFill>
            <a:prstDash val="solid"/>
          </a:ln>
        </p:spPr>
      </p:sp>
      <p:sp>
        <p:nvSpPr>
          <p:cNvPr id="49" name="Shape 47"/>
          <p:cNvSpPr/>
          <p:nvPr/>
        </p:nvSpPr>
        <p:spPr>
          <a:xfrm>
            <a:off x="6309360" y="5349240"/>
            <a:ext cx="54864" cy="502920"/>
          </a:xfrm>
          <a:prstGeom prst="rect">
            <a:avLst/>
          </a:prstGeom>
          <a:solidFill>
            <a:srgbClr val="1A7A4A"/>
          </a:solidFill>
          <a:ln w="12700">
            <a:solidFill>
              <a:srgbClr val="1A7A4A"/>
            </a:solidFill>
            <a:prstDash val="solid"/>
          </a:ln>
        </p:spPr>
      </p:sp>
      <p:sp>
        <p:nvSpPr>
          <p:cNvPr id="50" name="Text 48"/>
          <p:cNvSpPr/>
          <p:nvPr/>
        </p:nvSpPr>
        <p:spPr>
          <a:xfrm>
            <a:off x="6428232" y="5404104"/>
            <a:ext cx="5212080" cy="384048"/>
          </a:xfrm>
          <a:prstGeom prst="rect">
            <a:avLst/>
          </a:prstGeom>
          <a:noFill/>
          <a:ln/>
        </p:spPr>
        <p:txBody>
          <a:bodyPr wrap="square" lIns="0" tIns="0" rIns="0" bIns="0" rtlCol="0" anchor="ctr"/>
          <a:lstStyle/>
          <a:p>
            <a:pPr indent="0" marL="0">
              <a:buNone/>
            </a:pPr>
            <a:r>
              <a:rPr lang="en-US" sz="850" dirty="0">
                <a:solidFill>
                  <a:srgbClr val="F0D080"/>
                </a:solidFill>
                <a:latin typeface="Consolas" pitchFamily="34" charset="0"/>
                <a:ea typeface="Consolas" pitchFamily="34" charset="-122"/>
                <a:cs typeface="Consolas" pitchFamily="34" charset="-120"/>
              </a:rPr>
              <a:t>Log: RECYCLED RunData-77bd8218 recycleCount=1, 2, 3 — same ID across all requests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POC Architecture — What Mini-GEB Replicated</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Each component mirrors its real GEB counterpart exactly</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27432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7432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HTTP Request</a:t>
            </a:r>
            <a:endParaRPr lang="en-US" sz="850" dirty="0"/>
          </a:p>
        </p:txBody>
      </p:sp>
      <p:sp>
        <p:nvSpPr>
          <p:cNvPr id="9" name="Text 7"/>
          <p:cNvSpPr/>
          <p:nvPr/>
        </p:nvSpPr>
        <p:spPr>
          <a:xfrm>
            <a:off x="27432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Browser (Dojo)</a:t>
            </a:r>
            <a:endParaRPr lang="en-US" sz="700" dirty="0"/>
          </a:p>
        </p:txBody>
      </p:sp>
      <p:sp>
        <p:nvSpPr>
          <p:cNvPr id="10" name="Shape 8"/>
          <p:cNvSpPr/>
          <p:nvPr/>
        </p:nvSpPr>
        <p:spPr>
          <a:xfrm>
            <a:off x="1600200" y="1303020"/>
            <a:ext cx="137160" cy="0"/>
          </a:xfrm>
          <a:prstGeom prst="line">
            <a:avLst/>
          </a:prstGeom>
          <a:noFill/>
          <a:ln w="25400">
            <a:solidFill>
              <a:srgbClr val="C9A84C"/>
            </a:solidFill>
            <a:prstDash val="solid"/>
          </a:ln>
        </p:spPr>
      </p:sp>
      <p:sp>
        <p:nvSpPr>
          <p:cNvPr id="11" name="Shape 9"/>
          <p:cNvSpPr/>
          <p:nvPr/>
        </p:nvSpPr>
        <p:spPr>
          <a:xfrm>
            <a:off x="173736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173736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Turbine Servlet</a:t>
            </a:r>
            <a:endParaRPr lang="en-US" sz="850" dirty="0"/>
          </a:p>
        </p:txBody>
      </p:sp>
      <p:sp>
        <p:nvSpPr>
          <p:cNvPr id="13" name="Text 11"/>
          <p:cNvSpPr/>
          <p:nvPr/>
        </p:nvSpPr>
        <p:spPr>
          <a:xfrm>
            <a:off x="173736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org.apache.turbine.Turbine</a:t>
            </a:r>
            <a:endParaRPr lang="en-US" sz="700" dirty="0"/>
          </a:p>
        </p:txBody>
      </p:sp>
      <p:sp>
        <p:nvSpPr>
          <p:cNvPr id="14" name="Shape 12"/>
          <p:cNvSpPr/>
          <p:nvPr/>
        </p:nvSpPr>
        <p:spPr>
          <a:xfrm>
            <a:off x="3063240" y="1303020"/>
            <a:ext cx="137160" cy="0"/>
          </a:xfrm>
          <a:prstGeom prst="line">
            <a:avLst/>
          </a:prstGeom>
          <a:noFill/>
          <a:ln w="25400">
            <a:solidFill>
              <a:srgbClr val="C9A84C"/>
            </a:solidFill>
            <a:prstDash val="solid"/>
          </a:ln>
        </p:spPr>
      </p:sp>
      <p:sp>
        <p:nvSpPr>
          <p:cNvPr id="15" name="Shape 13"/>
          <p:cNvSpPr/>
          <p:nvPr/>
        </p:nvSpPr>
        <p:spPr>
          <a:xfrm>
            <a:off x="320040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320040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MiniGEBRunDataService</a:t>
            </a:r>
            <a:endParaRPr lang="en-US" sz="850" dirty="0"/>
          </a:p>
        </p:txBody>
      </p:sp>
      <p:sp>
        <p:nvSpPr>
          <p:cNvPr id="17" name="Text 15"/>
          <p:cNvSpPr/>
          <p:nvPr/>
        </p:nvSpPr>
        <p:spPr>
          <a:xfrm>
            <a:off x="320040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Mirrors GTPRunDataService</a:t>
            </a:r>
            <a:endParaRPr lang="en-US" sz="700" dirty="0"/>
          </a:p>
        </p:txBody>
      </p:sp>
      <p:sp>
        <p:nvSpPr>
          <p:cNvPr id="18" name="Shape 16"/>
          <p:cNvSpPr/>
          <p:nvPr/>
        </p:nvSpPr>
        <p:spPr>
          <a:xfrm>
            <a:off x="4526280" y="1303020"/>
            <a:ext cx="137160" cy="0"/>
          </a:xfrm>
          <a:prstGeom prst="line">
            <a:avLst/>
          </a:prstGeom>
          <a:noFill/>
          <a:ln w="25400">
            <a:solidFill>
              <a:srgbClr val="C9A84C"/>
            </a:solidFill>
            <a:prstDash val="solid"/>
          </a:ln>
        </p:spPr>
      </p:sp>
      <p:sp>
        <p:nvSpPr>
          <p:cNvPr id="19" name="Shape 17"/>
          <p:cNvSpPr/>
          <p:nvPr/>
        </p:nvSpPr>
        <p:spPr>
          <a:xfrm>
            <a:off x="466344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466344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Custom Pipeline Valve</a:t>
            </a:r>
            <a:endParaRPr lang="en-US" sz="850" dirty="0"/>
          </a:p>
        </p:txBody>
      </p:sp>
      <p:sp>
        <p:nvSpPr>
          <p:cNvPr id="21" name="Text 19"/>
          <p:cNvSpPr/>
          <p:nvPr/>
        </p:nvSpPr>
        <p:spPr>
          <a:xfrm>
            <a:off x="466344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Mirrors ClassicPipeline</a:t>
            </a:r>
            <a:endParaRPr lang="en-US" sz="700" dirty="0"/>
          </a:p>
        </p:txBody>
      </p:sp>
      <p:sp>
        <p:nvSpPr>
          <p:cNvPr id="22" name="Shape 20"/>
          <p:cNvSpPr/>
          <p:nvPr/>
        </p:nvSpPr>
        <p:spPr>
          <a:xfrm>
            <a:off x="5989320" y="1303020"/>
            <a:ext cx="137160" cy="0"/>
          </a:xfrm>
          <a:prstGeom prst="line">
            <a:avLst/>
          </a:prstGeom>
          <a:noFill/>
          <a:ln w="25400">
            <a:solidFill>
              <a:srgbClr val="C9A84C"/>
            </a:solidFill>
            <a:prstDash val="solid"/>
          </a:ln>
        </p:spPr>
      </p:sp>
      <p:sp>
        <p:nvSpPr>
          <p:cNvPr id="23" name="Shape 21"/>
          <p:cNvSpPr/>
          <p:nvPr/>
        </p:nvSpPr>
        <p:spPr>
          <a:xfrm>
            <a:off x="612648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612648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DefaultMiniGEBLayout</a:t>
            </a:r>
            <a:endParaRPr lang="en-US" sz="850" dirty="0"/>
          </a:p>
        </p:txBody>
      </p:sp>
      <p:sp>
        <p:nvSpPr>
          <p:cNvPr id="25" name="Text 23"/>
          <p:cNvSpPr/>
          <p:nvPr/>
        </p:nvSpPr>
        <p:spPr>
          <a:xfrm>
            <a:off x="612648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implements Layout (confirmed)</a:t>
            </a:r>
            <a:endParaRPr lang="en-US" sz="700" dirty="0"/>
          </a:p>
        </p:txBody>
      </p:sp>
      <p:sp>
        <p:nvSpPr>
          <p:cNvPr id="26" name="Shape 24"/>
          <p:cNvSpPr/>
          <p:nvPr/>
        </p:nvSpPr>
        <p:spPr>
          <a:xfrm>
            <a:off x="7452360" y="1303020"/>
            <a:ext cx="137160" cy="0"/>
          </a:xfrm>
          <a:prstGeom prst="line">
            <a:avLst/>
          </a:prstGeom>
          <a:noFill/>
          <a:ln w="25400">
            <a:solidFill>
              <a:srgbClr val="C9A84C"/>
            </a:solidFill>
            <a:prstDash val="solid"/>
          </a:ln>
        </p:spPr>
      </p:sp>
      <p:sp>
        <p:nvSpPr>
          <p:cNvPr id="27" name="Shape 25"/>
          <p:cNvSpPr/>
          <p:nvPr/>
        </p:nvSpPr>
        <p:spPr>
          <a:xfrm>
            <a:off x="758952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758952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PSMLManager (dom4j)</a:t>
            </a:r>
            <a:endParaRPr lang="en-US" sz="850" dirty="0"/>
          </a:p>
        </p:txBody>
      </p:sp>
      <p:sp>
        <p:nvSpPr>
          <p:cNvPr id="29" name="Text 27"/>
          <p:cNvSpPr/>
          <p:nvPr/>
        </p:nvSpPr>
        <p:spPr>
          <a:xfrm>
            <a:off x="758952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Replaces Castor XML</a:t>
            </a:r>
            <a:endParaRPr lang="en-US" sz="700" dirty="0"/>
          </a:p>
        </p:txBody>
      </p:sp>
      <p:sp>
        <p:nvSpPr>
          <p:cNvPr id="30" name="Shape 28"/>
          <p:cNvSpPr/>
          <p:nvPr/>
        </p:nvSpPr>
        <p:spPr>
          <a:xfrm>
            <a:off x="8915400" y="1303020"/>
            <a:ext cx="137160" cy="0"/>
          </a:xfrm>
          <a:prstGeom prst="line">
            <a:avLst/>
          </a:prstGeom>
          <a:noFill/>
          <a:ln w="25400">
            <a:solidFill>
              <a:srgbClr val="C9A84C"/>
            </a:solidFill>
            <a:prstDash val="solid"/>
          </a:ln>
        </p:spPr>
      </p:sp>
      <p:sp>
        <p:nvSpPr>
          <p:cNvPr id="31" name="Shape 29"/>
          <p:cNvSpPr/>
          <p:nvPr/>
        </p:nvSpPr>
        <p:spPr>
          <a:xfrm>
            <a:off x="905256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32" name="Text 30"/>
          <p:cNvSpPr/>
          <p:nvPr/>
        </p:nvSpPr>
        <p:spPr>
          <a:xfrm>
            <a:off x="905256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EntityListPortlet</a:t>
            </a:r>
            <a:endParaRPr lang="en-US" sz="850" dirty="0"/>
          </a:p>
        </p:txBody>
      </p:sp>
      <p:sp>
        <p:nvSpPr>
          <p:cNvPr id="33" name="Text 31"/>
          <p:cNvSpPr/>
          <p:nvPr/>
        </p:nvSpPr>
        <p:spPr>
          <a:xfrm>
            <a:off x="905256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ECS → Xalan → HTML</a:t>
            </a:r>
            <a:endParaRPr lang="en-US" sz="700" dirty="0"/>
          </a:p>
        </p:txBody>
      </p:sp>
      <p:sp>
        <p:nvSpPr>
          <p:cNvPr id="34" name="Shape 32"/>
          <p:cNvSpPr/>
          <p:nvPr/>
        </p:nvSpPr>
        <p:spPr>
          <a:xfrm>
            <a:off x="10378440" y="1303020"/>
            <a:ext cx="137160" cy="0"/>
          </a:xfrm>
          <a:prstGeom prst="line">
            <a:avLst/>
          </a:prstGeom>
          <a:noFill/>
          <a:ln w="25400">
            <a:solidFill>
              <a:srgbClr val="C9A84C"/>
            </a:solidFill>
            <a:prstDash val="solid"/>
          </a:ln>
        </p:spPr>
      </p:sp>
      <p:sp>
        <p:nvSpPr>
          <p:cNvPr id="35" name="Shape 33"/>
          <p:cNvSpPr/>
          <p:nvPr/>
        </p:nvSpPr>
        <p:spPr>
          <a:xfrm>
            <a:off x="10515600" y="1005840"/>
            <a:ext cx="1325880" cy="594360"/>
          </a:xfrm>
          <a:prstGeom prst="rect">
            <a:avLst/>
          </a:prstGeom>
          <a:solidFill>
            <a:srgbClr val="003366"/>
          </a:solidFill>
          <a:ln w="12700">
            <a:solidFill>
              <a:srgbClr val="003366"/>
            </a:solidFill>
            <a:prstDash val="solid"/>
          </a:ln>
          <a:effectLst>
            <a:outerShdw sx="100000" sy="100000" kx="0" ky="0" algn="bl" rotWithShape="0" blurRad="101600" dist="38100" dir="8100000">
              <a:srgbClr val="000000">
                <a:alpha val="12000"/>
              </a:srgbClr>
            </a:outerShdw>
          </a:effectLst>
        </p:spPr>
      </p:sp>
      <p:sp>
        <p:nvSpPr>
          <p:cNvPr id="36" name="Text 34"/>
          <p:cNvSpPr/>
          <p:nvPr/>
        </p:nvSpPr>
        <p:spPr>
          <a:xfrm>
            <a:off x="10515600" y="1051560"/>
            <a:ext cx="132588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MySQL Response</a:t>
            </a:r>
            <a:endParaRPr lang="en-US" sz="850" dirty="0"/>
          </a:p>
        </p:txBody>
      </p:sp>
      <p:sp>
        <p:nvSpPr>
          <p:cNvPr id="37" name="Text 35"/>
          <p:cNvSpPr/>
          <p:nvPr/>
        </p:nvSpPr>
        <p:spPr>
          <a:xfrm>
            <a:off x="10515600" y="1353312"/>
            <a:ext cx="1325880" cy="210312"/>
          </a:xfrm>
          <a:prstGeom prst="rect">
            <a:avLst/>
          </a:prstGeom>
          <a:noFill/>
          <a:ln/>
        </p:spPr>
        <p:txBody>
          <a:bodyPr wrap="square" lIns="0" tIns="0" rIns="0" bIns="0" rtlCol="0" anchor="ctr"/>
          <a:lstStyle/>
          <a:p>
            <a:pPr algn="ctr" indent="0" marL="0">
              <a:buNone/>
            </a:pPr>
            <a:r>
              <a:rPr lang="en-US" sz="700" dirty="0">
                <a:solidFill>
                  <a:srgbClr val="F0D080"/>
                </a:solidFill>
                <a:latin typeface="Calibri" pitchFamily="34" charset="0"/>
                <a:ea typeface="Calibri" pitchFamily="34" charset="-122"/>
                <a:cs typeface="Calibri" pitchFamily="34" charset="-120"/>
              </a:rPr>
              <a:t>8 entities loaded live</a:t>
            </a:r>
            <a:endParaRPr lang="en-US" sz="700" dirty="0"/>
          </a:p>
        </p:txBody>
      </p:sp>
      <p:sp>
        <p:nvSpPr>
          <p:cNvPr id="38" name="Shape 36"/>
          <p:cNvSpPr/>
          <p:nvPr/>
        </p:nvSpPr>
        <p:spPr>
          <a:xfrm>
            <a:off x="274320" y="196596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274320" y="1965960"/>
            <a:ext cx="3749040" cy="320040"/>
          </a:xfrm>
          <a:prstGeom prst="rect">
            <a:avLst/>
          </a:prstGeom>
          <a:solidFill>
            <a:srgbClr val="001F3F"/>
          </a:solidFill>
          <a:ln w="12700">
            <a:solidFill>
              <a:srgbClr val="001F3F"/>
            </a:solidFill>
            <a:prstDash val="solid"/>
          </a:ln>
        </p:spPr>
      </p:sp>
      <p:sp>
        <p:nvSpPr>
          <p:cNvPr id="40" name="Text 38"/>
          <p:cNvSpPr/>
          <p:nvPr/>
        </p:nvSpPr>
        <p:spPr>
          <a:xfrm>
            <a:off x="365760" y="202082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Layout</a:t>
            </a:r>
            <a:endParaRPr lang="en-US" sz="1000" dirty="0"/>
          </a:p>
        </p:txBody>
      </p:sp>
      <p:sp>
        <p:nvSpPr>
          <p:cNvPr id="41" name="Shape 39"/>
          <p:cNvSpPr/>
          <p:nvPr/>
        </p:nvSpPr>
        <p:spPr>
          <a:xfrm>
            <a:off x="3246120" y="2002536"/>
            <a:ext cx="731520" cy="246888"/>
          </a:xfrm>
          <a:prstGeom prst="rect">
            <a:avLst/>
          </a:prstGeom>
          <a:solidFill>
            <a:srgbClr val="1A7A4A"/>
          </a:solidFill>
          <a:ln w="12700">
            <a:solidFill>
              <a:srgbClr val="1A7A4A"/>
            </a:solidFill>
            <a:prstDash val="solid"/>
          </a:ln>
        </p:spPr>
      </p:sp>
      <p:sp>
        <p:nvSpPr>
          <p:cNvPr id="42" name="Text 40"/>
          <p:cNvSpPr/>
          <p:nvPr/>
        </p:nvSpPr>
        <p:spPr>
          <a:xfrm>
            <a:off x="3246120" y="200253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PROVEN</a:t>
            </a:r>
            <a:endParaRPr lang="en-US" sz="700" dirty="0"/>
          </a:p>
        </p:txBody>
      </p:sp>
      <p:sp>
        <p:nvSpPr>
          <p:cNvPr id="43" name="Text 41"/>
          <p:cNvSpPr/>
          <p:nvPr/>
        </p:nvSpPr>
        <p:spPr>
          <a:xfrm>
            <a:off x="384048" y="235000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44" name="Text 42"/>
          <p:cNvSpPr/>
          <p:nvPr/>
        </p:nvSpPr>
        <p:spPr>
          <a:xfrm>
            <a:off x="384048" y="251460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DefaultGTPLayout extends Layout</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(NOT VelocityLayout — confirmed from Eclipse Image 4)</a:t>
            </a:r>
            <a:endParaRPr lang="en-US" sz="850" dirty="0"/>
          </a:p>
        </p:txBody>
      </p:sp>
      <p:sp>
        <p:nvSpPr>
          <p:cNvPr id="45" name="Shape 43"/>
          <p:cNvSpPr/>
          <p:nvPr/>
        </p:nvSpPr>
        <p:spPr>
          <a:xfrm>
            <a:off x="384048" y="3108960"/>
            <a:ext cx="3520440" cy="0"/>
          </a:xfrm>
          <a:prstGeom prst="line">
            <a:avLst/>
          </a:prstGeom>
          <a:noFill/>
          <a:ln w="6350">
            <a:solidFill>
              <a:srgbClr val="E8ECF2"/>
            </a:solidFill>
            <a:prstDash val="solid"/>
          </a:ln>
        </p:spPr>
      </p:sp>
      <p:sp>
        <p:nvSpPr>
          <p:cNvPr id="46" name="Text 44"/>
          <p:cNvSpPr/>
          <p:nvPr/>
        </p:nvSpPr>
        <p:spPr>
          <a:xfrm>
            <a:off x="384048" y="3172968"/>
            <a:ext cx="3566160" cy="164592"/>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MINI-GEB</a:t>
            </a:r>
            <a:endParaRPr lang="en-US" sz="800" dirty="0"/>
          </a:p>
        </p:txBody>
      </p:sp>
      <p:sp>
        <p:nvSpPr>
          <p:cNvPr id="47" name="Text 45"/>
          <p:cNvSpPr/>
          <p:nvPr/>
        </p:nvSpPr>
        <p:spPr>
          <a:xfrm>
            <a:off x="384048" y="333756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DefaultMiniGEBLayout implements Layout</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(same — Layout is interface in Turbine 7)</a:t>
            </a:r>
            <a:endParaRPr lang="en-US" sz="850" dirty="0"/>
          </a:p>
        </p:txBody>
      </p:sp>
      <p:sp>
        <p:nvSpPr>
          <p:cNvPr id="48" name="Shape 46"/>
          <p:cNvSpPr/>
          <p:nvPr/>
        </p:nvSpPr>
        <p:spPr>
          <a:xfrm>
            <a:off x="4206240" y="196596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4206240" y="1965960"/>
            <a:ext cx="3749040" cy="320040"/>
          </a:xfrm>
          <a:prstGeom prst="rect">
            <a:avLst/>
          </a:prstGeom>
          <a:solidFill>
            <a:srgbClr val="001F3F"/>
          </a:solidFill>
          <a:ln w="12700">
            <a:solidFill>
              <a:srgbClr val="001F3F"/>
            </a:solidFill>
            <a:prstDash val="solid"/>
          </a:ln>
        </p:spPr>
      </p:sp>
      <p:sp>
        <p:nvSpPr>
          <p:cNvPr id="50" name="Text 48"/>
          <p:cNvSpPr/>
          <p:nvPr/>
        </p:nvSpPr>
        <p:spPr>
          <a:xfrm>
            <a:off x="4297680" y="202082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Portlet Pattern</a:t>
            </a:r>
            <a:endParaRPr lang="en-US" sz="1000" dirty="0"/>
          </a:p>
        </p:txBody>
      </p:sp>
      <p:sp>
        <p:nvSpPr>
          <p:cNvPr id="51" name="Shape 49"/>
          <p:cNvSpPr/>
          <p:nvPr/>
        </p:nvSpPr>
        <p:spPr>
          <a:xfrm>
            <a:off x="7178040" y="2002536"/>
            <a:ext cx="731520" cy="246888"/>
          </a:xfrm>
          <a:prstGeom prst="rect">
            <a:avLst/>
          </a:prstGeom>
          <a:solidFill>
            <a:srgbClr val="1A7A4A"/>
          </a:solidFill>
          <a:ln w="12700">
            <a:solidFill>
              <a:srgbClr val="1A7A4A"/>
            </a:solidFill>
            <a:prstDash val="solid"/>
          </a:ln>
        </p:spPr>
      </p:sp>
      <p:sp>
        <p:nvSpPr>
          <p:cNvPr id="52" name="Text 50"/>
          <p:cNvSpPr/>
          <p:nvPr/>
        </p:nvSpPr>
        <p:spPr>
          <a:xfrm>
            <a:off x="7178040" y="200253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PROVEN</a:t>
            </a:r>
            <a:endParaRPr lang="en-US" sz="700" dirty="0"/>
          </a:p>
        </p:txBody>
      </p:sp>
      <p:sp>
        <p:nvSpPr>
          <p:cNvPr id="53" name="Text 51"/>
          <p:cNvSpPr/>
          <p:nvPr/>
        </p:nvSpPr>
        <p:spPr>
          <a:xfrm>
            <a:off x="4315968" y="235000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54" name="Text 52"/>
          <p:cNvSpPr/>
          <p:nvPr/>
        </p:nvSpPr>
        <p:spPr>
          <a:xfrm>
            <a:off x="4315968" y="251460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ActionPortlet → GTPRootPortlet → AbstractPortlet</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getContent(RunData) → ECS → XSL → HTML</a:t>
            </a:r>
            <a:endParaRPr lang="en-US" sz="850" dirty="0"/>
          </a:p>
        </p:txBody>
      </p:sp>
      <p:sp>
        <p:nvSpPr>
          <p:cNvPr id="55" name="Shape 53"/>
          <p:cNvSpPr/>
          <p:nvPr/>
        </p:nvSpPr>
        <p:spPr>
          <a:xfrm>
            <a:off x="4315968" y="3108960"/>
            <a:ext cx="3520440" cy="0"/>
          </a:xfrm>
          <a:prstGeom prst="line">
            <a:avLst/>
          </a:prstGeom>
          <a:noFill/>
          <a:ln w="6350">
            <a:solidFill>
              <a:srgbClr val="E8ECF2"/>
            </a:solidFill>
            <a:prstDash val="solid"/>
          </a:ln>
        </p:spPr>
      </p:sp>
      <p:sp>
        <p:nvSpPr>
          <p:cNvPr id="56" name="Text 54"/>
          <p:cNvSpPr/>
          <p:nvPr/>
        </p:nvSpPr>
        <p:spPr>
          <a:xfrm>
            <a:off x="4315968" y="3172968"/>
            <a:ext cx="3566160" cy="164592"/>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MINI-GEB</a:t>
            </a:r>
            <a:endParaRPr lang="en-US" sz="800" dirty="0"/>
          </a:p>
        </p:txBody>
      </p:sp>
      <p:sp>
        <p:nvSpPr>
          <p:cNvPr id="57" name="Text 55"/>
          <p:cNvSpPr/>
          <p:nvPr/>
        </p:nvSpPr>
        <p:spPr>
          <a:xfrm>
            <a:off x="4315968" y="333756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AbstractMiniPortlet mirrors GTPRootPortlet</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addGridComparator(), buildAnchorSort(), transformXSL()</a:t>
            </a:r>
            <a:endParaRPr lang="en-US" sz="850" dirty="0"/>
          </a:p>
        </p:txBody>
      </p:sp>
      <p:sp>
        <p:nvSpPr>
          <p:cNvPr id="58" name="Shape 56"/>
          <p:cNvSpPr/>
          <p:nvPr/>
        </p:nvSpPr>
        <p:spPr>
          <a:xfrm>
            <a:off x="8138160" y="196596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59" name="Shape 57"/>
          <p:cNvSpPr/>
          <p:nvPr/>
        </p:nvSpPr>
        <p:spPr>
          <a:xfrm>
            <a:off x="8138160" y="1965960"/>
            <a:ext cx="3749040" cy="320040"/>
          </a:xfrm>
          <a:prstGeom prst="rect">
            <a:avLst/>
          </a:prstGeom>
          <a:solidFill>
            <a:srgbClr val="001F3F"/>
          </a:solidFill>
          <a:ln w="12700">
            <a:solidFill>
              <a:srgbClr val="001F3F"/>
            </a:solidFill>
            <a:prstDash val="solid"/>
          </a:ln>
        </p:spPr>
      </p:sp>
      <p:sp>
        <p:nvSpPr>
          <p:cNvPr id="60" name="Text 58"/>
          <p:cNvSpPr/>
          <p:nvPr/>
        </p:nvSpPr>
        <p:spPr>
          <a:xfrm>
            <a:off x="8229600" y="202082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PSML Parsing</a:t>
            </a:r>
            <a:endParaRPr lang="en-US" sz="1000" dirty="0"/>
          </a:p>
        </p:txBody>
      </p:sp>
      <p:sp>
        <p:nvSpPr>
          <p:cNvPr id="61" name="Shape 59"/>
          <p:cNvSpPr/>
          <p:nvPr/>
        </p:nvSpPr>
        <p:spPr>
          <a:xfrm>
            <a:off x="11109960" y="2002536"/>
            <a:ext cx="731520" cy="246888"/>
          </a:xfrm>
          <a:prstGeom prst="rect">
            <a:avLst/>
          </a:prstGeom>
          <a:solidFill>
            <a:srgbClr val="1A7A4A"/>
          </a:solidFill>
          <a:ln w="12700">
            <a:solidFill>
              <a:srgbClr val="1A7A4A"/>
            </a:solidFill>
            <a:prstDash val="solid"/>
          </a:ln>
        </p:spPr>
      </p:sp>
      <p:sp>
        <p:nvSpPr>
          <p:cNvPr id="62" name="Text 60"/>
          <p:cNvSpPr/>
          <p:nvPr/>
        </p:nvSpPr>
        <p:spPr>
          <a:xfrm>
            <a:off x="11109960" y="200253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PROVEN</a:t>
            </a:r>
            <a:endParaRPr lang="en-US" sz="700" dirty="0"/>
          </a:p>
        </p:txBody>
      </p:sp>
      <p:sp>
        <p:nvSpPr>
          <p:cNvPr id="63" name="Text 61"/>
          <p:cNvSpPr/>
          <p:nvPr/>
        </p:nvSpPr>
        <p:spPr>
          <a:xfrm>
            <a:off x="8247888" y="235000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64" name="Text 62"/>
          <p:cNvSpPr/>
          <p:nvPr/>
        </p:nvSpPr>
        <p:spPr>
          <a:xfrm>
            <a:off x="8247888" y="251460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Castor XML reads portal page definitions</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(BROKEN on Java 17 — Castor uses banned reflection)</a:t>
            </a:r>
            <a:endParaRPr lang="en-US" sz="850" dirty="0"/>
          </a:p>
        </p:txBody>
      </p:sp>
      <p:sp>
        <p:nvSpPr>
          <p:cNvPr id="65" name="Shape 63"/>
          <p:cNvSpPr/>
          <p:nvPr/>
        </p:nvSpPr>
        <p:spPr>
          <a:xfrm>
            <a:off x="8247888" y="3108960"/>
            <a:ext cx="3520440" cy="0"/>
          </a:xfrm>
          <a:prstGeom prst="line">
            <a:avLst/>
          </a:prstGeom>
          <a:noFill/>
          <a:ln w="6350">
            <a:solidFill>
              <a:srgbClr val="E8ECF2"/>
            </a:solidFill>
            <a:prstDash val="solid"/>
          </a:ln>
        </p:spPr>
      </p:sp>
      <p:sp>
        <p:nvSpPr>
          <p:cNvPr id="66" name="Text 64"/>
          <p:cNvSpPr/>
          <p:nvPr/>
        </p:nvSpPr>
        <p:spPr>
          <a:xfrm>
            <a:off x="8247888" y="3172968"/>
            <a:ext cx="3566160" cy="164592"/>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MINI-GEB</a:t>
            </a:r>
            <a:endParaRPr lang="en-US" sz="800" dirty="0"/>
          </a:p>
        </p:txBody>
      </p:sp>
      <p:sp>
        <p:nvSpPr>
          <p:cNvPr id="67" name="Text 65"/>
          <p:cNvSpPr/>
          <p:nvPr/>
        </p:nvSpPr>
        <p:spPr>
          <a:xfrm>
            <a:off x="8247888" y="333756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dom4j replaces Castor XML — reads same .psml format</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All portal pages load correctly</a:t>
            </a:r>
            <a:endParaRPr lang="en-US" sz="850" dirty="0"/>
          </a:p>
        </p:txBody>
      </p:sp>
      <p:sp>
        <p:nvSpPr>
          <p:cNvPr id="68" name="Shape 66"/>
          <p:cNvSpPr/>
          <p:nvPr/>
        </p:nvSpPr>
        <p:spPr>
          <a:xfrm>
            <a:off x="274320" y="420624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69" name="Shape 67"/>
          <p:cNvSpPr/>
          <p:nvPr/>
        </p:nvSpPr>
        <p:spPr>
          <a:xfrm>
            <a:off x="274320" y="4206240"/>
            <a:ext cx="3749040" cy="320040"/>
          </a:xfrm>
          <a:prstGeom prst="rect">
            <a:avLst/>
          </a:prstGeom>
          <a:solidFill>
            <a:srgbClr val="001F3F"/>
          </a:solidFill>
          <a:ln w="12700">
            <a:solidFill>
              <a:srgbClr val="001F3F"/>
            </a:solidFill>
            <a:prstDash val="solid"/>
          </a:ln>
        </p:spPr>
      </p:sp>
      <p:sp>
        <p:nvSpPr>
          <p:cNvPr id="70" name="Text 68"/>
          <p:cNvSpPr/>
          <p:nvPr/>
        </p:nvSpPr>
        <p:spPr>
          <a:xfrm>
            <a:off x="365760" y="426110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Velocity Usage</a:t>
            </a:r>
            <a:endParaRPr lang="en-US" sz="1000" dirty="0"/>
          </a:p>
        </p:txBody>
      </p:sp>
      <p:sp>
        <p:nvSpPr>
          <p:cNvPr id="71" name="Shape 69"/>
          <p:cNvSpPr/>
          <p:nvPr/>
        </p:nvSpPr>
        <p:spPr>
          <a:xfrm>
            <a:off x="3246120" y="4242816"/>
            <a:ext cx="731520" cy="246888"/>
          </a:xfrm>
          <a:prstGeom prst="rect">
            <a:avLst/>
          </a:prstGeom>
          <a:solidFill>
            <a:srgbClr val="1A7A4A"/>
          </a:solidFill>
          <a:ln w="12700">
            <a:solidFill>
              <a:srgbClr val="1A7A4A"/>
            </a:solidFill>
            <a:prstDash val="solid"/>
          </a:ln>
        </p:spPr>
      </p:sp>
      <p:sp>
        <p:nvSpPr>
          <p:cNvPr id="72" name="Text 70"/>
          <p:cNvSpPr/>
          <p:nvPr/>
        </p:nvSpPr>
        <p:spPr>
          <a:xfrm>
            <a:off x="3246120" y="424281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PROVEN</a:t>
            </a:r>
            <a:endParaRPr lang="en-US" sz="700" dirty="0"/>
          </a:p>
        </p:txBody>
      </p:sp>
      <p:sp>
        <p:nvSpPr>
          <p:cNvPr id="73" name="Text 71"/>
          <p:cNvSpPr/>
          <p:nvPr/>
        </p:nvSpPr>
        <p:spPr>
          <a:xfrm>
            <a:off x="384048" y="459028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74" name="Text 72"/>
          <p:cNvSpPr/>
          <p:nvPr/>
        </p:nvSpPr>
        <p:spPr>
          <a:xfrm>
            <a:off x="384048" y="475488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ONLY TopBIBP.vm + BottomBIBP.vm (navigation chrome)</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All portlet content = ECS → XSL (confirmed from .vm scan)</a:t>
            </a:r>
            <a:endParaRPr lang="en-US" sz="850" dirty="0"/>
          </a:p>
        </p:txBody>
      </p:sp>
      <p:sp>
        <p:nvSpPr>
          <p:cNvPr id="75" name="Shape 73"/>
          <p:cNvSpPr/>
          <p:nvPr/>
        </p:nvSpPr>
        <p:spPr>
          <a:xfrm>
            <a:off x="384048" y="5349240"/>
            <a:ext cx="3520440" cy="0"/>
          </a:xfrm>
          <a:prstGeom prst="line">
            <a:avLst/>
          </a:prstGeom>
          <a:noFill/>
          <a:ln w="6350">
            <a:solidFill>
              <a:srgbClr val="E8ECF2"/>
            </a:solidFill>
            <a:prstDash val="solid"/>
          </a:ln>
        </p:spPr>
      </p:sp>
      <p:sp>
        <p:nvSpPr>
          <p:cNvPr id="76" name="Text 74"/>
          <p:cNvSpPr/>
          <p:nvPr/>
        </p:nvSpPr>
        <p:spPr>
          <a:xfrm>
            <a:off x="384048" y="5413248"/>
            <a:ext cx="3566160" cy="164592"/>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MINI-GEB</a:t>
            </a:r>
            <a:endParaRPr lang="en-US" sz="800" dirty="0"/>
          </a:p>
        </p:txBody>
      </p:sp>
      <p:sp>
        <p:nvSpPr>
          <p:cNvPr id="77" name="Text 75"/>
          <p:cNvSpPr/>
          <p:nvPr/>
        </p:nvSpPr>
        <p:spPr>
          <a:xfrm>
            <a:off x="384048" y="557784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TopMiniGEB.vm + BottomMiniGEB.vm only</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EntityListPortlet renders via XSL (no Velocity)</a:t>
            </a:r>
            <a:endParaRPr lang="en-US" sz="850" dirty="0"/>
          </a:p>
        </p:txBody>
      </p:sp>
      <p:sp>
        <p:nvSpPr>
          <p:cNvPr id="78" name="Shape 76"/>
          <p:cNvSpPr/>
          <p:nvPr/>
        </p:nvSpPr>
        <p:spPr>
          <a:xfrm>
            <a:off x="4206240" y="420624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79" name="Shape 77"/>
          <p:cNvSpPr/>
          <p:nvPr/>
        </p:nvSpPr>
        <p:spPr>
          <a:xfrm>
            <a:off x="4206240" y="4206240"/>
            <a:ext cx="3749040" cy="320040"/>
          </a:xfrm>
          <a:prstGeom prst="rect">
            <a:avLst/>
          </a:prstGeom>
          <a:solidFill>
            <a:srgbClr val="001F3F"/>
          </a:solidFill>
          <a:ln w="12700">
            <a:solidFill>
              <a:srgbClr val="001F3F"/>
            </a:solidFill>
            <a:prstDash val="solid"/>
          </a:ln>
        </p:spPr>
      </p:sp>
      <p:sp>
        <p:nvSpPr>
          <p:cNvPr id="80" name="Text 78"/>
          <p:cNvSpPr/>
          <p:nvPr/>
        </p:nvSpPr>
        <p:spPr>
          <a:xfrm>
            <a:off x="4297680" y="426110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DB Access Pattern</a:t>
            </a:r>
            <a:endParaRPr lang="en-US" sz="1000" dirty="0"/>
          </a:p>
        </p:txBody>
      </p:sp>
      <p:sp>
        <p:nvSpPr>
          <p:cNvPr id="81" name="Shape 79"/>
          <p:cNvSpPr/>
          <p:nvPr/>
        </p:nvSpPr>
        <p:spPr>
          <a:xfrm>
            <a:off x="7178040" y="4242816"/>
            <a:ext cx="731520" cy="246888"/>
          </a:xfrm>
          <a:prstGeom prst="rect">
            <a:avLst/>
          </a:prstGeom>
          <a:solidFill>
            <a:srgbClr val="1A7A4A"/>
          </a:solidFill>
          <a:ln w="12700">
            <a:solidFill>
              <a:srgbClr val="1A7A4A"/>
            </a:solidFill>
            <a:prstDash val="solid"/>
          </a:ln>
        </p:spPr>
      </p:sp>
      <p:sp>
        <p:nvSpPr>
          <p:cNvPr id="82" name="Text 80"/>
          <p:cNvSpPr/>
          <p:nvPr/>
        </p:nvSpPr>
        <p:spPr>
          <a:xfrm>
            <a:off x="7178040" y="424281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PROVEN</a:t>
            </a:r>
            <a:endParaRPr lang="en-US" sz="700" dirty="0"/>
          </a:p>
        </p:txBody>
      </p:sp>
      <p:sp>
        <p:nvSpPr>
          <p:cNvPr id="83" name="Text 81"/>
          <p:cNvSpPr/>
          <p:nvPr/>
        </p:nvSpPr>
        <p:spPr>
          <a:xfrm>
            <a:off x="4315968" y="459028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84" name="Text 82"/>
          <p:cNvSpPr/>
          <p:nvPr/>
        </p:nvSpPr>
        <p:spPr>
          <a:xfrm>
            <a:off x="4315968" y="475488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PoolBrokerService.getConnection() + StringBuffer SQL</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(dominant pattern — 100s of portlets)</a:t>
            </a:r>
            <a:endParaRPr lang="en-US" sz="850" dirty="0"/>
          </a:p>
        </p:txBody>
      </p:sp>
      <p:sp>
        <p:nvSpPr>
          <p:cNvPr id="85" name="Shape 83"/>
          <p:cNvSpPr/>
          <p:nvPr/>
        </p:nvSpPr>
        <p:spPr>
          <a:xfrm>
            <a:off x="4315968" y="5349240"/>
            <a:ext cx="3520440" cy="0"/>
          </a:xfrm>
          <a:prstGeom prst="line">
            <a:avLst/>
          </a:prstGeom>
          <a:noFill/>
          <a:ln w="6350">
            <a:solidFill>
              <a:srgbClr val="E8ECF2"/>
            </a:solidFill>
            <a:prstDash val="solid"/>
          </a:ln>
        </p:spPr>
      </p:sp>
      <p:sp>
        <p:nvSpPr>
          <p:cNvPr id="86" name="Text 84"/>
          <p:cNvSpPr/>
          <p:nvPr/>
        </p:nvSpPr>
        <p:spPr>
          <a:xfrm>
            <a:off x="4315968" y="5413248"/>
            <a:ext cx="3566160" cy="164592"/>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MINI-GEB</a:t>
            </a:r>
            <a:endParaRPr lang="en-US" sz="800" dirty="0"/>
          </a:p>
        </p:txBody>
      </p:sp>
      <p:sp>
        <p:nvSpPr>
          <p:cNvPr id="87" name="Text 85"/>
          <p:cNvSpPr/>
          <p:nvPr/>
        </p:nvSpPr>
        <p:spPr>
          <a:xfrm>
            <a:off x="4315968" y="557784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MiniPoolBrokerService exact same pattern</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Live MySQL query — 8 entities returned</a:t>
            </a:r>
            <a:endParaRPr lang="en-US" sz="850" dirty="0"/>
          </a:p>
        </p:txBody>
      </p:sp>
      <p:sp>
        <p:nvSpPr>
          <p:cNvPr id="88" name="Shape 86"/>
          <p:cNvSpPr/>
          <p:nvPr/>
        </p:nvSpPr>
        <p:spPr>
          <a:xfrm>
            <a:off x="8138160" y="4206240"/>
            <a:ext cx="3749040" cy="201168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9" name="Shape 87"/>
          <p:cNvSpPr/>
          <p:nvPr/>
        </p:nvSpPr>
        <p:spPr>
          <a:xfrm>
            <a:off x="8138160" y="4206240"/>
            <a:ext cx="3749040" cy="320040"/>
          </a:xfrm>
          <a:prstGeom prst="rect">
            <a:avLst/>
          </a:prstGeom>
          <a:solidFill>
            <a:srgbClr val="001F3F"/>
          </a:solidFill>
          <a:ln w="12700">
            <a:solidFill>
              <a:srgbClr val="001F3F"/>
            </a:solidFill>
            <a:prstDash val="solid"/>
          </a:ln>
        </p:spPr>
      </p:sp>
      <p:sp>
        <p:nvSpPr>
          <p:cNvPr id="90" name="Text 88"/>
          <p:cNvSpPr/>
          <p:nvPr/>
        </p:nvSpPr>
        <p:spPr>
          <a:xfrm>
            <a:off x="8229600" y="4261104"/>
            <a:ext cx="3017520" cy="22860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GTPParameterParser</a:t>
            </a:r>
            <a:endParaRPr lang="en-US" sz="1000" dirty="0"/>
          </a:p>
        </p:txBody>
      </p:sp>
      <p:sp>
        <p:nvSpPr>
          <p:cNvPr id="91" name="Shape 89"/>
          <p:cNvSpPr/>
          <p:nvPr/>
        </p:nvSpPr>
        <p:spPr>
          <a:xfrm>
            <a:off x="11109960" y="4242816"/>
            <a:ext cx="731520" cy="246888"/>
          </a:xfrm>
          <a:prstGeom prst="rect">
            <a:avLst/>
          </a:prstGeom>
          <a:solidFill>
            <a:srgbClr val="C0392B"/>
          </a:solidFill>
          <a:ln w="12700">
            <a:solidFill>
              <a:srgbClr val="C0392B"/>
            </a:solidFill>
            <a:prstDash val="solid"/>
          </a:ln>
        </p:spPr>
      </p:sp>
      <p:sp>
        <p:nvSpPr>
          <p:cNvPr id="92" name="Text 90"/>
          <p:cNvSpPr/>
          <p:nvPr/>
        </p:nvSpPr>
        <p:spPr>
          <a:xfrm>
            <a:off x="11109960" y="4242816"/>
            <a:ext cx="731520"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GAP FOUND</a:t>
            </a:r>
            <a:endParaRPr lang="en-US" sz="700" dirty="0"/>
          </a:p>
        </p:txBody>
      </p:sp>
      <p:sp>
        <p:nvSpPr>
          <p:cNvPr id="93" name="Text 91"/>
          <p:cNvSpPr/>
          <p:nvPr/>
        </p:nvSpPr>
        <p:spPr>
          <a:xfrm>
            <a:off x="8247888" y="4590288"/>
            <a:ext cx="3566160" cy="164592"/>
          </a:xfrm>
          <a:prstGeom prst="rect">
            <a:avLst/>
          </a:prstGeom>
          <a:noFill/>
          <a:ln/>
        </p:spPr>
        <p:txBody>
          <a:bodyPr wrap="square" lIns="0" tIns="0" rIns="0" bIns="0" rtlCol="0" anchor="ctr"/>
          <a:lstStyle/>
          <a:p>
            <a:pPr indent="0" marL="0">
              <a:buNone/>
            </a:pPr>
            <a:r>
              <a:rPr lang="en-US" sz="800" b="1" dirty="0">
                <a:solidFill>
                  <a:srgbClr val="1A4A7A"/>
                </a:solidFill>
                <a:latin typeface="Calibri" pitchFamily="34" charset="0"/>
                <a:ea typeface="Calibri" pitchFamily="34" charset="-122"/>
                <a:cs typeface="Calibri" pitchFamily="34" charset="-120"/>
              </a:rPr>
              <a:t>REAL GEB</a:t>
            </a:r>
            <a:endParaRPr lang="en-US" sz="800" dirty="0"/>
          </a:p>
        </p:txBody>
      </p:sp>
      <p:sp>
        <p:nvSpPr>
          <p:cNvPr id="94" name="Text 92"/>
          <p:cNvSpPr/>
          <p:nvPr/>
        </p:nvSpPr>
        <p:spPr>
          <a:xfrm>
            <a:off x="8247888" y="475488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Custom parser in cfg[1] — XSS sanitization, Dojo params</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Direct pool registration in Turbine 2.3.3</a:t>
            </a:r>
            <a:endParaRPr lang="en-US" sz="850" dirty="0"/>
          </a:p>
        </p:txBody>
      </p:sp>
      <p:sp>
        <p:nvSpPr>
          <p:cNvPr id="95" name="Shape 93"/>
          <p:cNvSpPr/>
          <p:nvPr/>
        </p:nvSpPr>
        <p:spPr>
          <a:xfrm>
            <a:off x="8247888" y="5349240"/>
            <a:ext cx="3520440" cy="0"/>
          </a:xfrm>
          <a:prstGeom prst="line">
            <a:avLst/>
          </a:prstGeom>
          <a:noFill/>
          <a:ln w="6350">
            <a:solidFill>
              <a:srgbClr val="E8ECF2"/>
            </a:solidFill>
            <a:prstDash val="solid"/>
          </a:ln>
        </p:spPr>
      </p:sp>
      <p:sp>
        <p:nvSpPr>
          <p:cNvPr id="96" name="Text 94"/>
          <p:cNvSpPr/>
          <p:nvPr/>
        </p:nvSpPr>
        <p:spPr>
          <a:xfrm>
            <a:off x="8247888" y="5413248"/>
            <a:ext cx="3566160" cy="164592"/>
          </a:xfrm>
          <a:prstGeom prst="rect">
            <a:avLst/>
          </a:prstGeom>
          <a:noFill/>
          <a:ln/>
        </p:spPr>
        <p:txBody>
          <a:bodyPr wrap="square" lIns="0" tIns="0" rIns="0" bIns="0" rtlCol="0" anchor="ctr"/>
          <a:lstStyle/>
          <a:p>
            <a:pPr indent="0" marL="0">
              <a:buNone/>
            </a:pPr>
            <a:r>
              <a:rPr lang="en-US" sz="800" b="1" dirty="0">
                <a:solidFill>
                  <a:srgbClr val="C0392B"/>
                </a:solidFill>
                <a:latin typeface="Calibri" pitchFamily="34" charset="0"/>
                <a:ea typeface="Calibri" pitchFamily="34" charset="-122"/>
                <a:cs typeface="Calibri" pitchFamily="34" charset="-120"/>
              </a:rPr>
              <a:t>MINI-GEB</a:t>
            </a:r>
            <a:endParaRPr lang="en-US" sz="800" dirty="0"/>
          </a:p>
        </p:txBody>
      </p:sp>
      <p:sp>
        <p:nvSpPr>
          <p:cNvPr id="97" name="Text 95"/>
          <p:cNvSpPr/>
          <p:nvPr/>
        </p:nvSpPr>
        <p:spPr>
          <a:xfrm>
            <a:off x="8247888" y="5577840"/>
            <a:ext cx="3566160" cy="548640"/>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Cannot register custom parser in fulcrum-parser 4.0.0</a:t>
            </a:r>
            <a:endParaRPr lang="en-US" sz="850" dirty="0"/>
          </a:p>
          <a:p>
            <a:pPr indent="0" marL="0">
              <a:buNone/>
            </a:pPr>
            <a:r>
              <a:rPr lang="en-US" sz="850" dirty="0">
                <a:solidFill>
                  <a:srgbClr val="1A2A3A"/>
                </a:solidFill>
                <a:latin typeface="Calibri" pitchFamily="34" charset="0"/>
                <a:ea typeface="Calibri" pitchFamily="34" charset="-122"/>
                <a:cs typeface="Calibri" pitchFamily="34" charset="-120"/>
              </a:rPr>
              <a:t>Silent fallback to DefaultParameterParser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Key Migration Risks — Proven Hands-On</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Every finding below was reproduced live — not theoretical</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274320" y="960120"/>
            <a:ext cx="685800" cy="320040"/>
          </a:xfrm>
          <a:prstGeom prst="rect">
            <a:avLst/>
          </a:prstGeom>
          <a:solidFill>
            <a:srgbClr val="003366"/>
          </a:solidFill>
          <a:ln w="12700">
            <a:solidFill>
              <a:srgbClr val="003366"/>
            </a:solidFill>
            <a:prstDash val="solid"/>
          </a:ln>
        </p:spPr>
      </p:sp>
      <p:sp>
        <p:nvSpPr>
          <p:cNvPr id="8" name="Text 6"/>
          <p:cNvSpPr/>
          <p:nvPr/>
        </p:nvSpPr>
        <p:spPr>
          <a:xfrm>
            <a:off x="320040" y="978408"/>
            <a:ext cx="59436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Severity</a:t>
            </a:r>
            <a:endParaRPr lang="en-US" sz="900" dirty="0"/>
          </a:p>
        </p:txBody>
      </p:sp>
      <p:sp>
        <p:nvSpPr>
          <p:cNvPr id="9" name="Shape 7"/>
          <p:cNvSpPr/>
          <p:nvPr/>
        </p:nvSpPr>
        <p:spPr>
          <a:xfrm>
            <a:off x="987552" y="960120"/>
            <a:ext cx="1554480" cy="320040"/>
          </a:xfrm>
          <a:prstGeom prst="rect">
            <a:avLst/>
          </a:prstGeom>
          <a:solidFill>
            <a:srgbClr val="003366"/>
          </a:solidFill>
          <a:ln w="12700">
            <a:solidFill>
              <a:srgbClr val="003366"/>
            </a:solidFill>
            <a:prstDash val="solid"/>
          </a:ln>
        </p:spPr>
      </p:sp>
      <p:sp>
        <p:nvSpPr>
          <p:cNvPr id="10" name="Text 8"/>
          <p:cNvSpPr/>
          <p:nvPr/>
        </p:nvSpPr>
        <p:spPr>
          <a:xfrm>
            <a:off x="1033272" y="978408"/>
            <a:ext cx="146304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Component</a:t>
            </a:r>
            <a:endParaRPr lang="en-US" sz="900" dirty="0"/>
          </a:p>
        </p:txBody>
      </p:sp>
      <p:sp>
        <p:nvSpPr>
          <p:cNvPr id="11" name="Shape 9"/>
          <p:cNvSpPr/>
          <p:nvPr/>
        </p:nvSpPr>
        <p:spPr>
          <a:xfrm>
            <a:off x="2569464" y="960120"/>
            <a:ext cx="2834640" cy="320040"/>
          </a:xfrm>
          <a:prstGeom prst="rect">
            <a:avLst/>
          </a:prstGeom>
          <a:solidFill>
            <a:srgbClr val="003366"/>
          </a:solidFill>
          <a:ln w="12700">
            <a:solidFill>
              <a:srgbClr val="003366"/>
            </a:solidFill>
            <a:prstDash val="solid"/>
          </a:ln>
        </p:spPr>
      </p:sp>
      <p:sp>
        <p:nvSpPr>
          <p:cNvPr id="12" name="Text 10"/>
          <p:cNvSpPr/>
          <p:nvPr/>
        </p:nvSpPr>
        <p:spPr>
          <a:xfrm>
            <a:off x="2615184" y="978408"/>
            <a:ext cx="274320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Finding</a:t>
            </a:r>
            <a:endParaRPr lang="en-US" sz="900" dirty="0"/>
          </a:p>
        </p:txBody>
      </p:sp>
      <p:sp>
        <p:nvSpPr>
          <p:cNvPr id="13" name="Shape 11"/>
          <p:cNvSpPr/>
          <p:nvPr/>
        </p:nvSpPr>
        <p:spPr>
          <a:xfrm>
            <a:off x="5431536" y="960120"/>
            <a:ext cx="3383280" cy="320040"/>
          </a:xfrm>
          <a:prstGeom prst="rect">
            <a:avLst/>
          </a:prstGeom>
          <a:solidFill>
            <a:srgbClr val="003366"/>
          </a:solidFill>
          <a:ln w="12700">
            <a:solidFill>
              <a:srgbClr val="003366"/>
            </a:solidFill>
            <a:prstDash val="solid"/>
          </a:ln>
        </p:spPr>
      </p:sp>
      <p:sp>
        <p:nvSpPr>
          <p:cNvPr id="14" name="Text 12"/>
          <p:cNvSpPr/>
          <p:nvPr/>
        </p:nvSpPr>
        <p:spPr>
          <a:xfrm>
            <a:off x="5477256" y="978408"/>
            <a:ext cx="329184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Impact</a:t>
            </a:r>
            <a:endParaRPr lang="en-US" sz="900" dirty="0"/>
          </a:p>
        </p:txBody>
      </p:sp>
      <p:sp>
        <p:nvSpPr>
          <p:cNvPr id="15" name="Shape 13"/>
          <p:cNvSpPr/>
          <p:nvPr/>
        </p:nvSpPr>
        <p:spPr>
          <a:xfrm>
            <a:off x="8842248" y="960120"/>
            <a:ext cx="3108960" cy="320040"/>
          </a:xfrm>
          <a:prstGeom prst="rect">
            <a:avLst/>
          </a:prstGeom>
          <a:solidFill>
            <a:srgbClr val="003366"/>
          </a:solidFill>
          <a:ln w="12700">
            <a:solidFill>
              <a:srgbClr val="003366"/>
            </a:solidFill>
            <a:prstDash val="solid"/>
          </a:ln>
        </p:spPr>
      </p:sp>
      <p:sp>
        <p:nvSpPr>
          <p:cNvPr id="16" name="Text 14"/>
          <p:cNvSpPr/>
          <p:nvPr/>
        </p:nvSpPr>
        <p:spPr>
          <a:xfrm>
            <a:off x="8887968" y="978408"/>
            <a:ext cx="301752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Recommended Action</a:t>
            </a:r>
            <a:endParaRPr lang="en-US" sz="900" dirty="0"/>
          </a:p>
        </p:txBody>
      </p:sp>
      <p:sp>
        <p:nvSpPr>
          <p:cNvPr id="17" name="Shape 15"/>
          <p:cNvSpPr/>
          <p:nvPr/>
        </p:nvSpPr>
        <p:spPr>
          <a:xfrm>
            <a:off x="274320" y="1325880"/>
            <a:ext cx="11567160" cy="438912"/>
          </a:xfrm>
          <a:prstGeom prst="rect">
            <a:avLst/>
          </a:prstGeom>
          <a:solidFill>
            <a:srgbClr val="FFFFFF"/>
          </a:solidFill>
          <a:ln w="12700">
            <a:solidFill>
              <a:srgbClr val="E8ECF2"/>
            </a:solidFill>
            <a:prstDash val="solid"/>
          </a:ln>
        </p:spPr>
      </p:sp>
      <p:sp>
        <p:nvSpPr>
          <p:cNvPr id="18" name="Shape 16"/>
          <p:cNvSpPr/>
          <p:nvPr/>
        </p:nvSpPr>
        <p:spPr>
          <a:xfrm>
            <a:off x="301752" y="1408176"/>
            <a:ext cx="621792" cy="256032"/>
          </a:xfrm>
          <a:prstGeom prst="rect">
            <a:avLst/>
          </a:prstGeom>
          <a:solidFill>
            <a:srgbClr val="C0392B"/>
          </a:solidFill>
          <a:ln w="12700">
            <a:solidFill>
              <a:srgbClr val="C0392B"/>
            </a:solidFill>
            <a:prstDash val="solid"/>
          </a:ln>
        </p:spPr>
      </p:sp>
      <p:sp>
        <p:nvSpPr>
          <p:cNvPr id="19" name="Text 17"/>
          <p:cNvSpPr/>
          <p:nvPr/>
        </p:nvSpPr>
        <p:spPr>
          <a:xfrm>
            <a:off x="301752" y="1408176"/>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20" name="Text 18"/>
          <p:cNvSpPr/>
          <p:nvPr/>
        </p:nvSpPr>
        <p:spPr>
          <a:xfrm>
            <a:off x="1005840" y="1399032"/>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log4j 1.2.17</a:t>
            </a:r>
            <a:endParaRPr lang="en-US" sz="900" dirty="0"/>
          </a:p>
        </p:txBody>
      </p:sp>
      <p:sp>
        <p:nvSpPr>
          <p:cNvPr id="21" name="Text 19"/>
          <p:cNvSpPr/>
          <p:nvPr/>
        </p:nvSpPr>
        <p:spPr>
          <a:xfrm>
            <a:off x="2578608" y="1399032"/>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Active CVE + Java 17 service loader incompatibility</a:t>
            </a:r>
            <a:endParaRPr lang="en-US" sz="900" dirty="0"/>
          </a:p>
        </p:txBody>
      </p:sp>
      <p:sp>
        <p:nvSpPr>
          <p:cNvPr id="22" name="Text 20"/>
          <p:cNvSpPr/>
          <p:nvPr/>
        </p:nvSpPr>
        <p:spPr>
          <a:xfrm>
            <a:off x="5422392" y="1399032"/>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Tomcat startup fails — NoSuchMethodError: ServiceLoaderUtil.loadServices()</a:t>
            </a:r>
            <a:endParaRPr lang="en-US" sz="900" dirty="0"/>
          </a:p>
        </p:txBody>
      </p:sp>
      <p:sp>
        <p:nvSpPr>
          <p:cNvPr id="23" name="Text 21"/>
          <p:cNvSpPr/>
          <p:nvPr/>
        </p:nvSpPr>
        <p:spPr>
          <a:xfrm>
            <a:off x="8796528" y="1399032"/>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Replace with log4j2 2.20.0+ immediately — regardless of EAP 8 timeline</a:t>
            </a:r>
            <a:endParaRPr lang="en-US" sz="900" dirty="0"/>
          </a:p>
        </p:txBody>
      </p:sp>
      <p:sp>
        <p:nvSpPr>
          <p:cNvPr id="24" name="Shape 22"/>
          <p:cNvSpPr/>
          <p:nvPr/>
        </p:nvSpPr>
        <p:spPr>
          <a:xfrm>
            <a:off x="274320" y="1801368"/>
            <a:ext cx="11567160" cy="438912"/>
          </a:xfrm>
          <a:prstGeom prst="rect">
            <a:avLst/>
          </a:prstGeom>
          <a:solidFill>
            <a:srgbClr val="F4F6FA"/>
          </a:solidFill>
          <a:ln w="12700">
            <a:solidFill>
              <a:srgbClr val="E8ECF2"/>
            </a:solidFill>
            <a:prstDash val="solid"/>
          </a:ln>
        </p:spPr>
      </p:sp>
      <p:sp>
        <p:nvSpPr>
          <p:cNvPr id="25" name="Shape 23"/>
          <p:cNvSpPr/>
          <p:nvPr/>
        </p:nvSpPr>
        <p:spPr>
          <a:xfrm>
            <a:off x="301752" y="1883664"/>
            <a:ext cx="621792" cy="256032"/>
          </a:xfrm>
          <a:prstGeom prst="rect">
            <a:avLst/>
          </a:prstGeom>
          <a:solidFill>
            <a:srgbClr val="C0392B"/>
          </a:solidFill>
          <a:ln w="12700">
            <a:solidFill>
              <a:srgbClr val="C0392B"/>
            </a:solidFill>
            <a:prstDash val="solid"/>
          </a:ln>
        </p:spPr>
      </p:sp>
      <p:sp>
        <p:nvSpPr>
          <p:cNvPr id="26" name="Text 24"/>
          <p:cNvSpPr/>
          <p:nvPr/>
        </p:nvSpPr>
        <p:spPr>
          <a:xfrm>
            <a:off x="301752" y="1883664"/>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27" name="Text 25"/>
          <p:cNvSpPr/>
          <p:nvPr/>
        </p:nvSpPr>
        <p:spPr>
          <a:xfrm>
            <a:off x="1005840" y="1874520"/>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data.getPage()</a:t>
            </a:r>
            <a:endParaRPr lang="en-US" sz="900" dirty="0"/>
          </a:p>
        </p:txBody>
      </p:sp>
      <p:sp>
        <p:nvSpPr>
          <p:cNvPr id="28" name="Text 26"/>
          <p:cNvSpPr/>
          <p:nvPr/>
        </p:nvSpPr>
        <p:spPr>
          <a:xfrm>
            <a:off x="2578608" y="1874520"/>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Removed from RunData in Turbine 7</a:t>
            </a:r>
            <a:endParaRPr lang="en-US" sz="900" dirty="0"/>
          </a:p>
        </p:txBody>
      </p:sp>
      <p:sp>
        <p:nvSpPr>
          <p:cNvPr id="29" name="Text 27"/>
          <p:cNvSpPr/>
          <p:nvPr/>
        </p:nvSpPr>
        <p:spPr>
          <a:xfrm>
            <a:off x="5422392" y="1874520"/>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Every portlet using addGridComparator() fails to compile — all Dojo grid sorting broken across 18+ modules</a:t>
            </a:r>
            <a:endParaRPr lang="en-US" sz="900" dirty="0"/>
          </a:p>
        </p:txBody>
      </p:sp>
      <p:sp>
        <p:nvSpPr>
          <p:cNvPr id="30" name="Text 28"/>
          <p:cNvSpPr/>
          <p:nvPr/>
        </p:nvSpPr>
        <p:spPr>
          <a:xfrm>
            <a:off x="8796528" y="1874520"/>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Redesign page body injection pattern across all GTPRootPortlet subclasses</a:t>
            </a:r>
            <a:endParaRPr lang="en-US" sz="900" dirty="0"/>
          </a:p>
        </p:txBody>
      </p:sp>
      <p:sp>
        <p:nvSpPr>
          <p:cNvPr id="31" name="Shape 29"/>
          <p:cNvSpPr/>
          <p:nvPr/>
        </p:nvSpPr>
        <p:spPr>
          <a:xfrm>
            <a:off x="274320" y="2276856"/>
            <a:ext cx="11567160" cy="438912"/>
          </a:xfrm>
          <a:prstGeom prst="rect">
            <a:avLst/>
          </a:prstGeom>
          <a:solidFill>
            <a:srgbClr val="FFFFFF"/>
          </a:solidFill>
          <a:ln w="12700">
            <a:solidFill>
              <a:srgbClr val="E8ECF2"/>
            </a:solidFill>
            <a:prstDash val="solid"/>
          </a:ln>
        </p:spPr>
      </p:sp>
      <p:sp>
        <p:nvSpPr>
          <p:cNvPr id="32" name="Shape 30"/>
          <p:cNvSpPr/>
          <p:nvPr/>
        </p:nvSpPr>
        <p:spPr>
          <a:xfrm>
            <a:off x="301752" y="2359152"/>
            <a:ext cx="621792" cy="256032"/>
          </a:xfrm>
          <a:prstGeom prst="rect">
            <a:avLst/>
          </a:prstGeom>
          <a:solidFill>
            <a:srgbClr val="C0392B"/>
          </a:solidFill>
          <a:ln w="12700">
            <a:solidFill>
              <a:srgbClr val="C0392B"/>
            </a:solidFill>
            <a:prstDash val="solid"/>
          </a:ln>
        </p:spPr>
      </p:sp>
      <p:sp>
        <p:nvSpPr>
          <p:cNvPr id="33" name="Text 31"/>
          <p:cNvSpPr/>
          <p:nvPr/>
        </p:nvSpPr>
        <p:spPr>
          <a:xfrm>
            <a:off x="301752" y="2359152"/>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34" name="Text 32"/>
          <p:cNvSpPr/>
          <p:nvPr/>
        </p:nvSpPr>
        <p:spPr>
          <a:xfrm>
            <a:off x="1005840" y="2350008"/>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Action / Layout API</a:t>
            </a:r>
            <a:endParaRPr lang="en-US" sz="900" dirty="0"/>
          </a:p>
        </p:txBody>
      </p:sp>
      <p:sp>
        <p:nvSpPr>
          <p:cNvPr id="35" name="Text 33"/>
          <p:cNvSpPr/>
          <p:nvPr/>
        </p:nvSpPr>
        <p:spPr>
          <a:xfrm>
            <a:off x="2578608" y="2350008"/>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Changed from abstract class → interface in Turbine 7</a:t>
            </a:r>
            <a:endParaRPr lang="en-US" sz="900" dirty="0"/>
          </a:p>
        </p:txBody>
      </p:sp>
      <p:sp>
        <p:nvSpPr>
          <p:cNvPr id="36" name="Text 34"/>
          <p:cNvSpPr/>
          <p:nvPr/>
        </p:nvSpPr>
        <p:spPr>
          <a:xfrm>
            <a:off x="5422392" y="2350008"/>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Every extends Action / extends Layout = compile error across all banking modules</a:t>
            </a:r>
            <a:endParaRPr lang="en-US" sz="900" dirty="0"/>
          </a:p>
        </p:txBody>
      </p:sp>
      <p:sp>
        <p:nvSpPr>
          <p:cNvPr id="37" name="Text 35"/>
          <p:cNvSpPr/>
          <p:nvPr/>
        </p:nvSpPr>
        <p:spPr>
          <a:xfrm>
            <a:off x="8796528" y="2350008"/>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Global find-replace + retest all action/layout behaviour</a:t>
            </a:r>
            <a:endParaRPr lang="en-US" sz="900" dirty="0"/>
          </a:p>
        </p:txBody>
      </p:sp>
      <p:sp>
        <p:nvSpPr>
          <p:cNvPr id="38" name="Shape 36"/>
          <p:cNvSpPr/>
          <p:nvPr/>
        </p:nvSpPr>
        <p:spPr>
          <a:xfrm>
            <a:off x="274320" y="2752344"/>
            <a:ext cx="11567160" cy="438912"/>
          </a:xfrm>
          <a:prstGeom prst="rect">
            <a:avLst/>
          </a:prstGeom>
          <a:solidFill>
            <a:srgbClr val="F4F6FA"/>
          </a:solidFill>
          <a:ln w="12700">
            <a:solidFill>
              <a:srgbClr val="E8ECF2"/>
            </a:solidFill>
            <a:prstDash val="solid"/>
          </a:ln>
        </p:spPr>
      </p:sp>
      <p:sp>
        <p:nvSpPr>
          <p:cNvPr id="39" name="Shape 37"/>
          <p:cNvSpPr/>
          <p:nvPr/>
        </p:nvSpPr>
        <p:spPr>
          <a:xfrm>
            <a:off x="301752" y="2834640"/>
            <a:ext cx="621792" cy="256032"/>
          </a:xfrm>
          <a:prstGeom prst="rect">
            <a:avLst/>
          </a:prstGeom>
          <a:solidFill>
            <a:srgbClr val="C0392B"/>
          </a:solidFill>
          <a:ln w="12700">
            <a:solidFill>
              <a:srgbClr val="C0392B"/>
            </a:solidFill>
            <a:prstDash val="solid"/>
          </a:ln>
        </p:spPr>
      </p:sp>
      <p:sp>
        <p:nvSpPr>
          <p:cNvPr id="40" name="Text 38"/>
          <p:cNvSpPr/>
          <p:nvPr/>
        </p:nvSpPr>
        <p:spPr>
          <a:xfrm>
            <a:off x="301752" y="2834640"/>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CRITICAL</a:t>
            </a:r>
            <a:endParaRPr lang="en-US" sz="700" dirty="0"/>
          </a:p>
        </p:txBody>
      </p:sp>
      <p:sp>
        <p:nvSpPr>
          <p:cNvPr id="41" name="Text 39"/>
          <p:cNvSpPr/>
          <p:nvPr/>
        </p:nvSpPr>
        <p:spPr>
          <a:xfrm>
            <a:off x="1005840" y="2825496"/>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Castor XML (PSML)</a:t>
            </a:r>
            <a:endParaRPr lang="en-US" sz="900" dirty="0"/>
          </a:p>
        </p:txBody>
      </p:sp>
      <p:sp>
        <p:nvSpPr>
          <p:cNvPr id="42" name="Text 40"/>
          <p:cNvSpPr/>
          <p:nvPr/>
        </p:nvSpPr>
        <p:spPr>
          <a:xfrm>
            <a:off x="2578608" y="2825496"/>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Uses banned Java 17 reflection — fails at startup</a:t>
            </a:r>
            <a:endParaRPr lang="en-US" sz="900" dirty="0"/>
          </a:p>
        </p:txBody>
      </p:sp>
      <p:sp>
        <p:nvSpPr>
          <p:cNvPr id="43" name="Text 41"/>
          <p:cNvSpPr/>
          <p:nvPr/>
        </p:nvSpPr>
        <p:spPr>
          <a:xfrm>
            <a:off x="5422392" y="2825496"/>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PsmlScreenManager cannot load portal pages — entire portal down</a:t>
            </a:r>
            <a:endParaRPr lang="en-US" sz="900" dirty="0"/>
          </a:p>
        </p:txBody>
      </p:sp>
      <p:sp>
        <p:nvSpPr>
          <p:cNvPr id="44" name="Text 42"/>
          <p:cNvSpPr/>
          <p:nvPr/>
        </p:nvSpPr>
        <p:spPr>
          <a:xfrm>
            <a:off x="8796528" y="2825496"/>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Replace with dom4j or JAXB — proven working in POC</a:t>
            </a:r>
            <a:endParaRPr lang="en-US" sz="900" dirty="0"/>
          </a:p>
        </p:txBody>
      </p:sp>
      <p:sp>
        <p:nvSpPr>
          <p:cNvPr id="45" name="Shape 43"/>
          <p:cNvSpPr/>
          <p:nvPr/>
        </p:nvSpPr>
        <p:spPr>
          <a:xfrm>
            <a:off x="274320" y="3227832"/>
            <a:ext cx="11567160" cy="438912"/>
          </a:xfrm>
          <a:prstGeom prst="rect">
            <a:avLst/>
          </a:prstGeom>
          <a:solidFill>
            <a:srgbClr val="FFFFFF"/>
          </a:solidFill>
          <a:ln w="12700">
            <a:solidFill>
              <a:srgbClr val="E8ECF2"/>
            </a:solidFill>
            <a:prstDash val="solid"/>
          </a:ln>
        </p:spPr>
      </p:sp>
      <p:sp>
        <p:nvSpPr>
          <p:cNvPr id="46" name="Shape 44"/>
          <p:cNvSpPr/>
          <p:nvPr/>
        </p:nvSpPr>
        <p:spPr>
          <a:xfrm>
            <a:off x="301752" y="3310128"/>
            <a:ext cx="621792" cy="256032"/>
          </a:xfrm>
          <a:prstGeom prst="rect">
            <a:avLst/>
          </a:prstGeom>
          <a:solidFill>
            <a:srgbClr val="D4A017"/>
          </a:solidFill>
          <a:ln w="12700">
            <a:solidFill>
              <a:srgbClr val="D4A017"/>
            </a:solidFill>
            <a:prstDash val="solid"/>
          </a:ln>
        </p:spPr>
      </p:sp>
      <p:sp>
        <p:nvSpPr>
          <p:cNvPr id="47" name="Text 45"/>
          <p:cNvSpPr/>
          <p:nvPr/>
        </p:nvSpPr>
        <p:spPr>
          <a:xfrm>
            <a:off x="301752" y="3310128"/>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48" name="Text 46"/>
          <p:cNvSpPr/>
          <p:nvPr/>
        </p:nvSpPr>
        <p:spPr>
          <a:xfrm>
            <a:off x="1005840" y="3300984"/>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GTPParameterParser</a:t>
            </a:r>
            <a:endParaRPr lang="en-US" sz="900" dirty="0"/>
          </a:p>
        </p:txBody>
      </p:sp>
      <p:sp>
        <p:nvSpPr>
          <p:cNvPr id="49" name="Text 47"/>
          <p:cNvSpPr/>
          <p:nvPr/>
        </p:nvSpPr>
        <p:spPr>
          <a:xfrm>
            <a:off x="2578608" y="3300984"/>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Cannot be registered in fulcrum-parser 4.0.0 layer</a:t>
            </a:r>
            <a:endParaRPr lang="en-US" sz="900" dirty="0"/>
          </a:p>
        </p:txBody>
      </p:sp>
      <p:sp>
        <p:nvSpPr>
          <p:cNvPr id="50" name="Text 48"/>
          <p:cNvSpPr/>
          <p:nvPr/>
        </p:nvSpPr>
        <p:spPr>
          <a:xfrm>
            <a:off x="5422392" y="3300984"/>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XSS sanitization, Dojo multi-value params, encoding handling silently bypassed</a:t>
            </a:r>
            <a:endParaRPr lang="en-US" sz="900" dirty="0"/>
          </a:p>
        </p:txBody>
      </p:sp>
      <p:sp>
        <p:nvSpPr>
          <p:cNvPr id="51" name="Text 49"/>
          <p:cNvSpPr/>
          <p:nvPr/>
        </p:nvSpPr>
        <p:spPr>
          <a:xfrm>
            <a:off x="8796528" y="3300984"/>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Redesign parser integration layer — register via Fulcrum component config</a:t>
            </a:r>
            <a:endParaRPr lang="en-US" sz="900" dirty="0"/>
          </a:p>
        </p:txBody>
      </p:sp>
      <p:sp>
        <p:nvSpPr>
          <p:cNvPr id="52" name="Shape 50"/>
          <p:cNvSpPr/>
          <p:nvPr/>
        </p:nvSpPr>
        <p:spPr>
          <a:xfrm>
            <a:off x="274320" y="3703320"/>
            <a:ext cx="11567160" cy="438912"/>
          </a:xfrm>
          <a:prstGeom prst="rect">
            <a:avLst/>
          </a:prstGeom>
          <a:solidFill>
            <a:srgbClr val="F4F6FA"/>
          </a:solidFill>
          <a:ln w="12700">
            <a:solidFill>
              <a:srgbClr val="E8ECF2"/>
            </a:solidFill>
            <a:prstDash val="solid"/>
          </a:ln>
        </p:spPr>
      </p:sp>
      <p:sp>
        <p:nvSpPr>
          <p:cNvPr id="53" name="Shape 51"/>
          <p:cNvSpPr/>
          <p:nvPr/>
        </p:nvSpPr>
        <p:spPr>
          <a:xfrm>
            <a:off x="301752" y="3785616"/>
            <a:ext cx="621792" cy="256032"/>
          </a:xfrm>
          <a:prstGeom prst="rect">
            <a:avLst/>
          </a:prstGeom>
          <a:solidFill>
            <a:srgbClr val="D4A017"/>
          </a:solidFill>
          <a:ln w="12700">
            <a:solidFill>
              <a:srgbClr val="D4A017"/>
            </a:solidFill>
            <a:prstDash val="solid"/>
          </a:ln>
        </p:spPr>
      </p:sp>
      <p:sp>
        <p:nvSpPr>
          <p:cNvPr id="54" name="Text 52"/>
          <p:cNvSpPr/>
          <p:nvPr/>
        </p:nvSpPr>
        <p:spPr>
          <a:xfrm>
            <a:off x="301752" y="3785616"/>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55" name="Text 53"/>
          <p:cNvSpPr/>
          <p:nvPr/>
        </p:nvSpPr>
        <p:spPr>
          <a:xfrm>
            <a:off x="1005840" y="3776472"/>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javax → jakarta namespace</a:t>
            </a:r>
            <a:endParaRPr lang="en-US" sz="900" dirty="0"/>
          </a:p>
        </p:txBody>
      </p:sp>
      <p:sp>
        <p:nvSpPr>
          <p:cNvPr id="56" name="Text 54"/>
          <p:cNvSpPr/>
          <p:nvPr/>
        </p:nvSpPr>
        <p:spPr>
          <a:xfrm>
            <a:off x="2578608" y="3776472"/>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Tomcat 10 / EAP 8 uses jakarta.* exclusively</a:t>
            </a:r>
            <a:endParaRPr lang="en-US" sz="900" dirty="0"/>
          </a:p>
        </p:txBody>
      </p:sp>
      <p:sp>
        <p:nvSpPr>
          <p:cNvPr id="57" name="Text 55"/>
          <p:cNvSpPr/>
          <p:nvPr/>
        </p:nvSpPr>
        <p:spPr>
          <a:xfrm>
            <a:off x="5422392" y="3776472"/>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All libraries compiled against javax.servlet.* crash — fulcrum-parser 2.0.1 proven</a:t>
            </a:r>
            <a:endParaRPr lang="en-US" sz="900" dirty="0"/>
          </a:p>
        </p:txBody>
      </p:sp>
      <p:sp>
        <p:nvSpPr>
          <p:cNvPr id="58" name="Text 56"/>
          <p:cNvSpPr/>
          <p:nvPr/>
        </p:nvSpPr>
        <p:spPr>
          <a:xfrm>
            <a:off x="8796528" y="3776472"/>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Upgrade all dependencies to Jakarta EE compatible versions</a:t>
            </a:r>
            <a:endParaRPr lang="en-US" sz="900" dirty="0"/>
          </a:p>
        </p:txBody>
      </p:sp>
      <p:sp>
        <p:nvSpPr>
          <p:cNvPr id="59" name="Shape 57"/>
          <p:cNvSpPr/>
          <p:nvPr/>
        </p:nvSpPr>
        <p:spPr>
          <a:xfrm>
            <a:off x="274320" y="4178808"/>
            <a:ext cx="11567160" cy="438912"/>
          </a:xfrm>
          <a:prstGeom prst="rect">
            <a:avLst/>
          </a:prstGeom>
          <a:solidFill>
            <a:srgbClr val="FFFFFF"/>
          </a:solidFill>
          <a:ln w="12700">
            <a:solidFill>
              <a:srgbClr val="E8ECF2"/>
            </a:solidFill>
            <a:prstDash val="solid"/>
          </a:ln>
        </p:spPr>
      </p:sp>
      <p:sp>
        <p:nvSpPr>
          <p:cNvPr id="60" name="Shape 58"/>
          <p:cNvSpPr/>
          <p:nvPr/>
        </p:nvSpPr>
        <p:spPr>
          <a:xfrm>
            <a:off x="301752" y="4261104"/>
            <a:ext cx="621792" cy="256032"/>
          </a:xfrm>
          <a:prstGeom prst="rect">
            <a:avLst/>
          </a:prstGeom>
          <a:solidFill>
            <a:srgbClr val="D4A017"/>
          </a:solidFill>
          <a:ln w="12700">
            <a:solidFill>
              <a:srgbClr val="D4A017"/>
            </a:solidFill>
            <a:prstDash val="solid"/>
          </a:ln>
        </p:spPr>
      </p:sp>
      <p:sp>
        <p:nvSpPr>
          <p:cNvPr id="61" name="Text 59"/>
          <p:cNvSpPr/>
          <p:nvPr/>
        </p:nvSpPr>
        <p:spPr>
          <a:xfrm>
            <a:off x="301752" y="4261104"/>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62" name="Text 60"/>
          <p:cNvSpPr/>
          <p:nvPr/>
        </p:nvSpPr>
        <p:spPr>
          <a:xfrm>
            <a:off x="1005840" y="4251960"/>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Torque 3.1.1 → 5.x</a:t>
            </a:r>
            <a:endParaRPr lang="en-US" sz="900" dirty="0"/>
          </a:p>
        </p:txBody>
      </p:sp>
      <p:sp>
        <p:nvSpPr>
          <p:cNvPr id="63" name="Text 61"/>
          <p:cNvSpPr/>
          <p:nvPr/>
        </p:nvSpPr>
        <p:spPr>
          <a:xfrm>
            <a:off x="2578608" y="4251960"/>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Completely different Criteria API, Village ResultSet removed, ComponentService gone</a:t>
            </a:r>
            <a:endParaRPr lang="en-US" sz="900" dirty="0"/>
          </a:p>
        </p:txBody>
      </p:sp>
      <p:sp>
        <p:nvSpPr>
          <p:cNvPr id="64" name="Text 62"/>
          <p:cNvSpPr/>
          <p:nvPr/>
        </p:nvSpPr>
        <p:spPr>
          <a:xfrm>
            <a:off x="5422392" y="4251960"/>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All 21+ Torque imports + generated Peer classes need redesign</a:t>
            </a:r>
            <a:endParaRPr lang="en-US" sz="900" dirty="0"/>
          </a:p>
        </p:txBody>
      </p:sp>
      <p:sp>
        <p:nvSpPr>
          <p:cNvPr id="65" name="Text 63"/>
          <p:cNvSpPr/>
          <p:nvPr/>
        </p:nvSpPr>
        <p:spPr>
          <a:xfrm>
            <a:off x="8796528" y="4251960"/>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Assess schema.xml availability — may need regeneration of all Peer classes</a:t>
            </a:r>
            <a:endParaRPr lang="en-US" sz="900" dirty="0"/>
          </a:p>
        </p:txBody>
      </p:sp>
      <p:sp>
        <p:nvSpPr>
          <p:cNvPr id="66" name="Shape 64"/>
          <p:cNvSpPr/>
          <p:nvPr/>
        </p:nvSpPr>
        <p:spPr>
          <a:xfrm>
            <a:off x="274320" y="4654296"/>
            <a:ext cx="11567160" cy="438912"/>
          </a:xfrm>
          <a:prstGeom prst="rect">
            <a:avLst/>
          </a:prstGeom>
          <a:solidFill>
            <a:srgbClr val="F4F6FA"/>
          </a:solidFill>
          <a:ln w="12700">
            <a:solidFill>
              <a:srgbClr val="E8ECF2"/>
            </a:solidFill>
            <a:prstDash val="solid"/>
          </a:ln>
        </p:spPr>
      </p:sp>
      <p:sp>
        <p:nvSpPr>
          <p:cNvPr id="67" name="Shape 65"/>
          <p:cNvSpPr/>
          <p:nvPr/>
        </p:nvSpPr>
        <p:spPr>
          <a:xfrm>
            <a:off x="301752" y="4736592"/>
            <a:ext cx="621792" cy="256032"/>
          </a:xfrm>
          <a:prstGeom prst="rect">
            <a:avLst/>
          </a:prstGeom>
          <a:solidFill>
            <a:srgbClr val="D4A017"/>
          </a:solidFill>
          <a:ln w="12700">
            <a:solidFill>
              <a:srgbClr val="D4A017"/>
            </a:solidFill>
            <a:prstDash val="solid"/>
          </a:ln>
        </p:spPr>
      </p:sp>
      <p:sp>
        <p:nvSpPr>
          <p:cNvPr id="68" name="Text 66"/>
          <p:cNvSpPr/>
          <p:nvPr/>
        </p:nvSpPr>
        <p:spPr>
          <a:xfrm>
            <a:off x="301752" y="4736592"/>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69" name="Text 67"/>
          <p:cNvSpPr/>
          <p:nvPr/>
        </p:nvSpPr>
        <p:spPr>
          <a:xfrm>
            <a:off x="1005840" y="4727448"/>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GTPSchedulerService</a:t>
            </a:r>
            <a:endParaRPr lang="en-US" sz="900" dirty="0"/>
          </a:p>
        </p:txBody>
      </p:sp>
      <p:sp>
        <p:nvSpPr>
          <p:cNvPr id="70" name="Text 68"/>
          <p:cNvSpPr/>
          <p:nvPr/>
        </p:nvSpPr>
        <p:spPr>
          <a:xfrm>
            <a:off x="2578608" y="4727448"/>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Implements InstanceListener — removed in Turbine 7</a:t>
            </a:r>
            <a:endParaRPr lang="en-US" sz="900" dirty="0"/>
          </a:p>
        </p:txBody>
      </p:sp>
      <p:sp>
        <p:nvSpPr>
          <p:cNvPr id="71" name="Text 69"/>
          <p:cNvSpPr/>
          <p:nvPr/>
        </p:nvSpPr>
        <p:spPr>
          <a:xfrm>
            <a:off x="5422392" y="4727448"/>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Compile error — all scheduled jobs stop working</a:t>
            </a:r>
            <a:endParaRPr lang="en-US" sz="900" dirty="0"/>
          </a:p>
        </p:txBody>
      </p:sp>
      <p:sp>
        <p:nvSpPr>
          <p:cNvPr id="72" name="Text 70"/>
          <p:cNvSpPr/>
          <p:nvPr/>
        </p:nvSpPr>
        <p:spPr>
          <a:xfrm>
            <a:off x="8796528" y="4727448"/>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Rewrite using Quartz scheduler (available in Turbine 7 / Fulcrum)</a:t>
            </a:r>
            <a:endParaRPr lang="en-US" sz="900" dirty="0"/>
          </a:p>
        </p:txBody>
      </p:sp>
      <p:sp>
        <p:nvSpPr>
          <p:cNvPr id="73" name="Shape 71"/>
          <p:cNvSpPr/>
          <p:nvPr/>
        </p:nvSpPr>
        <p:spPr>
          <a:xfrm>
            <a:off x="274320" y="5129784"/>
            <a:ext cx="11567160" cy="438912"/>
          </a:xfrm>
          <a:prstGeom prst="rect">
            <a:avLst/>
          </a:prstGeom>
          <a:solidFill>
            <a:srgbClr val="FFFFFF"/>
          </a:solidFill>
          <a:ln w="12700">
            <a:solidFill>
              <a:srgbClr val="E8ECF2"/>
            </a:solidFill>
            <a:prstDash val="solid"/>
          </a:ln>
        </p:spPr>
      </p:sp>
      <p:sp>
        <p:nvSpPr>
          <p:cNvPr id="74" name="Shape 72"/>
          <p:cNvSpPr/>
          <p:nvPr/>
        </p:nvSpPr>
        <p:spPr>
          <a:xfrm>
            <a:off x="301752" y="5212080"/>
            <a:ext cx="621792" cy="256032"/>
          </a:xfrm>
          <a:prstGeom prst="rect">
            <a:avLst/>
          </a:prstGeom>
          <a:solidFill>
            <a:srgbClr val="2C6FAC"/>
          </a:solidFill>
          <a:ln w="12700">
            <a:solidFill>
              <a:srgbClr val="2C6FAC"/>
            </a:solidFill>
            <a:prstDash val="solid"/>
          </a:ln>
        </p:spPr>
      </p:sp>
      <p:sp>
        <p:nvSpPr>
          <p:cNvPr id="75" name="Text 73"/>
          <p:cNvSpPr/>
          <p:nvPr/>
        </p:nvSpPr>
        <p:spPr>
          <a:xfrm>
            <a:off x="301752" y="5212080"/>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76" name="Text 74"/>
          <p:cNvSpPr/>
          <p:nvPr/>
        </p:nvSpPr>
        <p:spPr>
          <a:xfrm>
            <a:off x="1005840" y="5202936"/>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JAXB removal (Java 17)</a:t>
            </a:r>
            <a:endParaRPr lang="en-US" sz="900" dirty="0"/>
          </a:p>
        </p:txBody>
      </p:sp>
      <p:sp>
        <p:nvSpPr>
          <p:cNvPr id="77" name="Text 75"/>
          <p:cNvSpPr/>
          <p:nvPr/>
        </p:nvSpPr>
        <p:spPr>
          <a:xfrm>
            <a:off x="2578608" y="5202936"/>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JAXB removed from JDK — must add as external dependency</a:t>
            </a:r>
            <a:endParaRPr lang="en-US" sz="900" dirty="0"/>
          </a:p>
        </p:txBody>
      </p:sp>
      <p:sp>
        <p:nvSpPr>
          <p:cNvPr id="78" name="Text 76"/>
          <p:cNvSpPr/>
          <p:nvPr/>
        </p:nvSpPr>
        <p:spPr>
          <a:xfrm>
            <a:off x="5422392" y="5202936"/>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Any JAXB marshalling (trade XML, SWIFT messages) breaks at runtime</a:t>
            </a:r>
            <a:endParaRPr lang="en-US" sz="900" dirty="0"/>
          </a:p>
        </p:txBody>
      </p:sp>
      <p:sp>
        <p:nvSpPr>
          <p:cNvPr id="79" name="Text 77"/>
          <p:cNvSpPr/>
          <p:nvPr/>
        </p:nvSpPr>
        <p:spPr>
          <a:xfrm>
            <a:off x="8796528" y="5202936"/>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Add com.sun.xml.bind:jaxb-impl dependency explicitly</a:t>
            </a:r>
            <a:endParaRPr lang="en-US" sz="900" dirty="0"/>
          </a:p>
        </p:txBody>
      </p:sp>
      <p:sp>
        <p:nvSpPr>
          <p:cNvPr id="80" name="Shape 78"/>
          <p:cNvSpPr/>
          <p:nvPr/>
        </p:nvSpPr>
        <p:spPr>
          <a:xfrm>
            <a:off x="274320" y="5605272"/>
            <a:ext cx="11567160" cy="438912"/>
          </a:xfrm>
          <a:prstGeom prst="rect">
            <a:avLst/>
          </a:prstGeom>
          <a:solidFill>
            <a:srgbClr val="F4F6FA"/>
          </a:solidFill>
          <a:ln w="12700">
            <a:solidFill>
              <a:srgbClr val="E8ECF2"/>
            </a:solidFill>
            <a:prstDash val="solid"/>
          </a:ln>
        </p:spPr>
      </p:sp>
      <p:sp>
        <p:nvSpPr>
          <p:cNvPr id="81" name="Shape 79"/>
          <p:cNvSpPr/>
          <p:nvPr/>
        </p:nvSpPr>
        <p:spPr>
          <a:xfrm>
            <a:off x="301752" y="5687568"/>
            <a:ext cx="621792" cy="256032"/>
          </a:xfrm>
          <a:prstGeom prst="rect">
            <a:avLst/>
          </a:prstGeom>
          <a:solidFill>
            <a:srgbClr val="2C6FAC"/>
          </a:solidFill>
          <a:ln w="12700">
            <a:solidFill>
              <a:srgbClr val="2C6FAC"/>
            </a:solidFill>
            <a:prstDash val="solid"/>
          </a:ln>
        </p:spPr>
      </p:sp>
      <p:sp>
        <p:nvSpPr>
          <p:cNvPr id="82" name="Text 80"/>
          <p:cNvSpPr/>
          <p:nvPr/>
        </p:nvSpPr>
        <p:spPr>
          <a:xfrm>
            <a:off x="301752" y="5687568"/>
            <a:ext cx="62179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83" name="Text 81"/>
          <p:cNvSpPr/>
          <p:nvPr/>
        </p:nvSpPr>
        <p:spPr>
          <a:xfrm>
            <a:off x="1005840" y="5678424"/>
            <a:ext cx="1508760" cy="320040"/>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devtools.jar in production</a:t>
            </a:r>
            <a:endParaRPr lang="en-US" sz="900" dirty="0"/>
          </a:p>
        </p:txBody>
      </p:sp>
      <p:sp>
        <p:nvSpPr>
          <p:cNvPr id="84" name="Text 82"/>
          <p:cNvSpPr/>
          <p:nvPr/>
        </p:nvSpPr>
        <p:spPr>
          <a:xfrm>
            <a:off x="2578608" y="5678424"/>
            <a:ext cx="2788920" cy="32004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Development-only JAR found in production deployment</a:t>
            </a:r>
            <a:endParaRPr lang="en-US" sz="900" dirty="0"/>
          </a:p>
        </p:txBody>
      </p:sp>
      <p:sp>
        <p:nvSpPr>
          <p:cNvPr id="85" name="Text 83"/>
          <p:cNvSpPr/>
          <p:nvPr/>
        </p:nvSpPr>
        <p:spPr>
          <a:xfrm>
            <a:off x="5422392" y="5678424"/>
            <a:ext cx="3337560" cy="32004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Security exposure + potential ClassLoader conflicts in EAP 8</a:t>
            </a:r>
            <a:endParaRPr lang="en-US" sz="900" dirty="0"/>
          </a:p>
        </p:txBody>
      </p:sp>
      <p:sp>
        <p:nvSpPr>
          <p:cNvPr id="86" name="Text 84"/>
          <p:cNvSpPr/>
          <p:nvPr/>
        </p:nvSpPr>
        <p:spPr>
          <a:xfrm>
            <a:off x="8796528" y="5678424"/>
            <a:ext cx="3017520" cy="320040"/>
          </a:xfrm>
          <a:prstGeom prst="rect">
            <a:avLst/>
          </a:prstGeom>
          <a:noFill/>
          <a:ln/>
        </p:spPr>
        <p:txBody>
          <a:bodyPr wrap="square" lIns="0" tIns="0" rIns="0" bIns="0" rtlCol="0" anchor="ctr"/>
          <a:lstStyle/>
          <a:p>
            <a:pPr indent="0" marL="0">
              <a:buNone/>
            </a:pPr>
            <a:r>
              <a:rPr lang="en-US" sz="900" dirty="0">
                <a:solidFill>
                  <a:srgbClr val="1A4A7A"/>
                </a:solidFill>
                <a:latin typeface="Calibri" pitchFamily="34" charset="0"/>
                <a:ea typeface="Calibri" pitchFamily="34" charset="-122"/>
                <a:cs typeface="Calibri" pitchFamily="34" charset="-120"/>
              </a:rPr>
              <a:t>Remove immediately from production build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JAR Compatibility Assessment — 138 Production JARs</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Individually assessed for CVE severity, Java 17 readiness, Jakarta EE compatibility</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960120"/>
            <a:ext cx="2103120" cy="18288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960120"/>
            <a:ext cx="2103120" cy="109728"/>
          </a:xfrm>
          <a:prstGeom prst="rect">
            <a:avLst/>
          </a:prstGeom>
          <a:solidFill>
            <a:srgbClr val="C0392B"/>
          </a:solidFill>
          <a:ln w="12700">
            <a:solidFill>
              <a:srgbClr val="C0392B"/>
            </a:solidFill>
            <a:prstDash val="solid"/>
          </a:ln>
        </p:spPr>
      </p:sp>
      <p:sp>
        <p:nvSpPr>
          <p:cNvPr id="9" name="Text 7"/>
          <p:cNvSpPr/>
          <p:nvPr/>
        </p:nvSpPr>
        <p:spPr>
          <a:xfrm>
            <a:off x="365760" y="1115568"/>
            <a:ext cx="2103120" cy="868680"/>
          </a:xfrm>
          <a:prstGeom prst="rect">
            <a:avLst/>
          </a:prstGeom>
          <a:noFill/>
          <a:ln/>
        </p:spPr>
        <p:txBody>
          <a:bodyPr wrap="square" lIns="0" tIns="0" rIns="0" bIns="0" rtlCol="0" anchor="ctr"/>
          <a:lstStyle/>
          <a:p>
            <a:pPr algn="ctr" indent="0" marL="0">
              <a:buNone/>
            </a:pPr>
            <a:r>
              <a:rPr lang="en-US" sz="5400" b="1" dirty="0">
                <a:solidFill>
                  <a:srgbClr val="C0392B"/>
                </a:solidFill>
                <a:latin typeface="Calibri" pitchFamily="34" charset="0"/>
                <a:ea typeface="Calibri" pitchFamily="34" charset="-122"/>
                <a:cs typeface="Calibri" pitchFamily="34" charset="-120"/>
              </a:rPr>
              <a:t>33</a:t>
            </a:r>
            <a:endParaRPr lang="en-US" sz="5400" dirty="0"/>
          </a:p>
        </p:txBody>
      </p:sp>
      <p:sp>
        <p:nvSpPr>
          <p:cNvPr id="10" name="Text 8"/>
          <p:cNvSpPr/>
          <p:nvPr/>
        </p:nvSpPr>
        <p:spPr>
          <a:xfrm>
            <a:off x="365760" y="1938528"/>
            <a:ext cx="2103120" cy="274320"/>
          </a:xfrm>
          <a:prstGeom prst="rect">
            <a:avLst/>
          </a:prstGeom>
          <a:noFill/>
          <a:ln/>
        </p:spPr>
        <p:txBody>
          <a:bodyPr wrap="square" lIns="0" tIns="0" rIns="0" bIns="0" rtlCol="0" anchor="ctr"/>
          <a:lstStyle/>
          <a:p>
            <a:pPr algn="ctr" indent="0" marL="0">
              <a:buNone/>
            </a:pPr>
            <a:r>
              <a:rPr lang="en-US" sz="1100" b="1" dirty="0">
                <a:solidFill>
                  <a:srgbClr val="1A2A3A"/>
                </a:solidFill>
                <a:latin typeface="Calibri" pitchFamily="34" charset="0"/>
                <a:ea typeface="Calibri" pitchFamily="34" charset="-122"/>
                <a:cs typeface="Calibri" pitchFamily="34" charset="-120"/>
              </a:rPr>
              <a:t>CRITICAL</a:t>
            </a:r>
            <a:endParaRPr lang="en-US" sz="1100" dirty="0"/>
          </a:p>
        </p:txBody>
      </p:sp>
      <p:sp>
        <p:nvSpPr>
          <p:cNvPr id="11" name="Text 9"/>
          <p:cNvSpPr/>
          <p:nvPr/>
        </p:nvSpPr>
        <p:spPr>
          <a:xfrm>
            <a:off x="365760" y="2221992"/>
            <a:ext cx="2103120" cy="320040"/>
          </a:xfrm>
          <a:prstGeom prst="rect">
            <a:avLst/>
          </a:prstGeom>
          <a:noFill/>
          <a:ln/>
        </p:spPr>
        <p:txBody>
          <a:bodyPr wrap="square" lIns="0" tIns="0" rIns="0" bIns="0" rtlCol="0" anchor="ctr"/>
          <a:lstStyle/>
          <a:p>
            <a:pPr algn="ctr" indent="0" marL="0">
              <a:buNone/>
            </a:pPr>
            <a:r>
              <a:rPr lang="en-US" sz="850" dirty="0">
                <a:solidFill>
                  <a:srgbClr val="8FA3BF"/>
                </a:solidFill>
                <a:latin typeface="Calibri" pitchFamily="34" charset="0"/>
                <a:ea typeface="Calibri" pitchFamily="34" charset="-122"/>
                <a:cs typeface="Calibri" pitchFamily="34" charset="-120"/>
              </a:rPr>
              <a:t>CVE active / breaking change</a:t>
            </a:r>
            <a:endParaRPr lang="en-US" sz="850" dirty="0"/>
          </a:p>
        </p:txBody>
      </p:sp>
      <p:sp>
        <p:nvSpPr>
          <p:cNvPr id="12" name="Shape 10"/>
          <p:cNvSpPr/>
          <p:nvPr/>
        </p:nvSpPr>
        <p:spPr>
          <a:xfrm>
            <a:off x="2697480" y="960120"/>
            <a:ext cx="2103120" cy="18288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697480" y="960120"/>
            <a:ext cx="2103120" cy="109728"/>
          </a:xfrm>
          <a:prstGeom prst="rect">
            <a:avLst/>
          </a:prstGeom>
          <a:solidFill>
            <a:srgbClr val="D4A017"/>
          </a:solidFill>
          <a:ln w="12700">
            <a:solidFill>
              <a:srgbClr val="D4A017"/>
            </a:solidFill>
            <a:prstDash val="solid"/>
          </a:ln>
        </p:spPr>
      </p:sp>
      <p:sp>
        <p:nvSpPr>
          <p:cNvPr id="14" name="Text 12"/>
          <p:cNvSpPr/>
          <p:nvPr/>
        </p:nvSpPr>
        <p:spPr>
          <a:xfrm>
            <a:off x="2697480" y="1115568"/>
            <a:ext cx="2103120" cy="868680"/>
          </a:xfrm>
          <a:prstGeom prst="rect">
            <a:avLst/>
          </a:prstGeom>
          <a:noFill/>
          <a:ln/>
        </p:spPr>
        <p:txBody>
          <a:bodyPr wrap="square" lIns="0" tIns="0" rIns="0" bIns="0" rtlCol="0" anchor="ctr"/>
          <a:lstStyle/>
          <a:p>
            <a:pPr algn="ctr" indent="0" marL="0">
              <a:buNone/>
            </a:pPr>
            <a:r>
              <a:rPr lang="en-US" sz="5400" b="1" dirty="0">
                <a:solidFill>
                  <a:srgbClr val="D4A017"/>
                </a:solidFill>
                <a:latin typeface="Calibri" pitchFamily="34" charset="0"/>
                <a:ea typeface="Calibri" pitchFamily="34" charset="-122"/>
                <a:cs typeface="Calibri" pitchFamily="34" charset="-120"/>
              </a:rPr>
              <a:t>52</a:t>
            </a:r>
            <a:endParaRPr lang="en-US" sz="5400" dirty="0"/>
          </a:p>
        </p:txBody>
      </p:sp>
      <p:sp>
        <p:nvSpPr>
          <p:cNvPr id="15" name="Text 13"/>
          <p:cNvSpPr/>
          <p:nvPr/>
        </p:nvSpPr>
        <p:spPr>
          <a:xfrm>
            <a:off x="2697480" y="1938528"/>
            <a:ext cx="2103120" cy="274320"/>
          </a:xfrm>
          <a:prstGeom prst="rect">
            <a:avLst/>
          </a:prstGeom>
          <a:noFill/>
          <a:ln/>
        </p:spPr>
        <p:txBody>
          <a:bodyPr wrap="square" lIns="0" tIns="0" rIns="0" bIns="0" rtlCol="0" anchor="ctr"/>
          <a:lstStyle/>
          <a:p>
            <a:pPr algn="ctr" indent="0" marL="0">
              <a:buNone/>
            </a:pPr>
            <a:r>
              <a:rPr lang="en-US" sz="1100" b="1" dirty="0">
                <a:solidFill>
                  <a:srgbClr val="1A2A3A"/>
                </a:solidFill>
                <a:latin typeface="Calibri" pitchFamily="34" charset="0"/>
                <a:ea typeface="Calibri" pitchFamily="34" charset="-122"/>
                <a:cs typeface="Calibri" pitchFamily="34" charset="-120"/>
              </a:rPr>
              <a:t>UPGRADE</a:t>
            </a:r>
            <a:endParaRPr lang="en-US" sz="1100" dirty="0"/>
          </a:p>
        </p:txBody>
      </p:sp>
      <p:sp>
        <p:nvSpPr>
          <p:cNvPr id="16" name="Text 14"/>
          <p:cNvSpPr/>
          <p:nvPr/>
        </p:nvSpPr>
        <p:spPr>
          <a:xfrm>
            <a:off x="2697480" y="2221992"/>
            <a:ext cx="2103120" cy="320040"/>
          </a:xfrm>
          <a:prstGeom prst="rect">
            <a:avLst/>
          </a:prstGeom>
          <a:noFill/>
          <a:ln/>
        </p:spPr>
        <p:txBody>
          <a:bodyPr wrap="square" lIns="0" tIns="0" rIns="0" bIns="0" rtlCol="0" anchor="ctr"/>
          <a:lstStyle/>
          <a:p>
            <a:pPr algn="ctr" indent="0" marL="0">
              <a:buNone/>
            </a:pPr>
            <a:r>
              <a:rPr lang="en-US" sz="850" dirty="0">
                <a:solidFill>
                  <a:srgbClr val="8FA3BF"/>
                </a:solidFill>
                <a:latin typeface="Calibri" pitchFamily="34" charset="0"/>
                <a:ea typeface="Calibri" pitchFamily="34" charset="-122"/>
                <a:cs typeface="Calibri" pitchFamily="34" charset="-120"/>
              </a:rPr>
              <a:t>Compatible with upgrade path</a:t>
            </a:r>
            <a:endParaRPr lang="en-US" sz="850" dirty="0"/>
          </a:p>
        </p:txBody>
      </p:sp>
      <p:sp>
        <p:nvSpPr>
          <p:cNvPr id="17" name="Shape 15"/>
          <p:cNvSpPr/>
          <p:nvPr/>
        </p:nvSpPr>
        <p:spPr>
          <a:xfrm>
            <a:off x="5029200" y="960120"/>
            <a:ext cx="2103120" cy="18288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5029200" y="960120"/>
            <a:ext cx="2103120" cy="109728"/>
          </a:xfrm>
          <a:prstGeom prst="rect">
            <a:avLst/>
          </a:prstGeom>
          <a:solidFill>
            <a:srgbClr val="2C6FAC"/>
          </a:solidFill>
          <a:ln w="12700">
            <a:solidFill>
              <a:srgbClr val="2C6FAC"/>
            </a:solidFill>
            <a:prstDash val="solid"/>
          </a:ln>
        </p:spPr>
      </p:sp>
      <p:sp>
        <p:nvSpPr>
          <p:cNvPr id="19" name="Text 17"/>
          <p:cNvSpPr/>
          <p:nvPr/>
        </p:nvSpPr>
        <p:spPr>
          <a:xfrm>
            <a:off x="5029200" y="1115568"/>
            <a:ext cx="2103120" cy="868680"/>
          </a:xfrm>
          <a:prstGeom prst="rect">
            <a:avLst/>
          </a:prstGeom>
          <a:noFill/>
          <a:ln/>
        </p:spPr>
        <p:txBody>
          <a:bodyPr wrap="square" lIns="0" tIns="0" rIns="0" bIns="0" rtlCol="0" anchor="ctr"/>
          <a:lstStyle/>
          <a:p>
            <a:pPr algn="ctr" indent="0" marL="0">
              <a:buNone/>
            </a:pPr>
            <a:r>
              <a:rPr lang="en-US" sz="5400" b="1" dirty="0">
                <a:solidFill>
                  <a:srgbClr val="2C6FAC"/>
                </a:solidFill>
                <a:latin typeface="Calibri" pitchFamily="34" charset="0"/>
                <a:ea typeface="Calibri" pitchFamily="34" charset="-122"/>
                <a:cs typeface="Calibri" pitchFamily="34" charset="-120"/>
              </a:rPr>
              <a:t>28</a:t>
            </a:r>
            <a:endParaRPr lang="en-US" sz="5400" dirty="0"/>
          </a:p>
        </p:txBody>
      </p:sp>
      <p:sp>
        <p:nvSpPr>
          <p:cNvPr id="20" name="Text 18"/>
          <p:cNvSpPr/>
          <p:nvPr/>
        </p:nvSpPr>
        <p:spPr>
          <a:xfrm>
            <a:off x="5029200" y="1938528"/>
            <a:ext cx="2103120" cy="274320"/>
          </a:xfrm>
          <a:prstGeom prst="rect">
            <a:avLst/>
          </a:prstGeom>
          <a:noFill/>
          <a:ln/>
        </p:spPr>
        <p:txBody>
          <a:bodyPr wrap="square" lIns="0" tIns="0" rIns="0" bIns="0" rtlCol="0" anchor="ctr"/>
          <a:lstStyle/>
          <a:p>
            <a:pPr algn="ctr" indent="0" marL="0">
              <a:buNone/>
            </a:pPr>
            <a:r>
              <a:rPr lang="en-US" sz="1100" b="1" dirty="0">
                <a:solidFill>
                  <a:srgbClr val="1A2A3A"/>
                </a:solidFill>
                <a:latin typeface="Calibri" pitchFamily="34" charset="0"/>
                <a:ea typeface="Calibri" pitchFamily="34" charset="-122"/>
                <a:cs typeface="Calibri" pitchFamily="34" charset="-120"/>
              </a:rPr>
              <a:t>REBUILD</a:t>
            </a:r>
            <a:endParaRPr lang="en-US" sz="1100" dirty="0"/>
          </a:p>
        </p:txBody>
      </p:sp>
      <p:sp>
        <p:nvSpPr>
          <p:cNvPr id="21" name="Text 19"/>
          <p:cNvSpPr/>
          <p:nvPr/>
        </p:nvSpPr>
        <p:spPr>
          <a:xfrm>
            <a:off x="5029200" y="2221992"/>
            <a:ext cx="2103120" cy="320040"/>
          </a:xfrm>
          <a:prstGeom prst="rect">
            <a:avLst/>
          </a:prstGeom>
          <a:noFill/>
          <a:ln/>
        </p:spPr>
        <p:txBody>
          <a:bodyPr wrap="square" lIns="0" tIns="0" rIns="0" bIns="0" rtlCol="0" anchor="ctr"/>
          <a:lstStyle/>
          <a:p>
            <a:pPr algn="ctr" indent="0" marL="0">
              <a:buNone/>
            </a:pPr>
            <a:r>
              <a:rPr lang="en-US" sz="850" dirty="0">
                <a:solidFill>
                  <a:srgbClr val="8FA3BF"/>
                </a:solidFill>
                <a:latin typeface="Calibri" pitchFamily="34" charset="0"/>
                <a:ea typeface="Calibri" pitchFamily="34" charset="-122"/>
                <a:cs typeface="Calibri" pitchFamily="34" charset="-120"/>
              </a:rPr>
              <a:t>Internal JARs needing recompile</a:t>
            </a:r>
            <a:endParaRPr lang="en-US" sz="850" dirty="0"/>
          </a:p>
        </p:txBody>
      </p:sp>
      <p:sp>
        <p:nvSpPr>
          <p:cNvPr id="22" name="Shape 20"/>
          <p:cNvSpPr/>
          <p:nvPr/>
        </p:nvSpPr>
        <p:spPr>
          <a:xfrm>
            <a:off x="7360920" y="960120"/>
            <a:ext cx="2103120" cy="18288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7360920" y="960120"/>
            <a:ext cx="2103120" cy="109728"/>
          </a:xfrm>
          <a:prstGeom prst="rect">
            <a:avLst/>
          </a:prstGeom>
          <a:solidFill>
            <a:srgbClr val="0D7377"/>
          </a:solidFill>
          <a:ln w="12700">
            <a:solidFill>
              <a:srgbClr val="0D7377"/>
            </a:solidFill>
            <a:prstDash val="solid"/>
          </a:ln>
        </p:spPr>
      </p:sp>
      <p:sp>
        <p:nvSpPr>
          <p:cNvPr id="24" name="Text 22"/>
          <p:cNvSpPr/>
          <p:nvPr/>
        </p:nvSpPr>
        <p:spPr>
          <a:xfrm>
            <a:off x="7360920" y="1115568"/>
            <a:ext cx="2103120" cy="868680"/>
          </a:xfrm>
          <a:prstGeom prst="rect">
            <a:avLst/>
          </a:prstGeom>
          <a:noFill/>
          <a:ln/>
        </p:spPr>
        <p:txBody>
          <a:bodyPr wrap="square" lIns="0" tIns="0" rIns="0" bIns="0" rtlCol="0" anchor="ctr"/>
          <a:lstStyle/>
          <a:p>
            <a:pPr algn="ctr" indent="0" marL="0">
              <a:buNone/>
            </a:pPr>
            <a:r>
              <a:rPr lang="en-US" sz="5400" b="1" dirty="0">
                <a:solidFill>
                  <a:srgbClr val="0D7377"/>
                </a:solidFill>
                <a:latin typeface="Calibri" pitchFamily="34" charset="0"/>
                <a:ea typeface="Calibri" pitchFamily="34" charset="-122"/>
                <a:cs typeface="Calibri" pitchFamily="34" charset="-120"/>
              </a:rPr>
              <a:t>12</a:t>
            </a:r>
            <a:endParaRPr lang="en-US" sz="5400" dirty="0"/>
          </a:p>
        </p:txBody>
      </p:sp>
      <p:sp>
        <p:nvSpPr>
          <p:cNvPr id="25" name="Text 23"/>
          <p:cNvSpPr/>
          <p:nvPr/>
        </p:nvSpPr>
        <p:spPr>
          <a:xfrm>
            <a:off x="7360920" y="1938528"/>
            <a:ext cx="2103120" cy="274320"/>
          </a:xfrm>
          <a:prstGeom prst="rect">
            <a:avLst/>
          </a:prstGeom>
          <a:noFill/>
          <a:ln/>
        </p:spPr>
        <p:txBody>
          <a:bodyPr wrap="square" lIns="0" tIns="0" rIns="0" bIns="0" rtlCol="0" anchor="ctr"/>
          <a:lstStyle/>
          <a:p>
            <a:pPr algn="ctr" indent="0" marL="0">
              <a:buNone/>
            </a:pPr>
            <a:r>
              <a:rPr lang="en-US" sz="1100" b="1" dirty="0">
                <a:solidFill>
                  <a:srgbClr val="1A2A3A"/>
                </a:solidFill>
                <a:latin typeface="Calibri" pitchFamily="34" charset="0"/>
                <a:ea typeface="Calibri" pitchFamily="34" charset="-122"/>
                <a:cs typeface="Calibri" pitchFamily="34" charset="-120"/>
              </a:rPr>
              <a:t>VERIFY</a:t>
            </a:r>
            <a:endParaRPr lang="en-US" sz="1100" dirty="0"/>
          </a:p>
        </p:txBody>
      </p:sp>
      <p:sp>
        <p:nvSpPr>
          <p:cNvPr id="26" name="Text 24"/>
          <p:cNvSpPr/>
          <p:nvPr/>
        </p:nvSpPr>
        <p:spPr>
          <a:xfrm>
            <a:off x="7360920" y="2221992"/>
            <a:ext cx="2103120" cy="320040"/>
          </a:xfrm>
          <a:prstGeom prst="rect">
            <a:avLst/>
          </a:prstGeom>
          <a:noFill/>
          <a:ln/>
        </p:spPr>
        <p:txBody>
          <a:bodyPr wrap="square" lIns="0" tIns="0" rIns="0" bIns="0" rtlCol="0" anchor="ctr"/>
          <a:lstStyle/>
          <a:p>
            <a:pPr algn="ctr" indent="0" marL="0">
              <a:buNone/>
            </a:pPr>
            <a:r>
              <a:rPr lang="en-US" sz="850" dirty="0">
                <a:solidFill>
                  <a:srgbClr val="8FA3BF"/>
                </a:solidFill>
                <a:latin typeface="Calibri" pitchFamily="34" charset="0"/>
                <a:ea typeface="Calibri" pitchFamily="34" charset="-122"/>
                <a:cs typeface="Calibri" pitchFamily="34" charset="-120"/>
              </a:rPr>
              <a:t>Needs runtime verification</a:t>
            </a:r>
            <a:endParaRPr lang="en-US" sz="850" dirty="0"/>
          </a:p>
        </p:txBody>
      </p:sp>
      <p:sp>
        <p:nvSpPr>
          <p:cNvPr id="27" name="Shape 25"/>
          <p:cNvSpPr/>
          <p:nvPr/>
        </p:nvSpPr>
        <p:spPr>
          <a:xfrm>
            <a:off x="9692640" y="960120"/>
            <a:ext cx="2103120" cy="18288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9692640" y="960120"/>
            <a:ext cx="2103120" cy="109728"/>
          </a:xfrm>
          <a:prstGeom prst="rect">
            <a:avLst/>
          </a:prstGeom>
          <a:solidFill>
            <a:srgbClr val="1A7A4A"/>
          </a:solidFill>
          <a:ln w="12700">
            <a:solidFill>
              <a:srgbClr val="1A7A4A"/>
            </a:solidFill>
            <a:prstDash val="solid"/>
          </a:ln>
        </p:spPr>
      </p:sp>
      <p:sp>
        <p:nvSpPr>
          <p:cNvPr id="29" name="Text 27"/>
          <p:cNvSpPr/>
          <p:nvPr/>
        </p:nvSpPr>
        <p:spPr>
          <a:xfrm>
            <a:off x="9692640" y="1115568"/>
            <a:ext cx="2103120" cy="868680"/>
          </a:xfrm>
          <a:prstGeom prst="rect">
            <a:avLst/>
          </a:prstGeom>
          <a:noFill/>
          <a:ln/>
        </p:spPr>
        <p:txBody>
          <a:bodyPr wrap="square" lIns="0" tIns="0" rIns="0" bIns="0" rtlCol="0" anchor="ctr"/>
          <a:lstStyle/>
          <a:p>
            <a:pPr algn="ctr" indent="0" marL="0">
              <a:buNone/>
            </a:pPr>
            <a:r>
              <a:rPr lang="en-US" sz="5400" b="1" dirty="0">
                <a:solidFill>
                  <a:srgbClr val="1A7A4A"/>
                </a:solidFill>
                <a:latin typeface="Calibri" pitchFamily="34" charset="0"/>
                <a:ea typeface="Calibri" pitchFamily="34" charset="-122"/>
                <a:cs typeface="Calibri" pitchFamily="34" charset="-120"/>
              </a:rPr>
              <a:t>13</a:t>
            </a:r>
            <a:endParaRPr lang="en-US" sz="5400" dirty="0"/>
          </a:p>
        </p:txBody>
      </p:sp>
      <p:sp>
        <p:nvSpPr>
          <p:cNvPr id="30" name="Text 28"/>
          <p:cNvSpPr/>
          <p:nvPr/>
        </p:nvSpPr>
        <p:spPr>
          <a:xfrm>
            <a:off x="9692640" y="1938528"/>
            <a:ext cx="2103120" cy="274320"/>
          </a:xfrm>
          <a:prstGeom prst="rect">
            <a:avLst/>
          </a:prstGeom>
          <a:noFill/>
          <a:ln/>
        </p:spPr>
        <p:txBody>
          <a:bodyPr wrap="square" lIns="0" tIns="0" rIns="0" bIns="0" rtlCol="0" anchor="ctr"/>
          <a:lstStyle/>
          <a:p>
            <a:pPr algn="ctr" indent="0" marL="0">
              <a:buNone/>
            </a:pPr>
            <a:r>
              <a:rPr lang="en-US" sz="1100" b="1" dirty="0">
                <a:solidFill>
                  <a:srgbClr val="1A2A3A"/>
                </a:solidFill>
                <a:latin typeface="Calibri" pitchFamily="34" charset="0"/>
                <a:ea typeface="Calibri" pitchFamily="34" charset="-122"/>
                <a:cs typeface="Calibri" pitchFamily="34" charset="-120"/>
              </a:rPr>
              <a:t>SAFE ✓</a:t>
            </a:r>
            <a:endParaRPr lang="en-US" sz="1100" dirty="0"/>
          </a:p>
        </p:txBody>
      </p:sp>
      <p:sp>
        <p:nvSpPr>
          <p:cNvPr id="31" name="Text 29"/>
          <p:cNvSpPr/>
          <p:nvPr/>
        </p:nvSpPr>
        <p:spPr>
          <a:xfrm>
            <a:off x="9692640" y="2221992"/>
            <a:ext cx="2103120" cy="320040"/>
          </a:xfrm>
          <a:prstGeom prst="rect">
            <a:avLst/>
          </a:prstGeom>
          <a:noFill/>
          <a:ln/>
        </p:spPr>
        <p:txBody>
          <a:bodyPr wrap="square" lIns="0" tIns="0" rIns="0" bIns="0" rtlCol="0" anchor="ctr"/>
          <a:lstStyle/>
          <a:p>
            <a:pPr algn="ctr" indent="0" marL="0">
              <a:buNone/>
            </a:pPr>
            <a:r>
              <a:rPr lang="en-US" sz="850" dirty="0">
                <a:solidFill>
                  <a:srgbClr val="8FA3BF"/>
                </a:solidFill>
                <a:latin typeface="Calibri" pitchFamily="34" charset="0"/>
                <a:ea typeface="Calibri" pitchFamily="34" charset="-122"/>
                <a:cs typeface="Calibri" pitchFamily="34" charset="-120"/>
              </a:rPr>
              <a:t>No changes required</a:t>
            </a:r>
            <a:endParaRPr lang="en-US" sz="850" dirty="0"/>
          </a:p>
        </p:txBody>
      </p:sp>
      <p:sp>
        <p:nvSpPr>
          <p:cNvPr id="32" name="Shape 30"/>
          <p:cNvSpPr/>
          <p:nvPr/>
        </p:nvSpPr>
        <p:spPr>
          <a:xfrm>
            <a:off x="365760" y="2926080"/>
            <a:ext cx="5394960" cy="3200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365760" y="2926080"/>
            <a:ext cx="5394960" cy="384048"/>
          </a:xfrm>
          <a:prstGeom prst="rect">
            <a:avLst/>
          </a:prstGeom>
          <a:solidFill>
            <a:srgbClr val="C0392B"/>
          </a:solidFill>
          <a:ln w="12700">
            <a:solidFill>
              <a:srgbClr val="C0392B"/>
            </a:solidFill>
            <a:prstDash val="solid"/>
          </a:ln>
        </p:spPr>
      </p:sp>
      <p:sp>
        <p:nvSpPr>
          <p:cNvPr id="34" name="Text 32"/>
          <p:cNvSpPr/>
          <p:nvPr/>
        </p:nvSpPr>
        <p:spPr>
          <a:xfrm>
            <a:off x="502920" y="2953512"/>
            <a:ext cx="51206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IMMEDIATE ACTIONS REQUIRED (before any migration begins)</a:t>
            </a:r>
            <a:endParaRPr lang="en-US" sz="1100" dirty="0"/>
          </a:p>
        </p:txBody>
      </p:sp>
      <p:sp>
        <p:nvSpPr>
          <p:cNvPr id="35" name="Shape 33"/>
          <p:cNvSpPr/>
          <p:nvPr/>
        </p:nvSpPr>
        <p:spPr>
          <a:xfrm>
            <a:off x="475488" y="3410712"/>
            <a:ext cx="73152" cy="228600"/>
          </a:xfrm>
          <a:prstGeom prst="rect">
            <a:avLst/>
          </a:prstGeom>
          <a:solidFill>
            <a:srgbClr val="C0392B"/>
          </a:solidFill>
          <a:ln w="12700">
            <a:solidFill>
              <a:srgbClr val="C0392B"/>
            </a:solidFill>
            <a:prstDash val="solid"/>
          </a:ln>
        </p:spPr>
      </p:sp>
      <p:sp>
        <p:nvSpPr>
          <p:cNvPr id="36" name="Text 34"/>
          <p:cNvSpPr/>
          <p:nvPr/>
        </p:nvSpPr>
        <p:spPr>
          <a:xfrm>
            <a:off x="640080" y="3410712"/>
            <a:ext cx="498348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log4j-1.2.17.jar — CRITICAL CVE (CVE-2021-44228 RCE) — replace with log4j2 NOW</a:t>
            </a:r>
            <a:endParaRPr lang="en-US" sz="1000" dirty="0"/>
          </a:p>
        </p:txBody>
      </p:sp>
      <p:sp>
        <p:nvSpPr>
          <p:cNvPr id="37" name="Shape 35"/>
          <p:cNvSpPr/>
          <p:nvPr/>
        </p:nvSpPr>
        <p:spPr>
          <a:xfrm>
            <a:off x="475488" y="3840480"/>
            <a:ext cx="73152" cy="228600"/>
          </a:xfrm>
          <a:prstGeom prst="rect">
            <a:avLst/>
          </a:prstGeom>
          <a:solidFill>
            <a:srgbClr val="C0392B"/>
          </a:solidFill>
          <a:ln w="12700">
            <a:solidFill>
              <a:srgbClr val="C0392B"/>
            </a:solidFill>
            <a:prstDash val="solid"/>
          </a:ln>
        </p:spPr>
      </p:sp>
      <p:sp>
        <p:nvSpPr>
          <p:cNvPr id="38" name="Text 36"/>
          <p:cNvSpPr/>
          <p:nvPr/>
        </p:nvSpPr>
        <p:spPr>
          <a:xfrm>
            <a:off x="640080" y="3840480"/>
            <a:ext cx="498348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devtools.jar — Development JAR in production — immediate security risk</a:t>
            </a:r>
            <a:endParaRPr lang="en-US" sz="1000" dirty="0"/>
          </a:p>
        </p:txBody>
      </p:sp>
      <p:sp>
        <p:nvSpPr>
          <p:cNvPr id="39" name="Shape 37"/>
          <p:cNvSpPr/>
          <p:nvPr/>
        </p:nvSpPr>
        <p:spPr>
          <a:xfrm>
            <a:off x="475488" y="4270248"/>
            <a:ext cx="73152" cy="228600"/>
          </a:xfrm>
          <a:prstGeom prst="rect">
            <a:avLst/>
          </a:prstGeom>
          <a:solidFill>
            <a:srgbClr val="C0392B"/>
          </a:solidFill>
          <a:ln w="12700">
            <a:solidFill>
              <a:srgbClr val="C0392B"/>
            </a:solidFill>
            <a:prstDash val="solid"/>
          </a:ln>
        </p:spPr>
      </p:sp>
      <p:sp>
        <p:nvSpPr>
          <p:cNvPr id="40" name="Text 38"/>
          <p:cNvSpPr/>
          <p:nvPr/>
        </p:nvSpPr>
        <p:spPr>
          <a:xfrm>
            <a:off x="640080" y="4270248"/>
            <a:ext cx="498348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utils-SNAPSHOT.jar — SNAPSHOT in production — unstable, untested version</a:t>
            </a:r>
            <a:endParaRPr lang="en-US" sz="1000" dirty="0"/>
          </a:p>
        </p:txBody>
      </p:sp>
      <p:sp>
        <p:nvSpPr>
          <p:cNvPr id="41" name="Shape 39"/>
          <p:cNvSpPr/>
          <p:nvPr/>
        </p:nvSpPr>
        <p:spPr>
          <a:xfrm>
            <a:off x="475488" y="4700016"/>
            <a:ext cx="73152" cy="228600"/>
          </a:xfrm>
          <a:prstGeom prst="rect">
            <a:avLst/>
          </a:prstGeom>
          <a:solidFill>
            <a:srgbClr val="C0392B"/>
          </a:solidFill>
          <a:ln w="12700">
            <a:solidFill>
              <a:srgbClr val="C0392B"/>
            </a:solidFill>
            <a:prstDash val="solid"/>
          </a:ln>
        </p:spPr>
      </p:sp>
      <p:sp>
        <p:nvSpPr>
          <p:cNvPr id="42" name="Text 40"/>
          <p:cNvSpPr/>
          <p:nvPr/>
        </p:nvSpPr>
        <p:spPr>
          <a:xfrm>
            <a:off x="640080" y="4700016"/>
            <a:ext cx="498348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esapi-SNAPSHOT.jar — Security library as SNAPSHOT — critical vulnerability exposure</a:t>
            </a:r>
            <a:endParaRPr lang="en-US" sz="1000" dirty="0"/>
          </a:p>
        </p:txBody>
      </p:sp>
      <p:sp>
        <p:nvSpPr>
          <p:cNvPr id="43" name="Shape 41"/>
          <p:cNvSpPr/>
          <p:nvPr/>
        </p:nvSpPr>
        <p:spPr>
          <a:xfrm>
            <a:off x="475488" y="5129784"/>
            <a:ext cx="73152" cy="228600"/>
          </a:xfrm>
          <a:prstGeom prst="rect">
            <a:avLst/>
          </a:prstGeom>
          <a:solidFill>
            <a:srgbClr val="C0392B"/>
          </a:solidFill>
          <a:ln w="12700">
            <a:solidFill>
              <a:srgbClr val="C0392B"/>
            </a:solidFill>
            <a:prstDash val="solid"/>
          </a:ln>
        </p:spPr>
      </p:sp>
      <p:sp>
        <p:nvSpPr>
          <p:cNvPr id="44" name="Text 42"/>
          <p:cNvSpPr/>
          <p:nvPr/>
        </p:nvSpPr>
        <p:spPr>
          <a:xfrm>
            <a:off x="640080" y="5129784"/>
            <a:ext cx="4983480" cy="347472"/>
          </a:xfrm>
          <a:prstGeom prst="rect">
            <a:avLst/>
          </a:prstGeom>
          <a:noFill/>
          <a:ln/>
        </p:spPr>
        <p:txBody>
          <a:bodyPr wrap="square" lIns="0" tIns="0" rIns="0" bIns="0" rtlCol="0" anchor="ctr"/>
          <a:lstStyle/>
          <a:p>
            <a:pPr indent="0" marL="0">
              <a:buNone/>
            </a:pPr>
            <a:r>
              <a:rPr lang="en-US" sz="1000" dirty="0">
                <a:solidFill>
                  <a:srgbClr val="1A2A3A"/>
                </a:solidFill>
                <a:latin typeface="Calibri" pitchFamily="34" charset="0"/>
                <a:ea typeface="Calibri" pitchFamily="34" charset="-122"/>
                <a:cs typeface="Calibri" pitchFamily="34" charset="-120"/>
              </a:rPr>
              <a:t>xalan-2.7.2.jar — Upgrade to 2.7.3 (minimum) for Java 17 compatibility</a:t>
            </a:r>
            <a:endParaRPr lang="en-US" sz="1000" dirty="0"/>
          </a:p>
        </p:txBody>
      </p:sp>
      <p:sp>
        <p:nvSpPr>
          <p:cNvPr id="45" name="Shape 43"/>
          <p:cNvSpPr/>
          <p:nvPr/>
        </p:nvSpPr>
        <p:spPr>
          <a:xfrm>
            <a:off x="5989320" y="2926080"/>
            <a:ext cx="5852160" cy="3200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5989320" y="2926080"/>
            <a:ext cx="5852160" cy="384048"/>
          </a:xfrm>
          <a:prstGeom prst="rect">
            <a:avLst/>
          </a:prstGeom>
          <a:solidFill>
            <a:srgbClr val="003366"/>
          </a:solidFill>
          <a:ln w="12700">
            <a:solidFill>
              <a:srgbClr val="003366"/>
            </a:solidFill>
            <a:prstDash val="solid"/>
          </a:ln>
        </p:spPr>
      </p:sp>
      <p:sp>
        <p:nvSpPr>
          <p:cNvPr id="47" name="Text 45"/>
          <p:cNvSpPr/>
          <p:nvPr/>
        </p:nvSpPr>
        <p:spPr>
          <a:xfrm>
            <a:off x="6126480" y="2953512"/>
            <a:ext cx="557784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Key Upgrade Paths Identified</a:t>
            </a:r>
            <a:endParaRPr lang="en-US" sz="1100" dirty="0"/>
          </a:p>
        </p:txBody>
      </p:sp>
      <p:sp>
        <p:nvSpPr>
          <p:cNvPr id="48" name="Text 46"/>
          <p:cNvSpPr/>
          <p:nvPr/>
        </p:nvSpPr>
        <p:spPr>
          <a:xfrm>
            <a:off x="6126480" y="3429000"/>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commons-* libraries</a:t>
            </a:r>
            <a:endParaRPr lang="en-US" sz="950" dirty="0"/>
          </a:p>
        </p:txBody>
      </p:sp>
      <p:sp>
        <p:nvSpPr>
          <p:cNvPr id="49" name="Text 47"/>
          <p:cNvSpPr/>
          <p:nvPr/>
        </p:nvSpPr>
        <p:spPr>
          <a:xfrm>
            <a:off x="6126480" y="3630168"/>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Apache Commons → latest Jakarta-compatible versions</a:t>
            </a:r>
            <a:endParaRPr lang="en-US" sz="900" dirty="0"/>
          </a:p>
        </p:txBody>
      </p:sp>
      <p:sp>
        <p:nvSpPr>
          <p:cNvPr id="50" name="Text 48"/>
          <p:cNvSpPr/>
          <p:nvPr/>
        </p:nvSpPr>
        <p:spPr>
          <a:xfrm>
            <a:off x="6126480" y="3858768"/>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Spring MVC 4.2.9</a:t>
            </a:r>
            <a:endParaRPr lang="en-US" sz="950" dirty="0"/>
          </a:p>
        </p:txBody>
      </p:sp>
      <p:sp>
        <p:nvSpPr>
          <p:cNvPr id="51" name="Text 49"/>
          <p:cNvSpPr/>
          <p:nvPr/>
        </p:nvSpPr>
        <p:spPr>
          <a:xfrm>
            <a:off x="6126480" y="4059936"/>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Spring 6.x (Jakarta EE) — WSService layer upgrade</a:t>
            </a:r>
            <a:endParaRPr lang="en-US" sz="900" dirty="0"/>
          </a:p>
        </p:txBody>
      </p:sp>
      <p:sp>
        <p:nvSpPr>
          <p:cNvPr id="52" name="Text 50"/>
          <p:cNvSpPr/>
          <p:nvPr/>
        </p:nvSpPr>
        <p:spPr>
          <a:xfrm>
            <a:off x="6126480" y="4288536"/>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Springfox Swagger</a:t>
            </a:r>
            <a:endParaRPr lang="en-US" sz="950" dirty="0"/>
          </a:p>
        </p:txBody>
      </p:sp>
      <p:sp>
        <p:nvSpPr>
          <p:cNvPr id="53" name="Text 51"/>
          <p:cNvSpPr/>
          <p:nvPr/>
        </p:nvSpPr>
        <p:spPr>
          <a:xfrm>
            <a:off x="6126480" y="4489704"/>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NOT compatible with Spring 6 — replace with springdoc-openapi</a:t>
            </a:r>
            <a:endParaRPr lang="en-US" sz="900" dirty="0"/>
          </a:p>
        </p:txBody>
      </p:sp>
      <p:sp>
        <p:nvSpPr>
          <p:cNvPr id="54" name="Text 52"/>
          <p:cNvSpPr/>
          <p:nvPr/>
        </p:nvSpPr>
        <p:spPr>
          <a:xfrm>
            <a:off x="6126480" y="4718304"/>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fulcrum-parser 2.0.1</a:t>
            </a:r>
            <a:endParaRPr lang="en-US" sz="950" dirty="0"/>
          </a:p>
        </p:txBody>
      </p:sp>
      <p:sp>
        <p:nvSpPr>
          <p:cNvPr id="55" name="Text 53"/>
          <p:cNvSpPr/>
          <p:nvPr/>
        </p:nvSpPr>
        <p:spPr>
          <a:xfrm>
            <a:off x="6126480" y="4919472"/>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Must upgrade to 4.0.0 (javax → jakarta namespace)</a:t>
            </a:r>
            <a:endParaRPr lang="en-US" sz="900" dirty="0"/>
          </a:p>
        </p:txBody>
      </p:sp>
      <p:sp>
        <p:nvSpPr>
          <p:cNvPr id="56" name="Text 54"/>
          <p:cNvSpPr/>
          <p:nvPr/>
        </p:nvSpPr>
        <p:spPr>
          <a:xfrm>
            <a:off x="6126480" y="5148072"/>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Torque 3.1.1</a:t>
            </a:r>
            <a:endParaRPr lang="en-US" sz="950" dirty="0"/>
          </a:p>
        </p:txBody>
      </p:sp>
      <p:sp>
        <p:nvSpPr>
          <p:cNvPr id="57" name="Text 55"/>
          <p:cNvSpPr/>
          <p:nvPr/>
        </p:nvSpPr>
        <p:spPr>
          <a:xfrm>
            <a:off x="6126480" y="5349240"/>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Full API rewrite needed — Criteria, Peer, Village all changed</a:t>
            </a:r>
            <a:endParaRPr lang="en-US" sz="900" dirty="0"/>
          </a:p>
        </p:txBody>
      </p:sp>
      <p:sp>
        <p:nvSpPr>
          <p:cNvPr id="58" name="Text 56"/>
          <p:cNvSpPr/>
          <p:nvPr/>
        </p:nvSpPr>
        <p:spPr>
          <a:xfrm>
            <a:off x="6126480" y="5577840"/>
            <a:ext cx="1920240" cy="201168"/>
          </a:xfrm>
          <a:prstGeom prst="rect">
            <a:avLst/>
          </a:prstGeom>
          <a:noFill/>
          <a:ln/>
        </p:spPr>
        <p:txBody>
          <a:bodyPr wrap="square" lIns="0" tIns="0" rIns="0" bIns="0" rtlCol="0" anchor="ctr"/>
          <a:lstStyle/>
          <a:p>
            <a:pPr indent="0" marL="0">
              <a:buNone/>
            </a:pPr>
            <a:r>
              <a:rPr lang="en-US" sz="950" b="1" dirty="0">
                <a:solidFill>
                  <a:srgbClr val="1A4A7A"/>
                </a:solidFill>
                <a:latin typeface="Calibri" pitchFamily="34" charset="0"/>
                <a:ea typeface="Calibri" pitchFamily="34" charset="-122"/>
                <a:cs typeface="Calibri" pitchFamily="34" charset="-120"/>
              </a:rPr>
              <a:t>ECS 1.4.2</a:t>
            </a:r>
            <a:endParaRPr lang="en-US" sz="950" dirty="0"/>
          </a:p>
        </p:txBody>
      </p:sp>
      <p:sp>
        <p:nvSpPr>
          <p:cNvPr id="59" name="Text 57"/>
          <p:cNvSpPr/>
          <p:nvPr/>
        </p:nvSpPr>
        <p:spPr>
          <a:xfrm>
            <a:off x="6126480" y="5779008"/>
            <a:ext cx="5577840" cy="182880"/>
          </a:xfrm>
          <a:prstGeom prst="rect">
            <a:avLst/>
          </a:prstGeom>
          <a:noFill/>
          <a:ln/>
        </p:spPr>
        <p:txBody>
          <a:bodyPr wrap="square" lIns="0" tIns="0" rIns="0" bIns="0" rtlCol="0" anchor="ctr"/>
          <a:lstStyle/>
          <a:p>
            <a:pPr indent="0" marL="0">
              <a:buNone/>
            </a:pPr>
            <a:r>
              <a:rPr lang="en-US" sz="900" dirty="0">
                <a:solidFill>
                  <a:srgbClr val="1A2A3A"/>
                </a:solidFill>
                <a:latin typeface="Calibri" pitchFamily="34" charset="0"/>
                <a:ea typeface="Calibri" pitchFamily="34" charset="-122"/>
                <a:cs typeface="Calibri" pitchFamily="34" charset="-120"/>
              </a:rPr>
              <a:t>Confirmed working on Java 21 — NO changes needed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Turbine Service Migration Map — What Changes, What Breaks</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33 services assessed individually — colour coded by migration effort</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274320" y="960120"/>
            <a:ext cx="2560320" cy="320040"/>
          </a:xfrm>
          <a:prstGeom prst="rect">
            <a:avLst/>
          </a:prstGeom>
          <a:solidFill>
            <a:srgbClr val="003366"/>
          </a:solidFill>
          <a:ln w="12700">
            <a:solidFill>
              <a:srgbClr val="003366"/>
            </a:solidFill>
            <a:prstDash val="solid"/>
          </a:ln>
        </p:spPr>
      </p:sp>
      <p:sp>
        <p:nvSpPr>
          <p:cNvPr id="8" name="Text 6"/>
          <p:cNvSpPr/>
          <p:nvPr/>
        </p:nvSpPr>
        <p:spPr>
          <a:xfrm>
            <a:off x="320040" y="978408"/>
            <a:ext cx="246888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Service</a:t>
            </a:r>
            <a:endParaRPr lang="en-US" sz="900" dirty="0"/>
          </a:p>
        </p:txBody>
      </p:sp>
      <p:sp>
        <p:nvSpPr>
          <p:cNvPr id="9" name="Shape 7"/>
          <p:cNvSpPr/>
          <p:nvPr/>
        </p:nvSpPr>
        <p:spPr>
          <a:xfrm>
            <a:off x="2880360" y="960120"/>
            <a:ext cx="2286000" cy="320040"/>
          </a:xfrm>
          <a:prstGeom prst="rect">
            <a:avLst/>
          </a:prstGeom>
          <a:solidFill>
            <a:srgbClr val="003366"/>
          </a:solidFill>
          <a:ln w="12700">
            <a:solidFill>
              <a:srgbClr val="003366"/>
            </a:solidFill>
            <a:prstDash val="solid"/>
          </a:ln>
        </p:spPr>
      </p:sp>
      <p:sp>
        <p:nvSpPr>
          <p:cNvPr id="10" name="Text 8"/>
          <p:cNvSpPr/>
          <p:nvPr/>
        </p:nvSpPr>
        <p:spPr>
          <a:xfrm>
            <a:off x="2926080" y="978408"/>
            <a:ext cx="219456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Turbine 2.3.3</a:t>
            </a:r>
            <a:endParaRPr lang="en-US" sz="900" dirty="0"/>
          </a:p>
        </p:txBody>
      </p:sp>
      <p:sp>
        <p:nvSpPr>
          <p:cNvPr id="11" name="Shape 9"/>
          <p:cNvSpPr/>
          <p:nvPr/>
        </p:nvSpPr>
        <p:spPr>
          <a:xfrm>
            <a:off x="5212080" y="960120"/>
            <a:ext cx="3474720" cy="320040"/>
          </a:xfrm>
          <a:prstGeom prst="rect">
            <a:avLst/>
          </a:prstGeom>
          <a:solidFill>
            <a:srgbClr val="003366"/>
          </a:solidFill>
          <a:ln w="12700">
            <a:solidFill>
              <a:srgbClr val="003366"/>
            </a:solidFill>
            <a:prstDash val="solid"/>
          </a:ln>
        </p:spPr>
      </p:sp>
      <p:sp>
        <p:nvSpPr>
          <p:cNvPr id="12" name="Text 10"/>
          <p:cNvSpPr/>
          <p:nvPr/>
        </p:nvSpPr>
        <p:spPr>
          <a:xfrm>
            <a:off x="5257800" y="978408"/>
            <a:ext cx="338328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Turbine 7 Impact</a:t>
            </a:r>
            <a:endParaRPr lang="en-US" sz="900" dirty="0"/>
          </a:p>
        </p:txBody>
      </p:sp>
      <p:sp>
        <p:nvSpPr>
          <p:cNvPr id="13" name="Shape 11"/>
          <p:cNvSpPr/>
          <p:nvPr/>
        </p:nvSpPr>
        <p:spPr>
          <a:xfrm>
            <a:off x="8732520" y="960120"/>
            <a:ext cx="640080" cy="320040"/>
          </a:xfrm>
          <a:prstGeom prst="rect">
            <a:avLst/>
          </a:prstGeom>
          <a:solidFill>
            <a:srgbClr val="003366"/>
          </a:solidFill>
          <a:ln w="12700">
            <a:solidFill>
              <a:srgbClr val="003366"/>
            </a:solidFill>
            <a:prstDash val="solid"/>
          </a:ln>
        </p:spPr>
      </p:sp>
      <p:sp>
        <p:nvSpPr>
          <p:cNvPr id="14" name="Text 12"/>
          <p:cNvSpPr/>
          <p:nvPr/>
        </p:nvSpPr>
        <p:spPr>
          <a:xfrm>
            <a:off x="8778240" y="978408"/>
            <a:ext cx="54864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Effort</a:t>
            </a:r>
            <a:endParaRPr lang="en-US" sz="900" dirty="0"/>
          </a:p>
        </p:txBody>
      </p:sp>
      <p:sp>
        <p:nvSpPr>
          <p:cNvPr id="15" name="Shape 13"/>
          <p:cNvSpPr/>
          <p:nvPr/>
        </p:nvSpPr>
        <p:spPr>
          <a:xfrm>
            <a:off x="9418320" y="960120"/>
            <a:ext cx="822960" cy="320040"/>
          </a:xfrm>
          <a:prstGeom prst="rect">
            <a:avLst/>
          </a:prstGeom>
          <a:solidFill>
            <a:srgbClr val="003366"/>
          </a:solidFill>
          <a:ln w="12700">
            <a:solidFill>
              <a:srgbClr val="003366"/>
            </a:solidFill>
            <a:prstDash val="solid"/>
          </a:ln>
        </p:spPr>
      </p:sp>
      <p:sp>
        <p:nvSpPr>
          <p:cNvPr id="16" name="Text 14"/>
          <p:cNvSpPr/>
          <p:nvPr/>
        </p:nvSpPr>
        <p:spPr>
          <a:xfrm>
            <a:off x="9464040" y="978408"/>
            <a:ext cx="73152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Action</a:t>
            </a:r>
            <a:endParaRPr lang="en-US" sz="900" dirty="0"/>
          </a:p>
        </p:txBody>
      </p:sp>
      <p:sp>
        <p:nvSpPr>
          <p:cNvPr id="17" name="Shape 15"/>
          <p:cNvSpPr/>
          <p:nvPr/>
        </p:nvSpPr>
        <p:spPr>
          <a:xfrm>
            <a:off x="274320" y="1325880"/>
            <a:ext cx="11567160" cy="329184"/>
          </a:xfrm>
          <a:prstGeom prst="rect">
            <a:avLst/>
          </a:prstGeom>
          <a:solidFill>
            <a:srgbClr val="FFFFFF"/>
          </a:solidFill>
          <a:ln w="12700">
            <a:solidFill>
              <a:srgbClr val="E8ECF2"/>
            </a:solidFill>
            <a:prstDash val="solid"/>
          </a:ln>
        </p:spPr>
      </p:sp>
      <p:sp>
        <p:nvSpPr>
          <p:cNvPr id="18" name="Text 16"/>
          <p:cNvSpPr/>
          <p:nvPr/>
        </p:nvSpPr>
        <p:spPr>
          <a:xfrm>
            <a:off x="347472" y="1371600"/>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TurbinePoolService</a:t>
            </a:r>
            <a:endParaRPr lang="en-US" sz="900" dirty="0"/>
          </a:p>
        </p:txBody>
      </p:sp>
      <p:sp>
        <p:nvSpPr>
          <p:cNvPr id="19" name="Text 17"/>
          <p:cNvSpPr/>
          <p:nvPr/>
        </p:nvSpPr>
        <p:spPr>
          <a:xfrm>
            <a:off x="2926080" y="1371600"/>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org.apache.turbine.services.pool</a:t>
            </a:r>
            <a:endParaRPr lang="en-US" sz="850" dirty="0"/>
          </a:p>
        </p:txBody>
      </p:sp>
      <p:sp>
        <p:nvSpPr>
          <p:cNvPr id="20" name="Text 18"/>
          <p:cNvSpPr/>
          <p:nvPr/>
        </p:nvSpPr>
        <p:spPr>
          <a:xfrm>
            <a:off x="5212080" y="1371600"/>
            <a:ext cx="3383280" cy="246888"/>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REMOVED — moved to Fulcrum fulcrum-pool</a:t>
            </a:r>
            <a:endParaRPr lang="en-US" sz="850" dirty="0"/>
          </a:p>
        </p:txBody>
      </p:sp>
      <p:sp>
        <p:nvSpPr>
          <p:cNvPr id="21" name="Shape 19"/>
          <p:cNvSpPr/>
          <p:nvPr/>
        </p:nvSpPr>
        <p:spPr>
          <a:xfrm>
            <a:off x="8796528" y="1371600"/>
            <a:ext cx="530352" cy="219456"/>
          </a:xfrm>
          <a:prstGeom prst="rect">
            <a:avLst/>
          </a:prstGeom>
          <a:solidFill>
            <a:srgbClr val="C0392B"/>
          </a:solidFill>
          <a:ln w="12700">
            <a:solidFill>
              <a:srgbClr val="C0392B"/>
            </a:solidFill>
            <a:prstDash val="solid"/>
          </a:ln>
        </p:spPr>
      </p:sp>
      <p:sp>
        <p:nvSpPr>
          <p:cNvPr id="22" name="Text 20"/>
          <p:cNvSpPr/>
          <p:nvPr/>
        </p:nvSpPr>
        <p:spPr>
          <a:xfrm>
            <a:off x="8796528" y="1371600"/>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23" name="Shape 21"/>
          <p:cNvSpPr/>
          <p:nvPr/>
        </p:nvSpPr>
        <p:spPr>
          <a:xfrm>
            <a:off x="9372600" y="1371600"/>
            <a:ext cx="658368" cy="219456"/>
          </a:xfrm>
          <a:prstGeom prst="rect">
            <a:avLst/>
          </a:prstGeom>
          <a:solidFill>
            <a:srgbClr val="C0392B"/>
          </a:solidFill>
          <a:ln w="12700">
            <a:solidFill>
              <a:srgbClr val="C0392B"/>
            </a:solidFill>
            <a:prstDash val="solid"/>
          </a:ln>
        </p:spPr>
      </p:sp>
      <p:sp>
        <p:nvSpPr>
          <p:cNvPr id="24" name="Text 22"/>
          <p:cNvSpPr/>
          <p:nvPr/>
        </p:nvSpPr>
        <p:spPr>
          <a:xfrm>
            <a:off x="9372600" y="1371600"/>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BREAK</a:t>
            </a:r>
            <a:endParaRPr lang="en-US" sz="750" dirty="0"/>
          </a:p>
        </p:txBody>
      </p:sp>
      <p:sp>
        <p:nvSpPr>
          <p:cNvPr id="25" name="Shape 23"/>
          <p:cNvSpPr/>
          <p:nvPr/>
        </p:nvSpPr>
        <p:spPr>
          <a:xfrm>
            <a:off x="274320" y="1677924"/>
            <a:ext cx="11567160" cy="329184"/>
          </a:xfrm>
          <a:prstGeom prst="rect">
            <a:avLst/>
          </a:prstGeom>
          <a:solidFill>
            <a:srgbClr val="F4F6FA"/>
          </a:solidFill>
          <a:ln w="12700">
            <a:solidFill>
              <a:srgbClr val="E8ECF2"/>
            </a:solidFill>
            <a:prstDash val="solid"/>
          </a:ln>
        </p:spPr>
      </p:sp>
      <p:sp>
        <p:nvSpPr>
          <p:cNvPr id="26" name="Text 24"/>
          <p:cNvSpPr/>
          <p:nvPr/>
        </p:nvSpPr>
        <p:spPr>
          <a:xfrm>
            <a:off x="347472" y="1723644"/>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TurbineFactoryService</a:t>
            </a:r>
            <a:endParaRPr lang="en-US" sz="900" dirty="0"/>
          </a:p>
        </p:txBody>
      </p:sp>
      <p:sp>
        <p:nvSpPr>
          <p:cNvPr id="27" name="Text 25"/>
          <p:cNvSpPr/>
          <p:nvPr/>
        </p:nvSpPr>
        <p:spPr>
          <a:xfrm>
            <a:off x="2926080" y="1723644"/>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org.apache.turbine.services.factory</a:t>
            </a:r>
            <a:endParaRPr lang="en-US" sz="850" dirty="0"/>
          </a:p>
        </p:txBody>
      </p:sp>
      <p:sp>
        <p:nvSpPr>
          <p:cNvPr id="28" name="Text 26"/>
          <p:cNvSpPr/>
          <p:nvPr/>
        </p:nvSpPr>
        <p:spPr>
          <a:xfrm>
            <a:off x="5212080" y="1723644"/>
            <a:ext cx="3383280" cy="246888"/>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REMOVED — moved to Fulcrum fulcrum-factory</a:t>
            </a:r>
            <a:endParaRPr lang="en-US" sz="850" dirty="0"/>
          </a:p>
        </p:txBody>
      </p:sp>
      <p:sp>
        <p:nvSpPr>
          <p:cNvPr id="29" name="Shape 27"/>
          <p:cNvSpPr/>
          <p:nvPr/>
        </p:nvSpPr>
        <p:spPr>
          <a:xfrm>
            <a:off x="8796528" y="1723644"/>
            <a:ext cx="530352" cy="219456"/>
          </a:xfrm>
          <a:prstGeom prst="rect">
            <a:avLst/>
          </a:prstGeom>
          <a:solidFill>
            <a:srgbClr val="C0392B"/>
          </a:solidFill>
          <a:ln w="12700">
            <a:solidFill>
              <a:srgbClr val="C0392B"/>
            </a:solidFill>
            <a:prstDash val="solid"/>
          </a:ln>
        </p:spPr>
      </p:sp>
      <p:sp>
        <p:nvSpPr>
          <p:cNvPr id="30" name="Text 28"/>
          <p:cNvSpPr/>
          <p:nvPr/>
        </p:nvSpPr>
        <p:spPr>
          <a:xfrm>
            <a:off x="8796528" y="1723644"/>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1" name="Shape 29"/>
          <p:cNvSpPr/>
          <p:nvPr/>
        </p:nvSpPr>
        <p:spPr>
          <a:xfrm>
            <a:off x="9372600" y="1723644"/>
            <a:ext cx="658368" cy="219456"/>
          </a:xfrm>
          <a:prstGeom prst="rect">
            <a:avLst/>
          </a:prstGeom>
          <a:solidFill>
            <a:srgbClr val="C0392B"/>
          </a:solidFill>
          <a:ln w="12700">
            <a:solidFill>
              <a:srgbClr val="C0392B"/>
            </a:solidFill>
            <a:prstDash val="solid"/>
          </a:ln>
        </p:spPr>
      </p:sp>
      <p:sp>
        <p:nvSpPr>
          <p:cNvPr id="32" name="Text 30"/>
          <p:cNvSpPr/>
          <p:nvPr/>
        </p:nvSpPr>
        <p:spPr>
          <a:xfrm>
            <a:off x="9372600" y="1723644"/>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BREAK</a:t>
            </a:r>
            <a:endParaRPr lang="en-US" sz="750" dirty="0"/>
          </a:p>
        </p:txBody>
      </p:sp>
      <p:sp>
        <p:nvSpPr>
          <p:cNvPr id="33" name="Shape 31"/>
          <p:cNvSpPr/>
          <p:nvPr/>
        </p:nvSpPr>
        <p:spPr>
          <a:xfrm>
            <a:off x="274320" y="2029968"/>
            <a:ext cx="11567160" cy="329184"/>
          </a:xfrm>
          <a:prstGeom prst="rect">
            <a:avLst/>
          </a:prstGeom>
          <a:solidFill>
            <a:srgbClr val="FFFFFF"/>
          </a:solidFill>
          <a:ln w="12700">
            <a:solidFill>
              <a:srgbClr val="E8ECF2"/>
            </a:solidFill>
            <a:prstDash val="solid"/>
          </a:ln>
        </p:spPr>
      </p:sp>
      <p:sp>
        <p:nvSpPr>
          <p:cNvPr id="34" name="Text 32"/>
          <p:cNvSpPr/>
          <p:nvPr/>
        </p:nvSpPr>
        <p:spPr>
          <a:xfrm>
            <a:off x="347472" y="2075688"/>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GTPRunDataService</a:t>
            </a:r>
            <a:endParaRPr lang="en-US" sz="900" dirty="0"/>
          </a:p>
        </p:txBody>
      </p:sp>
      <p:sp>
        <p:nvSpPr>
          <p:cNvPr id="35" name="Text 33"/>
          <p:cNvSpPr/>
          <p:nvPr/>
        </p:nvSpPr>
        <p:spPr>
          <a:xfrm>
            <a:off x="2926080" y="2075688"/>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extends TurbineRunDataService</a:t>
            </a:r>
            <a:endParaRPr lang="en-US" sz="850" dirty="0"/>
          </a:p>
        </p:txBody>
      </p:sp>
      <p:sp>
        <p:nvSpPr>
          <p:cNvPr id="36" name="Text 34"/>
          <p:cNvSpPr/>
          <p:nvPr/>
        </p:nvSpPr>
        <p:spPr>
          <a:xfrm>
            <a:off x="5212080" y="2075688"/>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Requires rewrite — PipelineData + Fulcrum parser</a:t>
            </a:r>
            <a:endParaRPr lang="en-US" sz="850" dirty="0"/>
          </a:p>
        </p:txBody>
      </p:sp>
      <p:sp>
        <p:nvSpPr>
          <p:cNvPr id="37" name="Shape 35"/>
          <p:cNvSpPr/>
          <p:nvPr/>
        </p:nvSpPr>
        <p:spPr>
          <a:xfrm>
            <a:off x="8796528" y="2075688"/>
            <a:ext cx="530352" cy="219456"/>
          </a:xfrm>
          <a:prstGeom prst="rect">
            <a:avLst/>
          </a:prstGeom>
          <a:solidFill>
            <a:srgbClr val="C0392B"/>
          </a:solidFill>
          <a:ln w="12700">
            <a:solidFill>
              <a:srgbClr val="C0392B"/>
            </a:solidFill>
            <a:prstDash val="solid"/>
          </a:ln>
        </p:spPr>
      </p:sp>
      <p:sp>
        <p:nvSpPr>
          <p:cNvPr id="38" name="Text 36"/>
          <p:cNvSpPr/>
          <p:nvPr/>
        </p:nvSpPr>
        <p:spPr>
          <a:xfrm>
            <a:off x="8796528" y="2075688"/>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9" name="Shape 37"/>
          <p:cNvSpPr/>
          <p:nvPr/>
        </p:nvSpPr>
        <p:spPr>
          <a:xfrm>
            <a:off x="9372600" y="2075688"/>
            <a:ext cx="658368" cy="219456"/>
          </a:xfrm>
          <a:prstGeom prst="rect">
            <a:avLst/>
          </a:prstGeom>
          <a:solidFill>
            <a:srgbClr val="D4A017"/>
          </a:solidFill>
          <a:ln w="12700">
            <a:solidFill>
              <a:srgbClr val="D4A017"/>
            </a:solidFill>
            <a:prstDash val="solid"/>
          </a:ln>
        </p:spPr>
      </p:sp>
      <p:sp>
        <p:nvSpPr>
          <p:cNvPr id="40" name="Text 38"/>
          <p:cNvSpPr/>
          <p:nvPr/>
        </p:nvSpPr>
        <p:spPr>
          <a:xfrm>
            <a:off x="9372600" y="2075688"/>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REWRITE</a:t>
            </a:r>
            <a:endParaRPr lang="en-US" sz="750" dirty="0"/>
          </a:p>
        </p:txBody>
      </p:sp>
      <p:sp>
        <p:nvSpPr>
          <p:cNvPr id="41" name="Shape 39"/>
          <p:cNvSpPr/>
          <p:nvPr/>
        </p:nvSpPr>
        <p:spPr>
          <a:xfrm>
            <a:off x="274320" y="2382012"/>
            <a:ext cx="11567160" cy="329184"/>
          </a:xfrm>
          <a:prstGeom prst="rect">
            <a:avLst/>
          </a:prstGeom>
          <a:solidFill>
            <a:srgbClr val="F4F6FA"/>
          </a:solidFill>
          <a:ln w="12700">
            <a:solidFill>
              <a:srgbClr val="E8ECF2"/>
            </a:solidFill>
            <a:prstDash val="solid"/>
          </a:ln>
        </p:spPr>
      </p:sp>
      <p:sp>
        <p:nvSpPr>
          <p:cNvPr id="42" name="Text 40"/>
          <p:cNvSpPr/>
          <p:nvPr/>
        </p:nvSpPr>
        <p:spPr>
          <a:xfrm>
            <a:off x="347472" y="2427732"/>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GTPSchedulerService</a:t>
            </a:r>
            <a:endParaRPr lang="en-US" sz="900" dirty="0"/>
          </a:p>
        </p:txBody>
      </p:sp>
      <p:sp>
        <p:nvSpPr>
          <p:cNvPr id="43" name="Text 41"/>
          <p:cNvSpPr/>
          <p:nvPr/>
        </p:nvSpPr>
        <p:spPr>
          <a:xfrm>
            <a:off x="2926080" y="2427732"/>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implements InstanceListener</a:t>
            </a:r>
            <a:endParaRPr lang="en-US" sz="850" dirty="0"/>
          </a:p>
        </p:txBody>
      </p:sp>
      <p:sp>
        <p:nvSpPr>
          <p:cNvPr id="44" name="Text 42"/>
          <p:cNvSpPr/>
          <p:nvPr/>
        </p:nvSpPr>
        <p:spPr>
          <a:xfrm>
            <a:off x="5212080" y="2427732"/>
            <a:ext cx="3383280" cy="246888"/>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InstanceListener REMOVED — rewrite with Quartz</a:t>
            </a:r>
            <a:endParaRPr lang="en-US" sz="850" dirty="0"/>
          </a:p>
        </p:txBody>
      </p:sp>
      <p:sp>
        <p:nvSpPr>
          <p:cNvPr id="45" name="Shape 43"/>
          <p:cNvSpPr/>
          <p:nvPr/>
        </p:nvSpPr>
        <p:spPr>
          <a:xfrm>
            <a:off x="8796528" y="2427732"/>
            <a:ext cx="530352" cy="219456"/>
          </a:xfrm>
          <a:prstGeom prst="rect">
            <a:avLst/>
          </a:prstGeom>
          <a:solidFill>
            <a:srgbClr val="C0392B"/>
          </a:solidFill>
          <a:ln w="12700">
            <a:solidFill>
              <a:srgbClr val="C0392B"/>
            </a:solidFill>
            <a:prstDash val="solid"/>
          </a:ln>
        </p:spPr>
      </p:sp>
      <p:sp>
        <p:nvSpPr>
          <p:cNvPr id="46" name="Text 44"/>
          <p:cNvSpPr/>
          <p:nvPr/>
        </p:nvSpPr>
        <p:spPr>
          <a:xfrm>
            <a:off x="8796528" y="242773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47" name="Shape 45"/>
          <p:cNvSpPr/>
          <p:nvPr/>
        </p:nvSpPr>
        <p:spPr>
          <a:xfrm>
            <a:off x="9372600" y="2427732"/>
            <a:ext cx="658368" cy="219456"/>
          </a:xfrm>
          <a:prstGeom prst="rect">
            <a:avLst/>
          </a:prstGeom>
          <a:solidFill>
            <a:srgbClr val="C0392B"/>
          </a:solidFill>
          <a:ln w="12700">
            <a:solidFill>
              <a:srgbClr val="C0392B"/>
            </a:solidFill>
            <a:prstDash val="solid"/>
          </a:ln>
        </p:spPr>
      </p:sp>
      <p:sp>
        <p:nvSpPr>
          <p:cNvPr id="48" name="Text 46"/>
          <p:cNvSpPr/>
          <p:nvPr/>
        </p:nvSpPr>
        <p:spPr>
          <a:xfrm>
            <a:off x="9372600" y="2427732"/>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BREAK</a:t>
            </a:r>
            <a:endParaRPr lang="en-US" sz="750" dirty="0"/>
          </a:p>
        </p:txBody>
      </p:sp>
      <p:sp>
        <p:nvSpPr>
          <p:cNvPr id="49" name="Shape 47"/>
          <p:cNvSpPr/>
          <p:nvPr/>
        </p:nvSpPr>
        <p:spPr>
          <a:xfrm>
            <a:off x="274320" y="2734056"/>
            <a:ext cx="11567160" cy="329184"/>
          </a:xfrm>
          <a:prstGeom prst="rect">
            <a:avLst/>
          </a:prstGeom>
          <a:solidFill>
            <a:srgbClr val="FFFFFF"/>
          </a:solidFill>
          <a:ln w="12700">
            <a:solidFill>
              <a:srgbClr val="E8ECF2"/>
            </a:solidFill>
            <a:prstDash val="solid"/>
          </a:ln>
        </p:spPr>
      </p:sp>
      <p:sp>
        <p:nvSpPr>
          <p:cNvPr id="50" name="Text 48"/>
          <p:cNvSpPr/>
          <p:nvPr/>
        </p:nvSpPr>
        <p:spPr>
          <a:xfrm>
            <a:off x="347472" y="2779776"/>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GTPComponentService (DEPRECATED)</a:t>
            </a:r>
            <a:endParaRPr lang="en-US" sz="900" dirty="0"/>
          </a:p>
        </p:txBody>
      </p:sp>
      <p:sp>
        <p:nvSpPr>
          <p:cNvPr id="51" name="Text 49"/>
          <p:cNvSpPr/>
          <p:nvPr/>
        </p:nvSpPr>
        <p:spPr>
          <a:xfrm>
            <a:off x="2926080" y="2779776"/>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ComponentService bootstrap</a:t>
            </a:r>
            <a:endParaRPr lang="en-US" sz="850" dirty="0"/>
          </a:p>
        </p:txBody>
      </p:sp>
      <p:sp>
        <p:nvSpPr>
          <p:cNvPr id="52" name="Text 50"/>
          <p:cNvSpPr/>
          <p:nvPr/>
        </p:nvSpPr>
        <p:spPr>
          <a:xfrm>
            <a:off x="5212080" y="2779776"/>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Use AvalonComponentService + YAAFI instead</a:t>
            </a:r>
            <a:endParaRPr lang="en-US" sz="850" dirty="0"/>
          </a:p>
        </p:txBody>
      </p:sp>
      <p:sp>
        <p:nvSpPr>
          <p:cNvPr id="53" name="Shape 51"/>
          <p:cNvSpPr/>
          <p:nvPr/>
        </p:nvSpPr>
        <p:spPr>
          <a:xfrm>
            <a:off x="8796528" y="2779776"/>
            <a:ext cx="530352" cy="219456"/>
          </a:xfrm>
          <a:prstGeom prst="rect">
            <a:avLst/>
          </a:prstGeom>
          <a:solidFill>
            <a:srgbClr val="D4A017"/>
          </a:solidFill>
          <a:ln w="12700">
            <a:solidFill>
              <a:srgbClr val="D4A017"/>
            </a:solidFill>
            <a:prstDash val="solid"/>
          </a:ln>
        </p:spPr>
      </p:sp>
      <p:sp>
        <p:nvSpPr>
          <p:cNvPr id="54" name="Text 52"/>
          <p:cNvSpPr/>
          <p:nvPr/>
        </p:nvSpPr>
        <p:spPr>
          <a:xfrm>
            <a:off x="8796528" y="2779776"/>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a:t>
            </a:r>
            <a:endParaRPr lang="en-US" sz="750" dirty="0"/>
          </a:p>
        </p:txBody>
      </p:sp>
      <p:sp>
        <p:nvSpPr>
          <p:cNvPr id="55" name="Shape 53"/>
          <p:cNvSpPr/>
          <p:nvPr/>
        </p:nvSpPr>
        <p:spPr>
          <a:xfrm>
            <a:off x="9372600" y="2779776"/>
            <a:ext cx="658368" cy="219456"/>
          </a:xfrm>
          <a:prstGeom prst="rect">
            <a:avLst/>
          </a:prstGeom>
          <a:solidFill>
            <a:srgbClr val="D4A017"/>
          </a:solidFill>
          <a:ln w="12700">
            <a:solidFill>
              <a:srgbClr val="D4A017"/>
            </a:solidFill>
            <a:prstDash val="solid"/>
          </a:ln>
        </p:spPr>
      </p:sp>
      <p:sp>
        <p:nvSpPr>
          <p:cNvPr id="56" name="Text 54"/>
          <p:cNvSpPr/>
          <p:nvPr/>
        </p:nvSpPr>
        <p:spPr>
          <a:xfrm>
            <a:off x="9372600" y="2779776"/>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REPLACE</a:t>
            </a:r>
            <a:endParaRPr lang="en-US" sz="750" dirty="0"/>
          </a:p>
        </p:txBody>
      </p:sp>
      <p:sp>
        <p:nvSpPr>
          <p:cNvPr id="57" name="Shape 55"/>
          <p:cNvSpPr/>
          <p:nvPr/>
        </p:nvSpPr>
        <p:spPr>
          <a:xfrm>
            <a:off x="274320" y="3086100"/>
            <a:ext cx="11567160" cy="329184"/>
          </a:xfrm>
          <a:prstGeom prst="rect">
            <a:avLst/>
          </a:prstGeom>
          <a:solidFill>
            <a:srgbClr val="F4F6FA"/>
          </a:solidFill>
          <a:ln w="12700">
            <a:solidFill>
              <a:srgbClr val="E8ECF2"/>
            </a:solidFill>
            <a:prstDash val="solid"/>
          </a:ln>
        </p:spPr>
      </p:sp>
      <p:sp>
        <p:nvSpPr>
          <p:cNvPr id="58" name="Text 56"/>
          <p:cNvSpPr/>
          <p:nvPr/>
        </p:nvSpPr>
        <p:spPr>
          <a:xfrm>
            <a:off x="347472" y="3131820"/>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EHCacheService</a:t>
            </a:r>
            <a:endParaRPr lang="en-US" sz="900" dirty="0"/>
          </a:p>
        </p:txBody>
      </p:sp>
      <p:sp>
        <p:nvSpPr>
          <p:cNvPr id="59" name="Text 57"/>
          <p:cNvSpPr/>
          <p:nvPr/>
        </p:nvSpPr>
        <p:spPr>
          <a:xfrm>
            <a:off x="2926080" y="3131820"/>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GlobalCacheService impl</a:t>
            </a:r>
            <a:endParaRPr lang="en-US" sz="850" dirty="0"/>
          </a:p>
        </p:txBody>
      </p:sp>
      <p:sp>
        <p:nvSpPr>
          <p:cNvPr id="60" name="Text 58"/>
          <p:cNvSpPr/>
          <p:nvPr/>
        </p:nvSpPr>
        <p:spPr>
          <a:xfrm>
            <a:off x="5212080" y="3131820"/>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Compatible — update EHCache version</a:t>
            </a:r>
            <a:endParaRPr lang="en-US" sz="850" dirty="0"/>
          </a:p>
        </p:txBody>
      </p:sp>
      <p:sp>
        <p:nvSpPr>
          <p:cNvPr id="61" name="Shape 59"/>
          <p:cNvSpPr/>
          <p:nvPr/>
        </p:nvSpPr>
        <p:spPr>
          <a:xfrm>
            <a:off x="8796528" y="3131820"/>
            <a:ext cx="530352" cy="219456"/>
          </a:xfrm>
          <a:prstGeom prst="rect">
            <a:avLst/>
          </a:prstGeom>
          <a:solidFill>
            <a:srgbClr val="1A7A4A"/>
          </a:solidFill>
          <a:ln w="12700">
            <a:solidFill>
              <a:srgbClr val="1A7A4A"/>
            </a:solidFill>
            <a:prstDash val="solid"/>
          </a:ln>
        </p:spPr>
      </p:sp>
      <p:sp>
        <p:nvSpPr>
          <p:cNvPr id="62" name="Text 60"/>
          <p:cNvSpPr/>
          <p:nvPr/>
        </p:nvSpPr>
        <p:spPr>
          <a:xfrm>
            <a:off x="8796528" y="3131820"/>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LOW</a:t>
            </a:r>
            <a:endParaRPr lang="en-US" sz="750" dirty="0"/>
          </a:p>
        </p:txBody>
      </p:sp>
      <p:sp>
        <p:nvSpPr>
          <p:cNvPr id="63" name="Shape 61"/>
          <p:cNvSpPr/>
          <p:nvPr/>
        </p:nvSpPr>
        <p:spPr>
          <a:xfrm>
            <a:off x="9372600" y="3131820"/>
            <a:ext cx="658368" cy="219456"/>
          </a:xfrm>
          <a:prstGeom prst="rect">
            <a:avLst/>
          </a:prstGeom>
          <a:solidFill>
            <a:srgbClr val="2C6FAC"/>
          </a:solidFill>
          <a:ln w="12700">
            <a:solidFill>
              <a:srgbClr val="2C6FAC"/>
            </a:solidFill>
            <a:prstDash val="solid"/>
          </a:ln>
        </p:spPr>
      </p:sp>
      <p:sp>
        <p:nvSpPr>
          <p:cNvPr id="64" name="Text 62"/>
          <p:cNvSpPr/>
          <p:nvPr/>
        </p:nvSpPr>
        <p:spPr>
          <a:xfrm>
            <a:off x="9372600" y="3131820"/>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UPGRADE</a:t>
            </a:r>
            <a:endParaRPr lang="en-US" sz="750" dirty="0"/>
          </a:p>
        </p:txBody>
      </p:sp>
      <p:sp>
        <p:nvSpPr>
          <p:cNvPr id="65" name="Shape 63"/>
          <p:cNvSpPr/>
          <p:nvPr/>
        </p:nvSpPr>
        <p:spPr>
          <a:xfrm>
            <a:off x="274320" y="3438144"/>
            <a:ext cx="11567160" cy="329184"/>
          </a:xfrm>
          <a:prstGeom prst="rect">
            <a:avLst/>
          </a:prstGeom>
          <a:solidFill>
            <a:srgbClr val="FFFFFF"/>
          </a:solidFill>
          <a:ln w="12700">
            <a:solidFill>
              <a:srgbClr val="E8ECF2"/>
            </a:solidFill>
            <a:prstDash val="solid"/>
          </a:ln>
        </p:spPr>
      </p:sp>
      <p:sp>
        <p:nvSpPr>
          <p:cNvPr id="66" name="Text 64"/>
          <p:cNvSpPr/>
          <p:nvPr/>
        </p:nvSpPr>
        <p:spPr>
          <a:xfrm>
            <a:off x="347472" y="3483864"/>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UniqueSessionService</a:t>
            </a:r>
            <a:endParaRPr lang="en-US" sz="900" dirty="0"/>
          </a:p>
        </p:txBody>
      </p:sp>
      <p:sp>
        <p:nvSpPr>
          <p:cNvPr id="67" name="Text 65"/>
          <p:cNvSpPr/>
          <p:nvPr/>
        </p:nvSpPr>
        <p:spPr>
          <a:xfrm>
            <a:off x="2926080" y="3483864"/>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SessionService impl</a:t>
            </a:r>
            <a:endParaRPr lang="en-US" sz="850" dirty="0"/>
          </a:p>
        </p:txBody>
      </p:sp>
      <p:sp>
        <p:nvSpPr>
          <p:cNvPr id="68" name="Text 66"/>
          <p:cNvSpPr/>
          <p:nvPr/>
        </p:nvSpPr>
        <p:spPr>
          <a:xfrm>
            <a:off x="5212080" y="3483864"/>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Rewrite for Turbine 7 session handling</a:t>
            </a:r>
            <a:endParaRPr lang="en-US" sz="850" dirty="0"/>
          </a:p>
        </p:txBody>
      </p:sp>
      <p:sp>
        <p:nvSpPr>
          <p:cNvPr id="69" name="Shape 67"/>
          <p:cNvSpPr/>
          <p:nvPr/>
        </p:nvSpPr>
        <p:spPr>
          <a:xfrm>
            <a:off x="8796528" y="3483864"/>
            <a:ext cx="530352" cy="219456"/>
          </a:xfrm>
          <a:prstGeom prst="rect">
            <a:avLst/>
          </a:prstGeom>
          <a:solidFill>
            <a:srgbClr val="D4A017"/>
          </a:solidFill>
          <a:ln w="12700">
            <a:solidFill>
              <a:srgbClr val="D4A017"/>
            </a:solidFill>
            <a:prstDash val="solid"/>
          </a:ln>
        </p:spPr>
      </p:sp>
      <p:sp>
        <p:nvSpPr>
          <p:cNvPr id="70" name="Text 68"/>
          <p:cNvSpPr/>
          <p:nvPr/>
        </p:nvSpPr>
        <p:spPr>
          <a:xfrm>
            <a:off x="8796528" y="3483864"/>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a:t>
            </a:r>
            <a:endParaRPr lang="en-US" sz="750" dirty="0"/>
          </a:p>
        </p:txBody>
      </p:sp>
      <p:sp>
        <p:nvSpPr>
          <p:cNvPr id="71" name="Shape 69"/>
          <p:cNvSpPr/>
          <p:nvPr/>
        </p:nvSpPr>
        <p:spPr>
          <a:xfrm>
            <a:off x="9372600" y="3483864"/>
            <a:ext cx="658368" cy="219456"/>
          </a:xfrm>
          <a:prstGeom prst="rect">
            <a:avLst/>
          </a:prstGeom>
          <a:solidFill>
            <a:srgbClr val="D4A017"/>
          </a:solidFill>
          <a:ln w="12700">
            <a:solidFill>
              <a:srgbClr val="D4A017"/>
            </a:solidFill>
            <a:prstDash val="solid"/>
          </a:ln>
        </p:spPr>
      </p:sp>
      <p:sp>
        <p:nvSpPr>
          <p:cNvPr id="72" name="Text 70"/>
          <p:cNvSpPr/>
          <p:nvPr/>
        </p:nvSpPr>
        <p:spPr>
          <a:xfrm>
            <a:off x="9372600" y="3483864"/>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REWRITE</a:t>
            </a:r>
            <a:endParaRPr lang="en-US" sz="750" dirty="0"/>
          </a:p>
        </p:txBody>
      </p:sp>
      <p:sp>
        <p:nvSpPr>
          <p:cNvPr id="73" name="Shape 71"/>
          <p:cNvSpPr/>
          <p:nvPr/>
        </p:nvSpPr>
        <p:spPr>
          <a:xfrm>
            <a:off x="274320" y="3790188"/>
            <a:ext cx="11567160" cy="329184"/>
          </a:xfrm>
          <a:prstGeom prst="rect">
            <a:avLst/>
          </a:prstGeom>
          <a:solidFill>
            <a:srgbClr val="F4F6FA"/>
          </a:solidFill>
          <a:ln w="12700">
            <a:solidFill>
              <a:srgbClr val="E8ECF2"/>
            </a:solidFill>
            <a:prstDash val="solid"/>
          </a:ln>
        </p:spPr>
      </p:sp>
      <p:sp>
        <p:nvSpPr>
          <p:cNvPr id="74" name="Text 72"/>
          <p:cNvSpPr/>
          <p:nvPr/>
        </p:nvSpPr>
        <p:spPr>
          <a:xfrm>
            <a:off x="347472" y="3835908"/>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XSLTCachingService</a:t>
            </a:r>
            <a:endParaRPr lang="en-US" sz="900" dirty="0"/>
          </a:p>
        </p:txBody>
      </p:sp>
      <p:sp>
        <p:nvSpPr>
          <p:cNvPr id="75" name="Text 73"/>
          <p:cNvSpPr/>
          <p:nvPr/>
        </p:nvSpPr>
        <p:spPr>
          <a:xfrm>
            <a:off x="2926080" y="3835908"/>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TurbineXSLTService + cache</a:t>
            </a:r>
            <a:endParaRPr lang="en-US" sz="850" dirty="0"/>
          </a:p>
        </p:txBody>
      </p:sp>
      <p:sp>
        <p:nvSpPr>
          <p:cNvPr id="76" name="Text 74"/>
          <p:cNvSpPr/>
          <p:nvPr/>
        </p:nvSpPr>
        <p:spPr>
          <a:xfrm>
            <a:off x="5212080" y="3835908"/>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Xalan 2.7.3 drop-in — service logic compatible</a:t>
            </a:r>
            <a:endParaRPr lang="en-US" sz="850" dirty="0"/>
          </a:p>
        </p:txBody>
      </p:sp>
      <p:sp>
        <p:nvSpPr>
          <p:cNvPr id="77" name="Shape 75"/>
          <p:cNvSpPr/>
          <p:nvPr/>
        </p:nvSpPr>
        <p:spPr>
          <a:xfrm>
            <a:off x="8796528" y="3835908"/>
            <a:ext cx="530352" cy="219456"/>
          </a:xfrm>
          <a:prstGeom prst="rect">
            <a:avLst/>
          </a:prstGeom>
          <a:solidFill>
            <a:srgbClr val="1A7A4A"/>
          </a:solidFill>
          <a:ln w="12700">
            <a:solidFill>
              <a:srgbClr val="1A7A4A"/>
            </a:solidFill>
            <a:prstDash val="solid"/>
          </a:ln>
        </p:spPr>
      </p:sp>
      <p:sp>
        <p:nvSpPr>
          <p:cNvPr id="78" name="Text 76"/>
          <p:cNvSpPr/>
          <p:nvPr/>
        </p:nvSpPr>
        <p:spPr>
          <a:xfrm>
            <a:off x="8796528" y="3835908"/>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LOW</a:t>
            </a:r>
            <a:endParaRPr lang="en-US" sz="750" dirty="0"/>
          </a:p>
        </p:txBody>
      </p:sp>
      <p:sp>
        <p:nvSpPr>
          <p:cNvPr id="79" name="Shape 77"/>
          <p:cNvSpPr/>
          <p:nvPr/>
        </p:nvSpPr>
        <p:spPr>
          <a:xfrm>
            <a:off x="9372600" y="3835908"/>
            <a:ext cx="658368" cy="219456"/>
          </a:xfrm>
          <a:prstGeom prst="rect">
            <a:avLst/>
          </a:prstGeom>
          <a:solidFill>
            <a:srgbClr val="2C6FAC"/>
          </a:solidFill>
          <a:ln w="12700">
            <a:solidFill>
              <a:srgbClr val="2C6FAC"/>
            </a:solidFill>
            <a:prstDash val="solid"/>
          </a:ln>
        </p:spPr>
      </p:sp>
      <p:sp>
        <p:nvSpPr>
          <p:cNvPr id="80" name="Text 78"/>
          <p:cNvSpPr/>
          <p:nvPr/>
        </p:nvSpPr>
        <p:spPr>
          <a:xfrm>
            <a:off x="9372600" y="3835908"/>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UPGRADE</a:t>
            </a:r>
            <a:endParaRPr lang="en-US" sz="750" dirty="0"/>
          </a:p>
        </p:txBody>
      </p:sp>
      <p:sp>
        <p:nvSpPr>
          <p:cNvPr id="81" name="Shape 79"/>
          <p:cNvSpPr/>
          <p:nvPr/>
        </p:nvSpPr>
        <p:spPr>
          <a:xfrm>
            <a:off x="274320" y="4142232"/>
            <a:ext cx="11567160" cy="329184"/>
          </a:xfrm>
          <a:prstGeom prst="rect">
            <a:avLst/>
          </a:prstGeom>
          <a:solidFill>
            <a:srgbClr val="FFFFFF"/>
          </a:solidFill>
          <a:ln w="12700">
            <a:solidFill>
              <a:srgbClr val="E8ECF2"/>
            </a:solidFill>
            <a:prstDash val="solid"/>
          </a:ln>
        </p:spPr>
      </p:sp>
      <p:sp>
        <p:nvSpPr>
          <p:cNvPr id="82" name="Text 80"/>
          <p:cNvSpPr/>
          <p:nvPr/>
        </p:nvSpPr>
        <p:spPr>
          <a:xfrm>
            <a:off x="347472" y="4187952"/>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PortalUploadService</a:t>
            </a:r>
            <a:endParaRPr lang="en-US" sz="900" dirty="0"/>
          </a:p>
        </p:txBody>
      </p:sp>
      <p:sp>
        <p:nvSpPr>
          <p:cNvPr id="83" name="Text 81"/>
          <p:cNvSpPr/>
          <p:nvPr/>
        </p:nvSpPr>
        <p:spPr>
          <a:xfrm>
            <a:off x="2926080" y="4187952"/>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extends TurbineUploadService</a:t>
            </a:r>
            <a:endParaRPr lang="en-US" sz="850" dirty="0"/>
          </a:p>
        </p:txBody>
      </p:sp>
      <p:sp>
        <p:nvSpPr>
          <p:cNvPr id="84" name="Text 82"/>
          <p:cNvSpPr/>
          <p:nvPr/>
        </p:nvSpPr>
        <p:spPr>
          <a:xfrm>
            <a:off x="5212080" y="4187952"/>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Retest with Jakarta EE multipart</a:t>
            </a:r>
            <a:endParaRPr lang="en-US" sz="850" dirty="0"/>
          </a:p>
        </p:txBody>
      </p:sp>
      <p:sp>
        <p:nvSpPr>
          <p:cNvPr id="85" name="Shape 83"/>
          <p:cNvSpPr/>
          <p:nvPr/>
        </p:nvSpPr>
        <p:spPr>
          <a:xfrm>
            <a:off x="8796528" y="4187952"/>
            <a:ext cx="530352" cy="219456"/>
          </a:xfrm>
          <a:prstGeom prst="rect">
            <a:avLst/>
          </a:prstGeom>
          <a:solidFill>
            <a:srgbClr val="D4A017"/>
          </a:solidFill>
          <a:ln w="12700">
            <a:solidFill>
              <a:srgbClr val="D4A017"/>
            </a:solidFill>
            <a:prstDash val="solid"/>
          </a:ln>
        </p:spPr>
      </p:sp>
      <p:sp>
        <p:nvSpPr>
          <p:cNvPr id="86" name="Text 84"/>
          <p:cNvSpPr/>
          <p:nvPr/>
        </p:nvSpPr>
        <p:spPr>
          <a:xfrm>
            <a:off x="8796528" y="418795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a:t>
            </a:r>
            <a:endParaRPr lang="en-US" sz="750" dirty="0"/>
          </a:p>
        </p:txBody>
      </p:sp>
      <p:sp>
        <p:nvSpPr>
          <p:cNvPr id="87" name="Shape 85"/>
          <p:cNvSpPr/>
          <p:nvPr/>
        </p:nvSpPr>
        <p:spPr>
          <a:xfrm>
            <a:off x="9372600" y="4187952"/>
            <a:ext cx="658368" cy="219456"/>
          </a:xfrm>
          <a:prstGeom prst="rect">
            <a:avLst/>
          </a:prstGeom>
          <a:solidFill>
            <a:srgbClr val="0D7377"/>
          </a:solidFill>
          <a:ln w="12700">
            <a:solidFill>
              <a:srgbClr val="0D7377"/>
            </a:solidFill>
            <a:prstDash val="solid"/>
          </a:ln>
        </p:spPr>
      </p:sp>
      <p:sp>
        <p:nvSpPr>
          <p:cNvPr id="88" name="Text 86"/>
          <p:cNvSpPr/>
          <p:nvPr/>
        </p:nvSpPr>
        <p:spPr>
          <a:xfrm>
            <a:off x="9372600" y="4187952"/>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VERIFY</a:t>
            </a:r>
            <a:endParaRPr lang="en-US" sz="750" dirty="0"/>
          </a:p>
        </p:txBody>
      </p:sp>
      <p:sp>
        <p:nvSpPr>
          <p:cNvPr id="89" name="Shape 87"/>
          <p:cNvSpPr/>
          <p:nvPr/>
        </p:nvSpPr>
        <p:spPr>
          <a:xfrm>
            <a:off x="274320" y="4494276"/>
            <a:ext cx="11567160" cy="329184"/>
          </a:xfrm>
          <a:prstGeom prst="rect">
            <a:avLst/>
          </a:prstGeom>
          <a:solidFill>
            <a:srgbClr val="F4F6FA"/>
          </a:solidFill>
          <a:ln w="12700">
            <a:solidFill>
              <a:srgbClr val="E8ECF2"/>
            </a:solidFill>
            <a:prstDash val="solid"/>
          </a:ln>
        </p:spPr>
      </p:sp>
      <p:sp>
        <p:nvSpPr>
          <p:cNvPr id="90" name="Text 88"/>
          <p:cNvSpPr/>
          <p:nvPr/>
        </p:nvSpPr>
        <p:spPr>
          <a:xfrm>
            <a:off x="347472" y="4539996"/>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AdapterForTurbineSecurityService</a:t>
            </a:r>
            <a:endParaRPr lang="en-US" sz="900" dirty="0"/>
          </a:p>
        </p:txBody>
      </p:sp>
      <p:sp>
        <p:nvSpPr>
          <p:cNvPr id="91" name="Text 89"/>
          <p:cNvSpPr/>
          <p:nvPr/>
        </p:nvSpPr>
        <p:spPr>
          <a:xfrm>
            <a:off x="2926080" y="4539996"/>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SecurityService impl</a:t>
            </a:r>
            <a:endParaRPr lang="en-US" sz="850" dirty="0"/>
          </a:p>
        </p:txBody>
      </p:sp>
      <p:sp>
        <p:nvSpPr>
          <p:cNvPr id="92" name="Text 90"/>
          <p:cNvSpPr/>
          <p:nvPr/>
        </p:nvSpPr>
        <p:spPr>
          <a:xfrm>
            <a:off x="5212080" y="4539996"/>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Adapter pattern still valid — test thoroughly</a:t>
            </a:r>
            <a:endParaRPr lang="en-US" sz="850" dirty="0"/>
          </a:p>
        </p:txBody>
      </p:sp>
      <p:sp>
        <p:nvSpPr>
          <p:cNvPr id="93" name="Shape 91"/>
          <p:cNvSpPr/>
          <p:nvPr/>
        </p:nvSpPr>
        <p:spPr>
          <a:xfrm>
            <a:off x="8796528" y="4539996"/>
            <a:ext cx="530352" cy="219456"/>
          </a:xfrm>
          <a:prstGeom prst="rect">
            <a:avLst/>
          </a:prstGeom>
          <a:solidFill>
            <a:srgbClr val="D4A017"/>
          </a:solidFill>
          <a:ln w="12700">
            <a:solidFill>
              <a:srgbClr val="D4A017"/>
            </a:solidFill>
            <a:prstDash val="solid"/>
          </a:ln>
        </p:spPr>
      </p:sp>
      <p:sp>
        <p:nvSpPr>
          <p:cNvPr id="94" name="Text 92"/>
          <p:cNvSpPr/>
          <p:nvPr/>
        </p:nvSpPr>
        <p:spPr>
          <a:xfrm>
            <a:off x="8796528" y="4539996"/>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a:t>
            </a:r>
            <a:endParaRPr lang="en-US" sz="750" dirty="0"/>
          </a:p>
        </p:txBody>
      </p:sp>
      <p:sp>
        <p:nvSpPr>
          <p:cNvPr id="95" name="Shape 93"/>
          <p:cNvSpPr/>
          <p:nvPr/>
        </p:nvSpPr>
        <p:spPr>
          <a:xfrm>
            <a:off x="9372600" y="4539996"/>
            <a:ext cx="658368" cy="219456"/>
          </a:xfrm>
          <a:prstGeom prst="rect">
            <a:avLst/>
          </a:prstGeom>
          <a:solidFill>
            <a:srgbClr val="0D7377"/>
          </a:solidFill>
          <a:ln w="12700">
            <a:solidFill>
              <a:srgbClr val="0D7377"/>
            </a:solidFill>
            <a:prstDash val="solid"/>
          </a:ln>
        </p:spPr>
      </p:sp>
      <p:sp>
        <p:nvSpPr>
          <p:cNvPr id="96" name="Text 94"/>
          <p:cNvSpPr/>
          <p:nvPr/>
        </p:nvSpPr>
        <p:spPr>
          <a:xfrm>
            <a:off x="9372600" y="4539996"/>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VERIFY</a:t>
            </a:r>
            <a:endParaRPr lang="en-US" sz="750" dirty="0"/>
          </a:p>
        </p:txBody>
      </p:sp>
      <p:sp>
        <p:nvSpPr>
          <p:cNvPr id="97" name="Shape 95"/>
          <p:cNvSpPr/>
          <p:nvPr/>
        </p:nvSpPr>
        <p:spPr>
          <a:xfrm>
            <a:off x="274320" y="4846320"/>
            <a:ext cx="11567160" cy="329184"/>
          </a:xfrm>
          <a:prstGeom prst="rect">
            <a:avLst/>
          </a:prstGeom>
          <a:solidFill>
            <a:srgbClr val="FFFFFF"/>
          </a:solidFill>
          <a:ln w="12700">
            <a:solidFill>
              <a:srgbClr val="E8ECF2"/>
            </a:solidFill>
            <a:prstDash val="solid"/>
          </a:ln>
        </p:spPr>
      </p:sp>
      <p:sp>
        <p:nvSpPr>
          <p:cNvPr id="98" name="Text 96"/>
          <p:cNvSpPr/>
          <p:nvPr/>
        </p:nvSpPr>
        <p:spPr>
          <a:xfrm>
            <a:off x="347472" y="4892040"/>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TurbineVelocityService</a:t>
            </a:r>
            <a:endParaRPr lang="en-US" sz="900" dirty="0"/>
          </a:p>
        </p:txBody>
      </p:sp>
      <p:sp>
        <p:nvSpPr>
          <p:cNvPr id="99" name="Text 97"/>
          <p:cNvSpPr/>
          <p:nvPr/>
        </p:nvSpPr>
        <p:spPr>
          <a:xfrm>
            <a:off x="2926080" y="4892040"/>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Apache standard</a:t>
            </a:r>
            <a:endParaRPr lang="en-US" sz="850" dirty="0"/>
          </a:p>
        </p:txBody>
      </p:sp>
      <p:sp>
        <p:nvSpPr>
          <p:cNvPr id="100" name="Text 98"/>
          <p:cNvSpPr/>
          <p:nvPr/>
        </p:nvSpPr>
        <p:spPr>
          <a:xfrm>
            <a:off x="5212080" y="4892040"/>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Velocity 2.x API changes — template review needed</a:t>
            </a:r>
            <a:endParaRPr lang="en-US" sz="850" dirty="0"/>
          </a:p>
        </p:txBody>
      </p:sp>
      <p:sp>
        <p:nvSpPr>
          <p:cNvPr id="101" name="Shape 99"/>
          <p:cNvSpPr/>
          <p:nvPr/>
        </p:nvSpPr>
        <p:spPr>
          <a:xfrm>
            <a:off x="8796528" y="4892040"/>
            <a:ext cx="530352" cy="219456"/>
          </a:xfrm>
          <a:prstGeom prst="rect">
            <a:avLst/>
          </a:prstGeom>
          <a:solidFill>
            <a:srgbClr val="D4A017"/>
          </a:solidFill>
          <a:ln w="12700">
            <a:solidFill>
              <a:srgbClr val="D4A017"/>
            </a:solidFill>
            <a:prstDash val="solid"/>
          </a:ln>
        </p:spPr>
      </p:sp>
      <p:sp>
        <p:nvSpPr>
          <p:cNvPr id="102" name="Text 100"/>
          <p:cNvSpPr/>
          <p:nvPr/>
        </p:nvSpPr>
        <p:spPr>
          <a:xfrm>
            <a:off x="8796528" y="4892040"/>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a:t>
            </a:r>
            <a:endParaRPr lang="en-US" sz="750" dirty="0"/>
          </a:p>
        </p:txBody>
      </p:sp>
      <p:sp>
        <p:nvSpPr>
          <p:cNvPr id="103" name="Shape 101"/>
          <p:cNvSpPr/>
          <p:nvPr/>
        </p:nvSpPr>
        <p:spPr>
          <a:xfrm>
            <a:off x="9372600" y="4892040"/>
            <a:ext cx="658368" cy="219456"/>
          </a:xfrm>
          <a:prstGeom prst="rect">
            <a:avLst/>
          </a:prstGeom>
          <a:solidFill>
            <a:srgbClr val="2C6FAC"/>
          </a:solidFill>
          <a:ln w="12700">
            <a:solidFill>
              <a:srgbClr val="2C6FAC"/>
            </a:solidFill>
            <a:prstDash val="solid"/>
          </a:ln>
        </p:spPr>
      </p:sp>
      <p:sp>
        <p:nvSpPr>
          <p:cNvPr id="104" name="Text 102"/>
          <p:cNvSpPr/>
          <p:nvPr/>
        </p:nvSpPr>
        <p:spPr>
          <a:xfrm>
            <a:off x="9372600" y="4892040"/>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UPGRADE</a:t>
            </a:r>
            <a:endParaRPr lang="en-US" sz="750" dirty="0"/>
          </a:p>
        </p:txBody>
      </p:sp>
      <p:sp>
        <p:nvSpPr>
          <p:cNvPr id="105" name="Shape 103"/>
          <p:cNvSpPr/>
          <p:nvPr/>
        </p:nvSpPr>
        <p:spPr>
          <a:xfrm>
            <a:off x="274320" y="5198364"/>
            <a:ext cx="11567160" cy="329184"/>
          </a:xfrm>
          <a:prstGeom prst="rect">
            <a:avLst/>
          </a:prstGeom>
          <a:solidFill>
            <a:srgbClr val="F4F6FA"/>
          </a:solidFill>
          <a:ln w="12700">
            <a:solidFill>
              <a:srgbClr val="E8ECF2"/>
            </a:solidFill>
            <a:prstDash val="solid"/>
          </a:ln>
        </p:spPr>
      </p:sp>
      <p:sp>
        <p:nvSpPr>
          <p:cNvPr id="106" name="Text 104"/>
          <p:cNvSpPr/>
          <p:nvPr/>
        </p:nvSpPr>
        <p:spPr>
          <a:xfrm>
            <a:off x="347472" y="5244084"/>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TurbineTemplateService</a:t>
            </a:r>
            <a:endParaRPr lang="en-US" sz="900" dirty="0"/>
          </a:p>
        </p:txBody>
      </p:sp>
      <p:sp>
        <p:nvSpPr>
          <p:cNvPr id="107" name="Text 105"/>
          <p:cNvSpPr/>
          <p:nvPr/>
        </p:nvSpPr>
        <p:spPr>
          <a:xfrm>
            <a:off x="2926080" y="5244084"/>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Apache standard</a:t>
            </a:r>
            <a:endParaRPr lang="en-US" sz="850" dirty="0"/>
          </a:p>
        </p:txBody>
      </p:sp>
      <p:sp>
        <p:nvSpPr>
          <p:cNvPr id="108" name="Text 106"/>
          <p:cNvSpPr/>
          <p:nvPr/>
        </p:nvSpPr>
        <p:spPr>
          <a:xfrm>
            <a:off x="5212080" y="5244084"/>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Turbine 7 compatible with config updates</a:t>
            </a:r>
            <a:endParaRPr lang="en-US" sz="850" dirty="0"/>
          </a:p>
        </p:txBody>
      </p:sp>
      <p:sp>
        <p:nvSpPr>
          <p:cNvPr id="109" name="Shape 107"/>
          <p:cNvSpPr/>
          <p:nvPr/>
        </p:nvSpPr>
        <p:spPr>
          <a:xfrm>
            <a:off x="8796528" y="5244084"/>
            <a:ext cx="530352" cy="219456"/>
          </a:xfrm>
          <a:prstGeom prst="rect">
            <a:avLst/>
          </a:prstGeom>
          <a:solidFill>
            <a:srgbClr val="1A7A4A"/>
          </a:solidFill>
          <a:ln w="12700">
            <a:solidFill>
              <a:srgbClr val="1A7A4A"/>
            </a:solidFill>
            <a:prstDash val="solid"/>
          </a:ln>
        </p:spPr>
      </p:sp>
      <p:sp>
        <p:nvSpPr>
          <p:cNvPr id="110" name="Text 108"/>
          <p:cNvSpPr/>
          <p:nvPr/>
        </p:nvSpPr>
        <p:spPr>
          <a:xfrm>
            <a:off x="8796528" y="5244084"/>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LOW</a:t>
            </a:r>
            <a:endParaRPr lang="en-US" sz="750" dirty="0"/>
          </a:p>
        </p:txBody>
      </p:sp>
      <p:sp>
        <p:nvSpPr>
          <p:cNvPr id="111" name="Shape 109"/>
          <p:cNvSpPr/>
          <p:nvPr/>
        </p:nvSpPr>
        <p:spPr>
          <a:xfrm>
            <a:off x="9372600" y="5244084"/>
            <a:ext cx="658368" cy="219456"/>
          </a:xfrm>
          <a:prstGeom prst="rect">
            <a:avLst/>
          </a:prstGeom>
          <a:solidFill>
            <a:srgbClr val="2C6FAC"/>
          </a:solidFill>
          <a:ln w="12700">
            <a:solidFill>
              <a:srgbClr val="2C6FAC"/>
            </a:solidFill>
            <a:prstDash val="solid"/>
          </a:ln>
        </p:spPr>
      </p:sp>
      <p:sp>
        <p:nvSpPr>
          <p:cNvPr id="112" name="Text 110"/>
          <p:cNvSpPr/>
          <p:nvPr/>
        </p:nvSpPr>
        <p:spPr>
          <a:xfrm>
            <a:off x="9372600" y="5244084"/>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UPGRADE</a:t>
            </a:r>
            <a:endParaRPr lang="en-US" sz="750" dirty="0"/>
          </a:p>
        </p:txBody>
      </p:sp>
      <p:sp>
        <p:nvSpPr>
          <p:cNvPr id="113" name="Shape 111"/>
          <p:cNvSpPr/>
          <p:nvPr/>
        </p:nvSpPr>
        <p:spPr>
          <a:xfrm>
            <a:off x="274320" y="5550408"/>
            <a:ext cx="11567160" cy="329184"/>
          </a:xfrm>
          <a:prstGeom prst="rect">
            <a:avLst/>
          </a:prstGeom>
          <a:solidFill>
            <a:srgbClr val="FFFFFF"/>
          </a:solidFill>
          <a:ln w="12700">
            <a:solidFill>
              <a:srgbClr val="E8ECF2"/>
            </a:solidFill>
            <a:prstDash val="solid"/>
          </a:ln>
        </p:spPr>
      </p:sp>
      <p:sp>
        <p:nvSpPr>
          <p:cNvPr id="114" name="Text 112"/>
          <p:cNvSpPr/>
          <p:nvPr/>
        </p:nvSpPr>
        <p:spPr>
          <a:xfrm>
            <a:off x="347472" y="5596128"/>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GTPAuditService</a:t>
            </a:r>
            <a:endParaRPr lang="en-US" sz="900" dirty="0"/>
          </a:p>
        </p:txBody>
      </p:sp>
      <p:sp>
        <p:nvSpPr>
          <p:cNvPr id="115" name="Text 113"/>
          <p:cNvSpPr/>
          <p:nvPr/>
        </p:nvSpPr>
        <p:spPr>
          <a:xfrm>
            <a:off x="2926080" y="5596128"/>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Pure GTP — no Turbine base</a:t>
            </a:r>
            <a:endParaRPr lang="en-US" sz="850" dirty="0"/>
          </a:p>
        </p:txBody>
      </p:sp>
      <p:sp>
        <p:nvSpPr>
          <p:cNvPr id="116" name="Text 114"/>
          <p:cNvSpPr/>
          <p:nvPr/>
        </p:nvSpPr>
        <p:spPr>
          <a:xfrm>
            <a:off x="5212080" y="5596128"/>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Minimal dependency — likely compatible</a:t>
            </a:r>
            <a:endParaRPr lang="en-US" sz="850" dirty="0"/>
          </a:p>
        </p:txBody>
      </p:sp>
      <p:sp>
        <p:nvSpPr>
          <p:cNvPr id="117" name="Shape 115"/>
          <p:cNvSpPr/>
          <p:nvPr/>
        </p:nvSpPr>
        <p:spPr>
          <a:xfrm>
            <a:off x="8796528" y="5596128"/>
            <a:ext cx="530352" cy="219456"/>
          </a:xfrm>
          <a:prstGeom prst="rect">
            <a:avLst/>
          </a:prstGeom>
          <a:solidFill>
            <a:srgbClr val="1A7A4A"/>
          </a:solidFill>
          <a:ln w="12700">
            <a:solidFill>
              <a:srgbClr val="1A7A4A"/>
            </a:solidFill>
            <a:prstDash val="solid"/>
          </a:ln>
        </p:spPr>
      </p:sp>
      <p:sp>
        <p:nvSpPr>
          <p:cNvPr id="118" name="Text 116"/>
          <p:cNvSpPr/>
          <p:nvPr/>
        </p:nvSpPr>
        <p:spPr>
          <a:xfrm>
            <a:off x="8796528" y="5596128"/>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LOW</a:t>
            </a:r>
            <a:endParaRPr lang="en-US" sz="750" dirty="0"/>
          </a:p>
        </p:txBody>
      </p:sp>
      <p:sp>
        <p:nvSpPr>
          <p:cNvPr id="119" name="Shape 117"/>
          <p:cNvSpPr/>
          <p:nvPr/>
        </p:nvSpPr>
        <p:spPr>
          <a:xfrm>
            <a:off x="9372600" y="5596128"/>
            <a:ext cx="658368" cy="219456"/>
          </a:xfrm>
          <a:prstGeom prst="rect">
            <a:avLst/>
          </a:prstGeom>
          <a:solidFill>
            <a:srgbClr val="0D7377"/>
          </a:solidFill>
          <a:ln w="12700">
            <a:solidFill>
              <a:srgbClr val="0D7377"/>
            </a:solidFill>
            <a:prstDash val="solid"/>
          </a:ln>
        </p:spPr>
      </p:sp>
      <p:sp>
        <p:nvSpPr>
          <p:cNvPr id="120" name="Text 118"/>
          <p:cNvSpPr/>
          <p:nvPr/>
        </p:nvSpPr>
        <p:spPr>
          <a:xfrm>
            <a:off x="9372600" y="5596128"/>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VERIFY</a:t>
            </a:r>
            <a:endParaRPr lang="en-US" sz="750" dirty="0"/>
          </a:p>
        </p:txBody>
      </p:sp>
      <p:sp>
        <p:nvSpPr>
          <p:cNvPr id="121" name="Shape 119"/>
          <p:cNvSpPr/>
          <p:nvPr/>
        </p:nvSpPr>
        <p:spPr>
          <a:xfrm>
            <a:off x="274320" y="5902452"/>
            <a:ext cx="11567160" cy="329184"/>
          </a:xfrm>
          <a:prstGeom prst="rect">
            <a:avLst/>
          </a:prstGeom>
          <a:solidFill>
            <a:srgbClr val="F4F6FA"/>
          </a:solidFill>
          <a:ln w="12700">
            <a:solidFill>
              <a:srgbClr val="E8ECF2"/>
            </a:solidFill>
            <a:prstDash val="solid"/>
          </a:ln>
        </p:spPr>
      </p:sp>
      <p:sp>
        <p:nvSpPr>
          <p:cNvPr id="122" name="Text 120"/>
          <p:cNvSpPr/>
          <p:nvPr/>
        </p:nvSpPr>
        <p:spPr>
          <a:xfrm>
            <a:off x="347472" y="5948172"/>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PsmlScreenManager</a:t>
            </a:r>
            <a:endParaRPr lang="en-US" sz="900" dirty="0"/>
          </a:p>
        </p:txBody>
      </p:sp>
      <p:sp>
        <p:nvSpPr>
          <p:cNvPr id="123" name="Text 121"/>
          <p:cNvSpPr/>
          <p:nvPr/>
        </p:nvSpPr>
        <p:spPr>
          <a:xfrm>
            <a:off x="2926080" y="5948172"/>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Castor XML unmarshalling</a:t>
            </a:r>
            <a:endParaRPr lang="en-US" sz="850" dirty="0"/>
          </a:p>
        </p:txBody>
      </p:sp>
      <p:sp>
        <p:nvSpPr>
          <p:cNvPr id="124" name="Text 122"/>
          <p:cNvSpPr/>
          <p:nvPr/>
        </p:nvSpPr>
        <p:spPr>
          <a:xfrm>
            <a:off x="5212080" y="5948172"/>
            <a:ext cx="3383280" cy="246888"/>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BROKEN Java 17 — replace with dom4j or JAXB</a:t>
            </a:r>
            <a:endParaRPr lang="en-US" sz="850" dirty="0"/>
          </a:p>
        </p:txBody>
      </p:sp>
      <p:sp>
        <p:nvSpPr>
          <p:cNvPr id="125" name="Shape 123"/>
          <p:cNvSpPr/>
          <p:nvPr/>
        </p:nvSpPr>
        <p:spPr>
          <a:xfrm>
            <a:off x="8796528" y="5948172"/>
            <a:ext cx="530352" cy="219456"/>
          </a:xfrm>
          <a:prstGeom prst="rect">
            <a:avLst/>
          </a:prstGeom>
          <a:solidFill>
            <a:srgbClr val="C0392B"/>
          </a:solidFill>
          <a:ln w="12700">
            <a:solidFill>
              <a:srgbClr val="C0392B"/>
            </a:solidFill>
            <a:prstDash val="solid"/>
          </a:ln>
        </p:spPr>
      </p:sp>
      <p:sp>
        <p:nvSpPr>
          <p:cNvPr id="126" name="Text 124"/>
          <p:cNvSpPr/>
          <p:nvPr/>
        </p:nvSpPr>
        <p:spPr>
          <a:xfrm>
            <a:off x="8796528" y="594817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127" name="Shape 125"/>
          <p:cNvSpPr/>
          <p:nvPr/>
        </p:nvSpPr>
        <p:spPr>
          <a:xfrm>
            <a:off x="9372600" y="5948172"/>
            <a:ext cx="658368" cy="219456"/>
          </a:xfrm>
          <a:prstGeom prst="rect">
            <a:avLst/>
          </a:prstGeom>
          <a:solidFill>
            <a:srgbClr val="C0392B"/>
          </a:solidFill>
          <a:ln w="12700">
            <a:solidFill>
              <a:srgbClr val="C0392B"/>
            </a:solidFill>
            <a:prstDash val="solid"/>
          </a:ln>
        </p:spPr>
      </p:sp>
      <p:sp>
        <p:nvSpPr>
          <p:cNvPr id="128" name="Text 126"/>
          <p:cNvSpPr/>
          <p:nvPr/>
        </p:nvSpPr>
        <p:spPr>
          <a:xfrm>
            <a:off x="9372600" y="5948172"/>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BREAK</a:t>
            </a:r>
            <a:endParaRPr lang="en-US" sz="750" dirty="0"/>
          </a:p>
        </p:txBody>
      </p:sp>
      <p:sp>
        <p:nvSpPr>
          <p:cNvPr id="129" name="Shape 127"/>
          <p:cNvSpPr/>
          <p:nvPr/>
        </p:nvSpPr>
        <p:spPr>
          <a:xfrm>
            <a:off x="274320" y="6254496"/>
            <a:ext cx="11567160" cy="329184"/>
          </a:xfrm>
          <a:prstGeom prst="rect">
            <a:avLst/>
          </a:prstGeom>
          <a:solidFill>
            <a:srgbClr val="FFFFFF"/>
          </a:solidFill>
          <a:ln w="12700">
            <a:solidFill>
              <a:srgbClr val="E8ECF2"/>
            </a:solidFill>
            <a:prstDash val="solid"/>
          </a:ln>
        </p:spPr>
      </p:sp>
      <p:sp>
        <p:nvSpPr>
          <p:cNvPr id="130" name="Text 128"/>
          <p:cNvSpPr/>
          <p:nvPr/>
        </p:nvSpPr>
        <p:spPr>
          <a:xfrm>
            <a:off x="347472" y="6300216"/>
            <a:ext cx="2487168" cy="246888"/>
          </a:xfrm>
          <a:prstGeom prst="rect">
            <a:avLst/>
          </a:prstGeom>
          <a:noFill/>
          <a:ln/>
        </p:spPr>
        <p:txBody>
          <a:bodyPr wrap="square" lIns="0" tIns="0" rIns="0" bIns="0" rtlCol="0" anchor="ctr"/>
          <a:lstStyle/>
          <a:p>
            <a:pPr indent="0" marL="0">
              <a:buNone/>
            </a:pPr>
            <a:r>
              <a:rPr lang="en-US" sz="900" b="1" dirty="0">
                <a:solidFill>
                  <a:srgbClr val="1A2A3A"/>
                </a:solidFill>
                <a:latin typeface="Calibri" pitchFamily="34" charset="0"/>
                <a:ea typeface="Calibri" pitchFamily="34" charset="-122"/>
                <a:cs typeface="Calibri" pitchFamily="34" charset="-120"/>
              </a:rPr>
              <a:t>GTPPoolBrokerService</a:t>
            </a:r>
            <a:endParaRPr lang="en-US" sz="900" dirty="0"/>
          </a:p>
        </p:txBody>
      </p:sp>
      <p:sp>
        <p:nvSpPr>
          <p:cNvPr id="131" name="Text 129"/>
          <p:cNvSpPr/>
          <p:nvPr/>
        </p:nvSpPr>
        <p:spPr>
          <a:xfrm>
            <a:off x="2926080" y="6300216"/>
            <a:ext cx="2194560" cy="246888"/>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DB connection facade</a:t>
            </a:r>
            <a:endParaRPr lang="en-US" sz="850" dirty="0"/>
          </a:p>
        </p:txBody>
      </p:sp>
      <p:sp>
        <p:nvSpPr>
          <p:cNvPr id="132" name="Text 130"/>
          <p:cNvSpPr/>
          <p:nvPr/>
        </p:nvSpPr>
        <p:spPr>
          <a:xfrm>
            <a:off x="5212080" y="6300216"/>
            <a:ext cx="3383280" cy="246888"/>
          </a:xfrm>
          <a:prstGeom prst="rect">
            <a:avLst/>
          </a:prstGeom>
          <a:noFill/>
          <a:ln/>
        </p:spPr>
        <p:txBody>
          <a:bodyPr wrap="square" lIns="0" tIns="0" rIns="0" bIns="0" rtlCol="0" anchor="ctr"/>
          <a:lstStyle/>
          <a:p>
            <a:pPr indent="0" marL="0">
              <a:buNone/>
            </a:pPr>
            <a:r>
              <a:rPr lang="en-US" sz="850" dirty="0">
                <a:solidFill>
                  <a:srgbClr val="1A2A3A"/>
                </a:solidFill>
                <a:latin typeface="Calibri" pitchFamily="34" charset="0"/>
                <a:ea typeface="Calibri" pitchFamily="34" charset="-122"/>
                <a:cs typeface="Calibri" pitchFamily="34" charset="-120"/>
              </a:rPr>
              <a:t>javax.sql → jakarta.sql — one import change</a:t>
            </a:r>
            <a:endParaRPr lang="en-US" sz="850" dirty="0"/>
          </a:p>
        </p:txBody>
      </p:sp>
      <p:sp>
        <p:nvSpPr>
          <p:cNvPr id="133" name="Shape 131"/>
          <p:cNvSpPr/>
          <p:nvPr/>
        </p:nvSpPr>
        <p:spPr>
          <a:xfrm>
            <a:off x="8796528" y="6300216"/>
            <a:ext cx="530352" cy="219456"/>
          </a:xfrm>
          <a:prstGeom prst="rect">
            <a:avLst/>
          </a:prstGeom>
          <a:solidFill>
            <a:srgbClr val="1A7A4A"/>
          </a:solidFill>
          <a:ln w="12700">
            <a:solidFill>
              <a:srgbClr val="1A7A4A"/>
            </a:solidFill>
            <a:prstDash val="solid"/>
          </a:ln>
        </p:spPr>
      </p:sp>
      <p:sp>
        <p:nvSpPr>
          <p:cNvPr id="134" name="Text 132"/>
          <p:cNvSpPr/>
          <p:nvPr/>
        </p:nvSpPr>
        <p:spPr>
          <a:xfrm>
            <a:off x="8796528" y="6300216"/>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LOW</a:t>
            </a:r>
            <a:endParaRPr lang="en-US" sz="750" dirty="0"/>
          </a:p>
        </p:txBody>
      </p:sp>
      <p:sp>
        <p:nvSpPr>
          <p:cNvPr id="135" name="Shape 133"/>
          <p:cNvSpPr/>
          <p:nvPr/>
        </p:nvSpPr>
        <p:spPr>
          <a:xfrm>
            <a:off x="9372600" y="6300216"/>
            <a:ext cx="658368" cy="219456"/>
          </a:xfrm>
          <a:prstGeom prst="rect">
            <a:avLst/>
          </a:prstGeom>
          <a:solidFill>
            <a:srgbClr val="2C6FAC"/>
          </a:solidFill>
          <a:ln w="12700">
            <a:solidFill>
              <a:srgbClr val="2C6FAC"/>
            </a:solidFill>
            <a:prstDash val="solid"/>
          </a:ln>
        </p:spPr>
      </p:sp>
      <p:sp>
        <p:nvSpPr>
          <p:cNvPr id="136" name="Text 134"/>
          <p:cNvSpPr/>
          <p:nvPr/>
        </p:nvSpPr>
        <p:spPr>
          <a:xfrm>
            <a:off x="9372600" y="6300216"/>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UPGRADE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Migration Effort &amp; Complexity Assessment</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Based on war room findings + hands-on POC validation</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65760" y="100584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005840"/>
            <a:ext cx="3703320" cy="64008"/>
          </a:xfrm>
          <a:prstGeom prst="rect">
            <a:avLst/>
          </a:prstGeom>
          <a:solidFill>
            <a:srgbClr val="C0392B"/>
          </a:solidFill>
          <a:ln w="12700">
            <a:solidFill>
              <a:srgbClr val="C0392B"/>
            </a:solidFill>
            <a:prstDash val="solid"/>
          </a:ln>
        </p:spPr>
      </p:sp>
      <p:sp>
        <p:nvSpPr>
          <p:cNvPr id="9" name="Text 7"/>
          <p:cNvSpPr/>
          <p:nvPr/>
        </p:nvSpPr>
        <p:spPr>
          <a:xfrm>
            <a:off x="475488" y="114300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Turbine Service Layer</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(Layer 1–3)</a:t>
            </a:r>
            <a:endParaRPr lang="en-US" sz="1100" dirty="0"/>
          </a:p>
        </p:txBody>
      </p:sp>
      <p:sp>
        <p:nvSpPr>
          <p:cNvPr id="10" name="Shape 8"/>
          <p:cNvSpPr/>
          <p:nvPr/>
        </p:nvSpPr>
        <p:spPr>
          <a:xfrm>
            <a:off x="475488" y="1572768"/>
            <a:ext cx="960120" cy="219456"/>
          </a:xfrm>
          <a:prstGeom prst="rect">
            <a:avLst/>
          </a:prstGeom>
          <a:solidFill>
            <a:srgbClr val="001F3F"/>
          </a:solidFill>
          <a:ln w="12700">
            <a:solidFill>
              <a:srgbClr val="001F3F"/>
            </a:solidFill>
            <a:prstDash val="solid"/>
          </a:ln>
        </p:spPr>
      </p:sp>
      <p:sp>
        <p:nvSpPr>
          <p:cNvPr id="11" name="Text 9"/>
          <p:cNvSpPr/>
          <p:nvPr/>
        </p:nvSpPr>
        <p:spPr>
          <a:xfrm>
            <a:off x="475488" y="157276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HIGH</a:t>
            </a:r>
            <a:endParaRPr lang="en-US" sz="750" dirty="0"/>
          </a:p>
        </p:txBody>
      </p:sp>
      <p:sp>
        <p:nvSpPr>
          <p:cNvPr id="12" name="Shape 10"/>
          <p:cNvSpPr/>
          <p:nvPr/>
        </p:nvSpPr>
        <p:spPr>
          <a:xfrm>
            <a:off x="1481328" y="1572768"/>
            <a:ext cx="777240" cy="219456"/>
          </a:xfrm>
          <a:prstGeom prst="rect">
            <a:avLst/>
          </a:prstGeom>
          <a:solidFill>
            <a:srgbClr val="C0392B"/>
          </a:solidFill>
          <a:ln w="12700">
            <a:solidFill>
              <a:srgbClr val="C0392B"/>
            </a:solidFill>
            <a:prstDash val="solid"/>
          </a:ln>
        </p:spPr>
      </p:sp>
      <p:sp>
        <p:nvSpPr>
          <p:cNvPr id="13" name="Text 11"/>
          <p:cNvSpPr/>
          <p:nvPr/>
        </p:nvSpPr>
        <p:spPr>
          <a:xfrm>
            <a:off x="1481328" y="157276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HIGH</a:t>
            </a:r>
            <a:endParaRPr lang="en-US" sz="750" dirty="0"/>
          </a:p>
        </p:txBody>
      </p:sp>
      <p:sp>
        <p:nvSpPr>
          <p:cNvPr id="14" name="Text 12"/>
          <p:cNvSpPr/>
          <p:nvPr/>
        </p:nvSpPr>
        <p:spPr>
          <a:xfrm>
            <a:off x="475488" y="187452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TurbinePoolService removed, GTPRunDataService rewrite, InstanceListener gone</a:t>
            </a:r>
            <a:endParaRPr lang="en-US" sz="850" dirty="0"/>
          </a:p>
        </p:txBody>
      </p:sp>
      <p:sp>
        <p:nvSpPr>
          <p:cNvPr id="15" name="Shape 13"/>
          <p:cNvSpPr/>
          <p:nvPr/>
        </p:nvSpPr>
        <p:spPr>
          <a:xfrm>
            <a:off x="365760" y="251460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2514600"/>
            <a:ext cx="3703320" cy="64008"/>
          </a:xfrm>
          <a:prstGeom prst="rect">
            <a:avLst/>
          </a:prstGeom>
          <a:solidFill>
            <a:srgbClr val="C0392B"/>
          </a:solidFill>
          <a:ln w="12700">
            <a:solidFill>
              <a:srgbClr val="C0392B"/>
            </a:solidFill>
            <a:prstDash val="solid"/>
          </a:ln>
        </p:spPr>
      </p:sp>
      <p:sp>
        <p:nvSpPr>
          <p:cNvPr id="17" name="Text 15"/>
          <p:cNvSpPr/>
          <p:nvPr/>
        </p:nvSpPr>
        <p:spPr>
          <a:xfrm>
            <a:off x="475488" y="265176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GTP Business Services</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(Layer 4 — 17 services)</a:t>
            </a:r>
            <a:endParaRPr lang="en-US" sz="1100" dirty="0"/>
          </a:p>
        </p:txBody>
      </p:sp>
      <p:sp>
        <p:nvSpPr>
          <p:cNvPr id="18" name="Shape 16"/>
          <p:cNvSpPr/>
          <p:nvPr/>
        </p:nvSpPr>
        <p:spPr>
          <a:xfrm>
            <a:off x="475488" y="3081528"/>
            <a:ext cx="960120" cy="219456"/>
          </a:xfrm>
          <a:prstGeom prst="rect">
            <a:avLst/>
          </a:prstGeom>
          <a:solidFill>
            <a:srgbClr val="001F3F"/>
          </a:solidFill>
          <a:ln w="12700">
            <a:solidFill>
              <a:srgbClr val="001F3F"/>
            </a:solidFill>
            <a:prstDash val="solid"/>
          </a:ln>
        </p:spPr>
      </p:sp>
      <p:sp>
        <p:nvSpPr>
          <p:cNvPr id="19" name="Text 17"/>
          <p:cNvSpPr/>
          <p:nvPr/>
        </p:nvSpPr>
        <p:spPr>
          <a:xfrm>
            <a:off x="475488" y="308152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HIGH</a:t>
            </a:r>
            <a:endParaRPr lang="en-US" sz="750" dirty="0"/>
          </a:p>
        </p:txBody>
      </p:sp>
      <p:sp>
        <p:nvSpPr>
          <p:cNvPr id="20" name="Shape 18"/>
          <p:cNvSpPr/>
          <p:nvPr/>
        </p:nvSpPr>
        <p:spPr>
          <a:xfrm>
            <a:off x="1481328" y="3081528"/>
            <a:ext cx="777240" cy="219456"/>
          </a:xfrm>
          <a:prstGeom prst="rect">
            <a:avLst/>
          </a:prstGeom>
          <a:solidFill>
            <a:srgbClr val="C0392B"/>
          </a:solidFill>
          <a:ln w="12700">
            <a:solidFill>
              <a:srgbClr val="C0392B"/>
            </a:solidFill>
            <a:prstDash val="solid"/>
          </a:ln>
        </p:spPr>
      </p:sp>
      <p:sp>
        <p:nvSpPr>
          <p:cNvPr id="21" name="Text 19"/>
          <p:cNvSpPr/>
          <p:nvPr/>
        </p:nvSpPr>
        <p:spPr>
          <a:xfrm>
            <a:off x="1481328" y="308152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HIGH</a:t>
            </a:r>
            <a:endParaRPr lang="en-US" sz="750" dirty="0"/>
          </a:p>
        </p:txBody>
      </p:sp>
      <p:sp>
        <p:nvSpPr>
          <p:cNvPr id="22" name="Text 20"/>
          <p:cNvSpPr/>
          <p:nvPr/>
        </p:nvSpPr>
        <p:spPr>
          <a:xfrm>
            <a:off x="475488" y="338328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E2EEService, GTPPoolBrokerService, PsmlScreenManager — all need verification</a:t>
            </a:r>
            <a:endParaRPr lang="en-US" sz="850" dirty="0"/>
          </a:p>
        </p:txBody>
      </p:sp>
      <p:sp>
        <p:nvSpPr>
          <p:cNvPr id="23" name="Shape 21"/>
          <p:cNvSpPr/>
          <p:nvPr/>
        </p:nvSpPr>
        <p:spPr>
          <a:xfrm>
            <a:off x="4206240" y="100584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206240" y="1005840"/>
            <a:ext cx="3703320" cy="64008"/>
          </a:xfrm>
          <a:prstGeom prst="rect">
            <a:avLst/>
          </a:prstGeom>
          <a:solidFill>
            <a:srgbClr val="D4A017"/>
          </a:solidFill>
          <a:ln w="12700">
            <a:solidFill>
              <a:srgbClr val="D4A017"/>
            </a:solidFill>
            <a:prstDash val="solid"/>
          </a:ln>
        </p:spPr>
      </p:sp>
      <p:sp>
        <p:nvSpPr>
          <p:cNvPr id="25" name="Text 23"/>
          <p:cNvSpPr/>
          <p:nvPr/>
        </p:nvSpPr>
        <p:spPr>
          <a:xfrm>
            <a:off x="4315968" y="114300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Portlet / Action Layer</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(300+ classes)</a:t>
            </a:r>
            <a:endParaRPr lang="en-US" sz="1100" dirty="0"/>
          </a:p>
        </p:txBody>
      </p:sp>
      <p:sp>
        <p:nvSpPr>
          <p:cNvPr id="26" name="Shape 24"/>
          <p:cNvSpPr/>
          <p:nvPr/>
        </p:nvSpPr>
        <p:spPr>
          <a:xfrm>
            <a:off x="4315968" y="1572768"/>
            <a:ext cx="960120" cy="219456"/>
          </a:xfrm>
          <a:prstGeom prst="rect">
            <a:avLst/>
          </a:prstGeom>
          <a:solidFill>
            <a:srgbClr val="001F3F"/>
          </a:solidFill>
          <a:ln w="12700">
            <a:solidFill>
              <a:srgbClr val="001F3F"/>
            </a:solidFill>
            <a:prstDash val="solid"/>
          </a:ln>
        </p:spPr>
      </p:sp>
      <p:sp>
        <p:nvSpPr>
          <p:cNvPr id="27" name="Text 25"/>
          <p:cNvSpPr/>
          <p:nvPr/>
        </p:nvSpPr>
        <p:spPr>
          <a:xfrm>
            <a:off x="4315968" y="157276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HIGH</a:t>
            </a:r>
            <a:endParaRPr lang="en-US" sz="750" dirty="0"/>
          </a:p>
        </p:txBody>
      </p:sp>
      <p:sp>
        <p:nvSpPr>
          <p:cNvPr id="28" name="Shape 26"/>
          <p:cNvSpPr/>
          <p:nvPr/>
        </p:nvSpPr>
        <p:spPr>
          <a:xfrm>
            <a:off x="5321808" y="1572768"/>
            <a:ext cx="777240" cy="219456"/>
          </a:xfrm>
          <a:prstGeom prst="rect">
            <a:avLst/>
          </a:prstGeom>
          <a:solidFill>
            <a:srgbClr val="D4A017"/>
          </a:solidFill>
          <a:ln w="12700">
            <a:solidFill>
              <a:srgbClr val="D4A017"/>
            </a:solidFill>
            <a:prstDash val="solid"/>
          </a:ln>
        </p:spPr>
      </p:sp>
      <p:sp>
        <p:nvSpPr>
          <p:cNvPr id="29" name="Text 27"/>
          <p:cNvSpPr/>
          <p:nvPr/>
        </p:nvSpPr>
        <p:spPr>
          <a:xfrm>
            <a:off x="5321808" y="157276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MEDIUM</a:t>
            </a:r>
            <a:endParaRPr lang="en-US" sz="750" dirty="0"/>
          </a:p>
        </p:txBody>
      </p:sp>
      <p:sp>
        <p:nvSpPr>
          <p:cNvPr id="30" name="Text 28"/>
          <p:cNvSpPr/>
          <p:nvPr/>
        </p:nvSpPr>
        <p:spPr>
          <a:xfrm>
            <a:off x="4315968" y="187452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extends→implements, data.getPage() removal, RunData signature changes across every class</a:t>
            </a:r>
            <a:endParaRPr lang="en-US" sz="850" dirty="0"/>
          </a:p>
        </p:txBody>
      </p:sp>
      <p:sp>
        <p:nvSpPr>
          <p:cNvPr id="31" name="Shape 29"/>
          <p:cNvSpPr/>
          <p:nvPr/>
        </p:nvSpPr>
        <p:spPr>
          <a:xfrm>
            <a:off x="4206240" y="251460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4206240" y="2514600"/>
            <a:ext cx="3703320" cy="64008"/>
          </a:xfrm>
          <a:prstGeom prst="rect">
            <a:avLst/>
          </a:prstGeom>
          <a:solidFill>
            <a:srgbClr val="C0392B"/>
          </a:solidFill>
          <a:ln w="12700">
            <a:solidFill>
              <a:srgbClr val="C0392B"/>
            </a:solidFill>
            <a:prstDash val="solid"/>
          </a:ln>
        </p:spPr>
      </p:sp>
      <p:sp>
        <p:nvSpPr>
          <p:cNvPr id="33" name="Text 31"/>
          <p:cNvSpPr/>
          <p:nvPr/>
        </p:nvSpPr>
        <p:spPr>
          <a:xfrm>
            <a:off x="4315968" y="265176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Torque ORM Layer</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(Criteria, Peer, Village)</a:t>
            </a:r>
            <a:endParaRPr lang="en-US" sz="1100" dirty="0"/>
          </a:p>
        </p:txBody>
      </p:sp>
      <p:sp>
        <p:nvSpPr>
          <p:cNvPr id="34" name="Shape 32"/>
          <p:cNvSpPr/>
          <p:nvPr/>
        </p:nvSpPr>
        <p:spPr>
          <a:xfrm>
            <a:off x="4315968" y="3081528"/>
            <a:ext cx="960120" cy="219456"/>
          </a:xfrm>
          <a:prstGeom prst="rect">
            <a:avLst/>
          </a:prstGeom>
          <a:solidFill>
            <a:srgbClr val="001F3F"/>
          </a:solidFill>
          <a:ln w="12700">
            <a:solidFill>
              <a:srgbClr val="001F3F"/>
            </a:solidFill>
            <a:prstDash val="solid"/>
          </a:ln>
        </p:spPr>
      </p:sp>
      <p:sp>
        <p:nvSpPr>
          <p:cNvPr id="35" name="Text 33"/>
          <p:cNvSpPr/>
          <p:nvPr/>
        </p:nvSpPr>
        <p:spPr>
          <a:xfrm>
            <a:off x="4315968" y="308152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HIGH</a:t>
            </a:r>
            <a:endParaRPr lang="en-US" sz="750" dirty="0"/>
          </a:p>
        </p:txBody>
      </p:sp>
      <p:sp>
        <p:nvSpPr>
          <p:cNvPr id="36" name="Shape 34"/>
          <p:cNvSpPr/>
          <p:nvPr/>
        </p:nvSpPr>
        <p:spPr>
          <a:xfrm>
            <a:off x="5321808" y="3081528"/>
            <a:ext cx="777240" cy="219456"/>
          </a:xfrm>
          <a:prstGeom prst="rect">
            <a:avLst/>
          </a:prstGeom>
          <a:solidFill>
            <a:srgbClr val="C0392B"/>
          </a:solidFill>
          <a:ln w="12700">
            <a:solidFill>
              <a:srgbClr val="C0392B"/>
            </a:solidFill>
            <a:prstDash val="solid"/>
          </a:ln>
        </p:spPr>
      </p:sp>
      <p:sp>
        <p:nvSpPr>
          <p:cNvPr id="37" name="Text 35"/>
          <p:cNvSpPr/>
          <p:nvPr/>
        </p:nvSpPr>
        <p:spPr>
          <a:xfrm>
            <a:off x="5321808" y="308152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HIGH</a:t>
            </a:r>
            <a:endParaRPr lang="en-US" sz="750" dirty="0"/>
          </a:p>
        </p:txBody>
      </p:sp>
      <p:sp>
        <p:nvSpPr>
          <p:cNvPr id="38" name="Text 36"/>
          <p:cNvSpPr/>
          <p:nvPr/>
        </p:nvSpPr>
        <p:spPr>
          <a:xfrm>
            <a:off x="4315968" y="338328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Complete API rewrite — no schema.xml found, Village removed, ComponentService gone</a:t>
            </a:r>
            <a:endParaRPr lang="en-US" sz="850" dirty="0"/>
          </a:p>
        </p:txBody>
      </p:sp>
      <p:sp>
        <p:nvSpPr>
          <p:cNvPr id="39" name="Shape 37"/>
          <p:cNvSpPr/>
          <p:nvPr/>
        </p:nvSpPr>
        <p:spPr>
          <a:xfrm>
            <a:off x="8046720" y="100584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8046720" y="1005840"/>
            <a:ext cx="3703320" cy="64008"/>
          </a:xfrm>
          <a:prstGeom prst="rect">
            <a:avLst/>
          </a:prstGeom>
          <a:solidFill>
            <a:srgbClr val="D4A017"/>
          </a:solidFill>
          <a:ln w="12700">
            <a:solidFill>
              <a:srgbClr val="D4A017"/>
            </a:solidFill>
            <a:prstDash val="solid"/>
          </a:ln>
        </p:spPr>
      </p:sp>
      <p:sp>
        <p:nvSpPr>
          <p:cNvPr id="41" name="Text 39"/>
          <p:cNvSpPr/>
          <p:nvPr/>
        </p:nvSpPr>
        <p:spPr>
          <a:xfrm>
            <a:off x="8156448" y="114300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Spring / WSService Layer</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(REST APIs for UOB Infinity)</a:t>
            </a:r>
            <a:endParaRPr lang="en-US" sz="1100" dirty="0"/>
          </a:p>
        </p:txBody>
      </p:sp>
      <p:sp>
        <p:nvSpPr>
          <p:cNvPr id="42" name="Shape 40"/>
          <p:cNvSpPr/>
          <p:nvPr/>
        </p:nvSpPr>
        <p:spPr>
          <a:xfrm>
            <a:off x="8156448" y="1572768"/>
            <a:ext cx="960120" cy="219456"/>
          </a:xfrm>
          <a:prstGeom prst="rect">
            <a:avLst/>
          </a:prstGeom>
          <a:solidFill>
            <a:srgbClr val="001F3F"/>
          </a:solidFill>
          <a:ln w="12700">
            <a:solidFill>
              <a:srgbClr val="001F3F"/>
            </a:solidFill>
            <a:prstDash val="solid"/>
          </a:ln>
        </p:spPr>
      </p:sp>
      <p:sp>
        <p:nvSpPr>
          <p:cNvPr id="43" name="Text 41"/>
          <p:cNvSpPr/>
          <p:nvPr/>
        </p:nvSpPr>
        <p:spPr>
          <a:xfrm>
            <a:off x="8156448" y="157276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MEDIUM</a:t>
            </a:r>
            <a:endParaRPr lang="en-US" sz="750" dirty="0"/>
          </a:p>
        </p:txBody>
      </p:sp>
      <p:sp>
        <p:nvSpPr>
          <p:cNvPr id="44" name="Shape 42"/>
          <p:cNvSpPr/>
          <p:nvPr/>
        </p:nvSpPr>
        <p:spPr>
          <a:xfrm>
            <a:off x="9162288" y="1572768"/>
            <a:ext cx="777240" cy="219456"/>
          </a:xfrm>
          <a:prstGeom prst="rect">
            <a:avLst/>
          </a:prstGeom>
          <a:solidFill>
            <a:srgbClr val="D4A017"/>
          </a:solidFill>
          <a:ln w="12700">
            <a:solidFill>
              <a:srgbClr val="D4A017"/>
            </a:solidFill>
            <a:prstDash val="solid"/>
          </a:ln>
        </p:spPr>
      </p:sp>
      <p:sp>
        <p:nvSpPr>
          <p:cNvPr id="45" name="Text 43"/>
          <p:cNvSpPr/>
          <p:nvPr/>
        </p:nvSpPr>
        <p:spPr>
          <a:xfrm>
            <a:off x="9162288" y="157276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MEDIUM</a:t>
            </a:r>
            <a:endParaRPr lang="en-US" sz="750" dirty="0"/>
          </a:p>
        </p:txBody>
      </p:sp>
      <p:sp>
        <p:nvSpPr>
          <p:cNvPr id="46" name="Text 44"/>
          <p:cNvSpPr/>
          <p:nvPr/>
        </p:nvSpPr>
        <p:spPr>
          <a:xfrm>
            <a:off x="8156448" y="187452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Spring 4.2.9 → Spring 6 (Jakarta EE), Springfox → springdoc-openapi</a:t>
            </a:r>
            <a:endParaRPr lang="en-US" sz="850" dirty="0"/>
          </a:p>
        </p:txBody>
      </p:sp>
      <p:sp>
        <p:nvSpPr>
          <p:cNvPr id="47" name="Shape 45"/>
          <p:cNvSpPr/>
          <p:nvPr/>
        </p:nvSpPr>
        <p:spPr>
          <a:xfrm>
            <a:off x="8046720" y="251460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8" name="Shape 46"/>
          <p:cNvSpPr/>
          <p:nvPr/>
        </p:nvSpPr>
        <p:spPr>
          <a:xfrm>
            <a:off x="8046720" y="2514600"/>
            <a:ext cx="3703320" cy="64008"/>
          </a:xfrm>
          <a:prstGeom prst="rect">
            <a:avLst/>
          </a:prstGeom>
          <a:solidFill>
            <a:srgbClr val="1A7A4A"/>
          </a:solidFill>
          <a:ln w="12700">
            <a:solidFill>
              <a:srgbClr val="1A7A4A"/>
            </a:solidFill>
            <a:prstDash val="solid"/>
          </a:ln>
        </p:spPr>
      </p:sp>
      <p:sp>
        <p:nvSpPr>
          <p:cNvPr id="49" name="Text 47"/>
          <p:cNvSpPr/>
          <p:nvPr/>
        </p:nvSpPr>
        <p:spPr>
          <a:xfrm>
            <a:off x="8156448" y="265176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XSL / Velocity Templates</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(400+ XSL files)</a:t>
            </a:r>
            <a:endParaRPr lang="en-US" sz="1100" dirty="0"/>
          </a:p>
        </p:txBody>
      </p:sp>
      <p:sp>
        <p:nvSpPr>
          <p:cNvPr id="50" name="Shape 48"/>
          <p:cNvSpPr/>
          <p:nvPr/>
        </p:nvSpPr>
        <p:spPr>
          <a:xfrm>
            <a:off x="8156448" y="3081528"/>
            <a:ext cx="960120" cy="219456"/>
          </a:xfrm>
          <a:prstGeom prst="rect">
            <a:avLst/>
          </a:prstGeom>
          <a:solidFill>
            <a:srgbClr val="001F3F"/>
          </a:solidFill>
          <a:ln w="12700">
            <a:solidFill>
              <a:srgbClr val="001F3F"/>
            </a:solidFill>
            <a:prstDash val="solid"/>
          </a:ln>
        </p:spPr>
      </p:sp>
      <p:sp>
        <p:nvSpPr>
          <p:cNvPr id="51" name="Text 49"/>
          <p:cNvSpPr/>
          <p:nvPr/>
        </p:nvSpPr>
        <p:spPr>
          <a:xfrm>
            <a:off x="8156448" y="308152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LOW</a:t>
            </a:r>
            <a:endParaRPr lang="en-US" sz="750" dirty="0"/>
          </a:p>
        </p:txBody>
      </p:sp>
      <p:sp>
        <p:nvSpPr>
          <p:cNvPr id="52" name="Shape 50"/>
          <p:cNvSpPr/>
          <p:nvPr/>
        </p:nvSpPr>
        <p:spPr>
          <a:xfrm>
            <a:off x="9162288" y="3081528"/>
            <a:ext cx="777240" cy="219456"/>
          </a:xfrm>
          <a:prstGeom prst="rect">
            <a:avLst/>
          </a:prstGeom>
          <a:solidFill>
            <a:srgbClr val="1A7A4A"/>
          </a:solidFill>
          <a:ln w="12700">
            <a:solidFill>
              <a:srgbClr val="1A7A4A"/>
            </a:solidFill>
            <a:prstDash val="solid"/>
          </a:ln>
        </p:spPr>
      </p:sp>
      <p:sp>
        <p:nvSpPr>
          <p:cNvPr id="53" name="Text 51"/>
          <p:cNvSpPr/>
          <p:nvPr/>
        </p:nvSpPr>
        <p:spPr>
          <a:xfrm>
            <a:off x="9162288" y="308152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LOW</a:t>
            </a:r>
            <a:endParaRPr lang="en-US" sz="750" dirty="0"/>
          </a:p>
        </p:txBody>
      </p:sp>
      <p:sp>
        <p:nvSpPr>
          <p:cNvPr id="54" name="Text 52"/>
          <p:cNvSpPr/>
          <p:nvPr/>
        </p:nvSpPr>
        <p:spPr>
          <a:xfrm>
            <a:off x="8156448" y="338328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Pure XML — zero Java dependency. ECS 1.4.2 confirmed working Java 21. No changes needed.</a:t>
            </a:r>
            <a:endParaRPr lang="en-US" sz="850" dirty="0"/>
          </a:p>
        </p:txBody>
      </p:sp>
      <p:sp>
        <p:nvSpPr>
          <p:cNvPr id="55" name="Shape 53"/>
          <p:cNvSpPr/>
          <p:nvPr/>
        </p:nvSpPr>
        <p:spPr>
          <a:xfrm>
            <a:off x="365760" y="402336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56" name="Shape 54"/>
          <p:cNvSpPr/>
          <p:nvPr/>
        </p:nvSpPr>
        <p:spPr>
          <a:xfrm>
            <a:off x="365760" y="4023360"/>
            <a:ext cx="3703320" cy="64008"/>
          </a:xfrm>
          <a:prstGeom prst="rect">
            <a:avLst/>
          </a:prstGeom>
          <a:solidFill>
            <a:srgbClr val="D4A017"/>
          </a:solidFill>
          <a:ln w="12700">
            <a:solidFill>
              <a:srgbClr val="D4A017"/>
            </a:solidFill>
            <a:prstDash val="solid"/>
          </a:ln>
        </p:spPr>
      </p:sp>
      <p:sp>
        <p:nvSpPr>
          <p:cNvPr id="57" name="Text 55"/>
          <p:cNvSpPr/>
          <p:nvPr/>
        </p:nvSpPr>
        <p:spPr>
          <a:xfrm>
            <a:off x="475488" y="416052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Token / E2EEService</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(Kreshan/Archana — grey area)</a:t>
            </a:r>
            <a:endParaRPr lang="en-US" sz="1100" dirty="0"/>
          </a:p>
        </p:txBody>
      </p:sp>
      <p:sp>
        <p:nvSpPr>
          <p:cNvPr id="58" name="Shape 56"/>
          <p:cNvSpPr/>
          <p:nvPr/>
        </p:nvSpPr>
        <p:spPr>
          <a:xfrm>
            <a:off x="475488" y="4590288"/>
            <a:ext cx="960120" cy="219456"/>
          </a:xfrm>
          <a:prstGeom prst="rect">
            <a:avLst/>
          </a:prstGeom>
          <a:solidFill>
            <a:srgbClr val="001F3F"/>
          </a:solidFill>
          <a:ln w="12700">
            <a:solidFill>
              <a:srgbClr val="001F3F"/>
            </a:solidFill>
            <a:prstDash val="solid"/>
          </a:ln>
        </p:spPr>
      </p:sp>
      <p:sp>
        <p:nvSpPr>
          <p:cNvPr id="59" name="Text 57"/>
          <p:cNvSpPr/>
          <p:nvPr/>
        </p:nvSpPr>
        <p:spPr>
          <a:xfrm>
            <a:off x="475488" y="459028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UNKNOWN</a:t>
            </a:r>
            <a:endParaRPr lang="en-US" sz="750" dirty="0"/>
          </a:p>
        </p:txBody>
      </p:sp>
      <p:sp>
        <p:nvSpPr>
          <p:cNvPr id="60" name="Shape 58"/>
          <p:cNvSpPr/>
          <p:nvPr/>
        </p:nvSpPr>
        <p:spPr>
          <a:xfrm>
            <a:off x="1481328" y="4590288"/>
            <a:ext cx="777240" cy="219456"/>
          </a:xfrm>
          <a:prstGeom prst="rect">
            <a:avLst/>
          </a:prstGeom>
          <a:solidFill>
            <a:srgbClr val="D4A017"/>
          </a:solidFill>
          <a:ln w="12700">
            <a:solidFill>
              <a:srgbClr val="D4A017"/>
            </a:solidFill>
            <a:prstDash val="solid"/>
          </a:ln>
        </p:spPr>
      </p:sp>
      <p:sp>
        <p:nvSpPr>
          <p:cNvPr id="61" name="Text 59"/>
          <p:cNvSpPr/>
          <p:nvPr/>
        </p:nvSpPr>
        <p:spPr>
          <a:xfrm>
            <a:off x="1481328" y="459028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HIGH</a:t>
            </a:r>
            <a:endParaRPr lang="en-US" sz="750" dirty="0"/>
          </a:p>
        </p:txBody>
      </p:sp>
      <p:sp>
        <p:nvSpPr>
          <p:cNvPr id="62" name="Text 60"/>
          <p:cNvSpPr/>
          <p:nvPr/>
        </p:nvSpPr>
        <p:spPr>
          <a:xfrm>
            <a:off x="475488" y="489204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Hard/soft token, SSO integration — assessment in progress. High banking security impact.</a:t>
            </a:r>
            <a:endParaRPr lang="en-US" sz="850" dirty="0"/>
          </a:p>
        </p:txBody>
      </p:sp>
      <p:sp>
        <p:nvSpPr>
          <p:cNvPr id="63" name="Shape 61"/>
          <p:cNvSpPr/>
          <p:nvPr/>
        </p:nvSpPr>
        <p:spPr>
          <a:xfrm>
            <a:off x="4206240" y="402336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64" name="Shape 62"/>
          <p:cNvSpPr/>
          <p:nvPr/>
        </p:nvSpPr>
        <p:spPr>
          <a:xfrm>
            <a:off x="4206240" y="4023360"/>
            <a:ext cx="3703320" cy="64008"/>
          </a:xfrm>
          <a:prstGeom prst="rect">
            <a:avLst/>
          </a:prstGeom>
          <a:solidFill>
            <a:srgbClr val="D4A017"/>
          </a:solidFill>
          <a:ln w="12700">
            <a:solidFill>
              <a:srgbClr val="D4A017"/>
            </a:solidFill>
            <a:prstDash val="solid"/>
          </a:ln>
        </p:spPr>
      </p:sp>
      <p:sp>
        <p:nvSpPr>
          <p:cNvPr id="65" name="Text 63"/>
          <p:cNvSpPr/>
          <p:nvPr/>
        </p:nvSpPr>
        <p:spPr>
          <a:xfrm>
            <a:off x="4315968" y="416052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javax → jakarta Namespace</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(Full codebase scan)</a:t>
            </a:r>
            <a:endParaRPr lang="en-US" sz="1100" dirty="0"/>
          </a:p>
        </p:txBody>
      </p:sp>
      <p:sp>
        <p:nvSpPr>
          <p:cNvPr id="66" name="Shape 64"/>
          <p:cNvSpPr/>
          <p:nvPr/>
        </p:nvSpPr>
        <p:spPr>
          <a:xfrm>
            <a:off x="4315968" y="4590288"/>
            <a:ext cx="960120" cy="219456"/>
          </a:xfrm>
          <a:prstGeom prst="rect">
            <a:avLst/>
          </a:prstGeom>
          <a:solidFill>
            <a:srgbClr val="001F3F"/>
          </a:solidFill>
          <a:ln w="12700">
            <a:solidFill>
              <a:srgbClr val="001F3F"/>
            </a:solidFill>
            <a:prstDash val="solid"/>
          </a:ln>
        </p:spPr>
      </p:sp>
      <p:sp>
        <p:nvSpPr>
          <p:cNvPr id="67" name="Text 65"/>
          <p:cNvSpPr/>
          <p:nvPr/>
        </p:nvSpPr>
        <p:spPr>
          <a:xfrm>
            <a:off x="4315968" y="459028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MEDIUM</a:t>
            </a:r>
            <a:endParaRPr lang="en-US" sz="750" dirty="0"/>
          </a:p>
        </p:txBody>
      </p:sp>
      <p:sp>
        <p:nvSpPr>
          <p:cNvPr id="68" name="Shape 66"/>
          <p:cNvSpPr/>
          <p:nvPr/>
        </p:nvSpPr>
        <p:spPr>
          <a:xfrm>
            <a:off x="5321808" y="4590288"/>
            <a:ext cx="777240" cy="219456"/>
          </a:xfrm>
          <a:prstGeom prst="rect">
            <a:avLst/>
          </a:prstGeom>
          <a:solidFill>
            <a:srgbClr val="D4A017"/>
          </a:solidFill>
          <a:ln w="12700">
            <a:solidFill>
              <a:srgbClr val="D4A017"/>
            </a:solidFill>
            <a:prstDash val="solid"/>
          </a:ln>
        </p:spPr>
      </p:sp>
      <p:sp>
        <p:nvSpPr>
          <p:cNvPr id="69" name="Text 67"/>
          <p:cNvSpPr/>
          <p:nvPr/>
        </p:nvSpPr>
        <p:spPr>
          <a:xfrm>
            <a:off x="5321808" y="459028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HIGH</a:t>
            </a:r>
            <a:endParaRPr lang="en-US" sz="750" dirty="0"/>
          </a:p>
        </p:txBody>
      </p:sp>
      <p:sp>
        <p:nvSpPr>
          <p:cNvPr id="70" name="Text 68"/>
          <p:cNvSpPr/>
          <p:nvPr/>
        </p:nvSpPr>
        <p:spPr>
          <a:xfrm>
            <a:off x="4315968" y="489204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Sakthi scanning 400+ XSL + all Java classes. Every import must be verified.</a:t>
            </a:r>
            <a:endParaRPr lang="en-US" sz="850" dirty="0"/>
          </a:p>
        </p:txBody>
      </p:sp>
      <p:sp>
        <p:nvSpPr>
          <p:cNvPr id="71" name="Shape 69"/>
          <p:cNvSpPr/>
          <p:nvPr/>
        </p:nvSpPr>
        <p:spPr>
          <a:xfrm>
            <a:off x="8046720" y="4023360"/>
            <a:ext cx="3703320" cy="13716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72" name="Shape 70"/>
          <p:cNvSpPr/>
          <p:nvPr/>
        </p:nvSpPr>
        <p:spPr>
          <a:xfrm>
            <a:off x="8046720" y="4023360"/>
            <a:ext cx="3703320" cy="64008"/>
          </a:xfrm>
          <a:prstGeom prst="rect">
            <a:avLst/>
          </a:prstGeom>
          <a:solidFill>
            <a:srgbClr val="C0392B"/>
          </a:solidFill>
          <a:ln w="12700">
            <a:solidFill>
              <a:srgbClr val="C0392B"/>
            </a:solidFill>
            <a:prstDash val="solid"/>
          </a:ln>
        </p:spPr>
      </p:sp>
      <p:sp>
        <p:nvSpPr>
          <p:cNvPr id="73" name="Text 71"/>
          <p:cNvSpPr/>
          <p:nvPr/>
        </p:nvSpPr>
        <p:spPr>
          <a:xfrm>
            <a:off x="8156448" y="4160520"/>
            <a:ext cx="3474720" cy="41148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log4j → log4j2</a:t>
            </a:r>
            <a:endParaRPr lang="en-US" sz="1100" dirty="0"/>
          </a:p>
          <a:p>
            <a:pPr indent="0" marL="0">
              <a:buNone/>
            </a:pPr>
            <a:r>
              <a:rPr lang="en-US" sz="1100" b="1" dirty="0">
                <a:solidFill>
                  <a:srgbClr val="1A2A3A"/>
                </a:solidFill>
                <a:latin typeface="Calibri" pitchFamily="34" charset="0"/>
                <a:ea typeface="Calibri" pitchFamily="34" charset="-122"/>
                <a:cs typeface="Calibri" pitchFamily="34" charset="-120"/>
              </a:rPr>
              <a:t>CVE Remediation</a:t>
            </a:r>
            <a:endParaRPr lang="en-US" sz="1100" dirty="0"/>
          </a:p>
        </p:txBody>
      </p:sp>
      <p:sp>
        <p:nvSpPr>
          <p:cNvPr id="74" name="Shape 72"/>
          <p:cNvSpPr/>
          <p:nvPr/>
        </p:nvSpPr>
        <p:spPr>
          <a:xfrm>
            <a:off x="8156448" y="4590288"/>
            <a:ext cx="960120" cy="219456"/>
          </a:xfrm>
          <a:prstGeom prst="rect">
            <a:avLst/>
          </a:prstGeom>
          <a:solidFill>
            <a:srgbClr val="001F3F"/>
          </a:solidFill>
          <a:ln w="12700">
            <a:solidFill>
              <a:srgbClr val="001F3F"/>
            </a:solidFill>
            <a:prstDash val="solid"/>
          </a:ln>
        </p:spPr>
      </p:sp>
      <p:sp>
        <p:nvSpPr>
          <p:cNvPr id="75" name="Text 73"/>
          <p:cNvSpPr/>
          <p:nvPr/>
        </p:nvSpPr>
        <p:spPr>
          <a:xfrm>
            <a:off x="8156448" y="4590288"/>
            <a:ext cx="960120" cy="219456"/>
          </a:xfrm>
          <a:prstGeom prst="rect">
            <a:avLst/>
          </a:prstGeom>
          <a:noFill/>
          <a:ln/>
        </p:spPr>
        <p:txBody>
          <a:bodyPr wrap="square" lIns="0" tIns="0" rIns="0" bIns="0" rtlCol="0" anchor="ctr"/>
          <a:lstStyle/>
          <a:p>
            <a:pPr algn="ctr" indent="0" marL="0">
              <a:buNone/>
            </a:pPr>
            <a:r>
              <a:rPr lang="en-US" sz="750" b="1" dirty="0">
                <a:solidFill>
                  <a:srgbClr val="C9A84C"/>
                </a:solidFill>
                <a:latin typeface="Calibri" pitchFamily="34" charset="0"/>
                <a:ea typeface="Calibri" pitchFamily="34" charset="-122"/>
                <a:cs typeface="Calibri" pitchFamily="34" charset="-120"/>
              </a:rPr>
              <a:t>EFFORT: LOW</a:t>
            </a:r>
            <a:endParaRPr lang="en-US" sz="750" dirty="0"/>
          </a:p>
        </p:txBody>
      </p:sp>
      <p:sp>
        <p:nvSpPr>
          <p:cNvPr id="76" name="Shape 74"/>
          <p:cNvSpPr/>
          <p:nvPr/>
        </p:nvSpPr>
        <p:spPr>
          <a:xfrm>
            <a:off x="9162288" y="4590288"/>
            <a:ext cx="777240" cy="219456"/>
          </a:xfrm>
          <a:prstGeom prst="rect">
            <a:avLst/>
          </a:prstGeom>
          <a:solidFill>
            <a:srgbClr val="C0392B"/>
          </a:solidFill>
          <a:ln w="12700">
            <a:solidFill>
              <a:srgbClr val="C0392B"/>
            </a:solidFill>
            <a:prstDash val="solid"/>
          </a:ln>
        </p:spPr>
      </p:sp>
      <p:sp>
        <p:nvSpPr>
          <p:cNvPr id="77" name="Text 75"/>
          <p:cNvSpPr/>
          <p:nvPr/>
        </p:nvSpPr>
        <p:spPr>
          <a:xfrm>
            <a:off x="9162288" y="4590288"/>
            <a:ext cx="7772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RISK: CRITICAL</a:t>
            </a:r>
            <a:endParaRPr lang="en-US" sz="750" dirty="0"/>
          </a:p>
        </p:txBody>
      </p:sp>
      <p:sp>
        <p:nvSpPr>
          <p:cNvPr id="78" name="Text 76"/>
          <p:cNvSpPr/>
          <p:nvPr/>
        </p:nvSpPr>
        <p:spPr>
          <a:xfrm>
            <a:off x="8156448" y="4892040"/>
            <a:ext cx="3520440" cy="457200"/>
          </a:xfrm>
          <a:prstGeom prst="rect">
            <a:avLst/>
          </a:prstGeom>
          <a:noFill/>
          <a:ln/>
        </p:spPr>
        <p:txBody>
          <a:bodyPr wrap="square" lIns="0" tIns="0" rIns="0" bIns="0" rtlCol="0" anchor="ctr"/>
          <a:lstStyle/>
          <a:p>
            <a:pPr indent="0" marL="0">
              <a:buNone/>
            </a:pPr>
            <a:r>
              <a:rPr lang="en-US" sz="850" dirty="0">
                <a:solidFill>
                  <a:srgbClr val="8FA3BF"/>
                </a:solidFill>
                <a:latin typeface="Calibri" pitchFamily="34" charset="0"/>
                <a:ea typeface="Calibri" pitchFamily="34" charset="-122"/>
                <a:cs typeface="Calibri" pitchFamily="34" charset="-120"/>
              </a:rPr>
              <a:t>Replace regardless of migration. log4j 1.2.17 is active CVE. Must be done immediately.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Open Items &amp; Grey Areas Requiring Further Assessment</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Items identified but needing deeper investigation before full risk quantification</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20040" y="1005840"/>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20040" y="1005840"/>
            <a:ext cx="54864" cy="804672"/>
          </a:xfrm>
          <a:prstGeom prst="rect">
            <a:avLst/>
          </a:prstGeom>
          <a:solidFill>
            <a:srgbClr val="C0392B"/>
          </a:solidFill>
          <a:ln w="12700">
            <a:solidFill>
              <a:srgbClr val="C0392B"/>
            </a:solidFill>
            <a:prstDash val="solid"/>
          </a:ln>
        </p:spPr>
      </p:sp>
      <p:sp>
        <p:nvSpPr>
          <p:cNvPr id="9" name="Shape 7"/>
          <p:cNvSpPr/>
          <p:nvPr/>
        </p:nvSpPr>
        <p:spPr>
          <a:xfrm>
            <a:off x="438912" y="1060704"/>
            <a:ext cx="1325880" cy="256032"/>
          </a:xfrm>
          <a:prstGeom prst="rect">
            <a:avLst/>
          </a:prstGeom>
          <a:solidFill>
            <a:srgbClr val="001F3F"/>
          </a:solidFill>
          <a:ln w="12700">
            <a:solidFill>
              <a:srgbClr val="001F3F"/>
            </a:solidFill>
            <a:prstDash val="solid"/>
          </a:ln>
        </p:spPr>
      </p:sp>
      <p:sp>
        <p:nvSpPr>
          <p:cNvPr id="10" name="Text 8"/>
          <p:cNvSpPr/>
          <p:nvPr/>
        </p:nvSpPr>
        <p:spPr>
          <a:xfrm>
            <a:off x="438912" y="1060704"/>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Kreshan / Archana</a:t>
            </a:r>
            <a:endParaRPr lang="en-US" sz="800" dirty="0"/>
          </a:p>
        </p:txBody>
      </p:sp>
      <p:sp>
        <p:nvSpPr>
          <p:cNvPr id="11" name="Shape 9"/>
          <p:cNvSpPr/>
          <p:nvPr/>
        </p:nvSpPr>
        <p:spPr>
          <a:xfrm>
            <a:off x="10241280" y="1060704"/>
            <a:ext cx="1463040" cy="256032"/>
          </a:xfrm>
          <a:prstGeom prst="rect">
            <a:avLst/>
          </a:prstGeom>
          <a:solidFill>
            <a:srgbClr val="C0392B"/>
          </a:solidFill>
          <a:ln w="12700">
            <a:solidFill>
              <a:srgbClr val="C0392B"/>
            </a:solidFill>
            <a:prstDash val="solid"/>
          </a:ln>
        </p:spPr>
      </p:sp>
      <p:sp>
        <p:nvSpPr>
          <p:cNvPr id="12" name="Text 10"/>
          <p:cNvSpPr/>
          <p:nvPr/>
        </p:nvSpPr>
        <p:spPr>
          <a:xfrm>
            <a:off x="10241280" y="1060704"/>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 RISK</a:t>
            </a:r>
            <a:endParaRPr lang="en-US" sz="800" dirty="0"/>
          </a:p>
        </p:txBody>
      </p:sp>
      <p:sp>
        <p:nvSpPr>
          <p:cNvPr id="13" name="Text 11"/>
          <p:cNvSpPr/>
          <p:nvPr/>
        </p:nvSpPr>
        <p:spPr>
          <a:xfrm>
            <a:off x="1874520" y="1060704"/>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Token Mechanism — I-Sprint Vendor JAR Uses javax Internally</a:t>
            </a:r>
            <a:endParaRPr lang="en-US" sz="1100" dirty="0"/>
          </a:p>
        </p:txBody>
      </p:sp>
      <p:sp>
        <p:nvSpPr>
          <p:cNvPr id="14" name="Text 12"/>
          <p:cNvSpPr/>
          <p:nvPr/>
        </p:nvSpPr>
        <p:spPr>
          <a:xfrm>
            <a:off x="1874520" y="1389888"/>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I-Sprint JARs used in the token mechanism compile against javax.* internally. This requires a vendor upgrade — outside Wipro's control. Additionally, several I-Sprint methods are deprecated in the latest version and need alternatives identified before migration can proceed.</a:t>
            </a:r>
            <a:endParaRPr lang="en-US" sz="900" dirty="0"/>
          </a:p>
        </p:txBody>
      </p:sp>
      <p:sp>
        <p:nvSpPr>
          <p:cNvPr id="15" name="Shape 13"/>
          <p:cNvSpPr/>
          <p:nvPr/>
        </p:nvSpPr>
        <p:spPr>
          <a:xfrm>
            <a:off x="320040" y="1892808"/>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20040" y="1892808"/>
            <a:ext cx="54864" cy="804672"/>
          </a:xfrm>
          <a:prstGeom prst="rect">
            <a:avLst/>
          </a:prstGeom>
          <a:solidFill>
            <a:srgbClr val="D4A017"/>
          </a:solidFill>
          <a:ln w="12700">
            <a:solidFill>
              <a:srgbClr val="D4A017"/>
            </a:solidFill>
            <a:prstDash val="solid"/>
          </a:ln>
        </p:spPr>
      </p:sp>
      <p:sp>
        <p:nvSpPr>
          <p:cNvPr id="17" name="Shape 15"/>
          <p:cNvSpPr/>
          <p:nvPr/>
        </p:nvSpPr>
        <p:spPr>
          <a:xfrm>
            <a:off x="438912" y="1947672"/>
            <a:ext cx="1325880" cy="256032"/>
          </a:xfrm>
          <a:prstGeom prst="rect">
            <a:avLst/>
          </a:prstGeom>
          <a:solidFill>
            <a:srgbClr val="001F3F"/>
          </a:solidFill>
          <a:ln w="12700">
            <a:solidFill>
              <a:srgbClr val="001F3F"/>
            </a:solidFill>
            <a:prstDash val="solid"/>
          </a:ln>
        </p:spPr>
      </p:sp>
      <p:sp>
        <p:nvSpPr>
          <p:cNvPr id="18" name="Text 16"/>
          <p:cNvSpPr/>
          <p:nvPr/>
        </p:nvSpPr>
        <p:spPr>
          <a:xfrm>
            <a:off x="438912" y="1947672"/>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All Teams</a:t>
            </a:r>
            <a:endParaRPr lang="en-US" sz="800" dirty="0"/>
          </a:p>
        </p:txBody>
      </p:sp>
      <p:sp>
        <p:nvSpPr>
          <p:cNvPr id="19" name="Shape 17"/>
          <p:cNvSpPr/>
          <p:nvPr/>
        </p:nvSpPr>
        <p:spPr>
          <a:xfrm>
            <a:off x="10241280" y="1947672"/>
            <a:ext cx="1463040" cy="256032"/>
          </a:xfrm>
          <a:prstGeom prst="rect">
            <a:avLst/>
          </a:prstGeom>
          <a:solidFill>
            <a:srgbClr val="D4A017"/>
          </a:solidFill>
          <a:ln w="12700">
            <a:solidFill>
              <a:srgbClr val="D4A017"/>
            </a:solidFill>
            <a:prstDash val="solid"/>
          </a:ln>
        </p:spPr>
      </p:sp>
      <p:sp>
        <p:nvSpPr>
          <p:cNvPr id="20" name="Text 18"/>
          <p:cNvSpPr/>
          <p:nvPr/>
        </p:nvSpPr>
        <p:spPr>
          <a:xfrm>
            <a:off x="10241280" y="1947672"/>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 PROGRESS</a:t>
            </a:r>
            <a:endParaRPr lang="en-US" sz="800" dirty="0"/>
          </a:p>
        </p:txBody>
      </p:sp>
      <p:sp>
        <p:nvSpPr>
          <p:cNvPr id="21" name="Text 19"/>
          <p:cNvSpPr/>
          <p:nvPr/>
        </p:nvSpPr>
        <p:spPr>
          <a:xfrm>
            <a:off x="1874520" y="1947672"/>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GTP Param Data Family — Silent Lookup Break Risk</a:t>
            </a:r>
            <a:endParaRPr lang="en-US" sz="1100" dirty="0"/>
          </a:p>
        </p:txBody>
      </p:sp>
      <p:sp>
        <p:nvSpPr>
          <p:cNvPr id="22" name="Text 20"/>
          <p:cNvSpPr/>
          <p:nvPr/>
        </p:nvSpPr>
        <p:spPr>
          <a:xfrm>
            <a:off x="1874520" y="2276856"/>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GTP_PARAM_DATA, GTP_LARGE_PARAM_DATA, and GTP_LARGE_PARAM_KEY are all country-code-driven lookup tables. If RunData migration changes how country code is resolved, ALL param data lookups silently return wrong values — wrong cutoff times, wrong transaction limits, wrong validations — with no exception thrown.</a:t>
            </a:r>
            <a:endParaRPr lang="en-US" sz="900" dirty="0"/>
          </a:p>
        </p:txBody>
      </p:sp>
      <p:sp>
        <p:nvSpPr>
          <p:cNvPr id="23" name="Shape 21"/>
          <p:cNvSpPr/>
          <p:nvPr/>
        </p:nvSpPr>
        <p:spPr>
          <a:xfrm>
            <a:off x="320040" y="2779776"/>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320040" y="2779776"/>
            <a:ext cx="54864" cy="804672"/>
          </a:xfrm>
          <a:prstGeom prst="rect">
            <a:avLst/>
          </a:prstGeom>
          <a:solidFill>
            <a:srgbClr val="D4A017"/>
          </a:solidFill>
          <a:ln w="12700">
            <a:solidFill>
              <a:srgbClr val="D4A017"/>
            </a:solidFill>
            <a:prstDash val="solid"/>
          </a:ln>
        </p:spPr>
      </p:sp>
      <p:sp>
        <p:nvSpPr>
          <p:cNvPr id="25" name="Shape 23"/>
          <p:cNvSpPr/>
          <p:nvPr/>
        </p:nvSpPr>
        <p:spPr>
          <a:xfrm>
            <a:off x="438912" y="2834640"/>
            <a:ext cx="1325880" cy="256032"/>
          </a:xfrm>
          <a:prstGeom prst="rect">
            <a:avLst/>
          </a:prstGeom>
          <a:solidFill>
            <a:srgbClr val="001F3F"/>
          </a:solidFill>
          <a:ln w="12700">
            <a:solidFill>
              <a:srgbClr val="001F3F"/>
            </a:solidFill>
            <a:prstDash val="solid"/>
          </a:ln>
        </p:spPr>
      </p:sp>
      <p:sp>
        <p:nvSpPr>
          <p:cNvPr id="26" name="Text 24"/>
          <p:cNvSpPr/>
          <p:nvPr/>
        </p:nvSpPr>
        <p:spPr>
          <a:xfrm>
            <a:off x="438912" y="2834640"/>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Gokul</a:t>
            </a:r>
            <a:endParaRPr lang="en-US" sz="800" dirty="0"/>
          </a:p>
        </p:txBody>
      </p:sp>
      <p:sp>
        <p:nvSpPr>
          <p:cNvPr id="27" name="Shape 25"/>
          <p:cNvSpPr/>
          <p:nvPr/>
        </p:nvSpPr>
        <p:spPr>
          <a:xfrm>
            <a:off x="10241280" y="2834640"/>
            <a:ext cx="1463040" cy="256032"/>
          </a:xfrm>
          <a:prstGeom prst="rect">
            <a:avLst/>
          </a:prstGeom>
          <a:solidFill>
            <a:srgbClr val="D4A017"/>
          </a:solidFill>
          <a:ln w="12700">
            <a:solidFill>
              <a:srgbClr val="D4A017"/>
            </a:solidFill>
            <a:prstDash val="solid"/>
          </a:ln>
        </p:spPr>
      </p:sp>
      <p:sp>
        <p:nvSpPr>
          <p:cNvPr id="28" name="Text 26"/>
          <p:cNvSpPr/>
          <p:nvPr/>
        </p:nvSpPr>
        <p:spPr>
          <a:xfrm>
            <a:off x="10241280" y="2834640"/>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 PROGRESS</a:t>
            </a:r>
            <a:endParaRPr lang="en-US" sz="800" dirty="0"/>
          </a:p>
        </p:txBody>
      </p:sp>
      <p:sp>
        <p:nvSpPr>
          <p:cNvPr id="29" name="Text 27"/>
          <p:cNvSpPr/>
          <p:nvPr/>
        </p:nvSpPr>
        <p:spPr>
          <a:xfrm>
            <a:off x="1874520" y="2834640"/>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Torque 5.1 — Village Records, Peer Classes, Schema Availability</a:t>
            </a:r>
            <a:endParaRPr lang="en-US" sz="1100" dirty="0"/>
          </a:p>
        </p:txBody>
      </p:sp>
      <p:sp>
        <p:nvSpPr>
          <p:cNvPr id="30" name="Text 28"/>
          <p:cNvSpPr/>
          <p:nvPr/>
        </p:nvSpPr>
        <p:spPr>
          <a:xfrm>
            <a:off x="1874520" y="3163824"/>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Torque 5.1 is the confirmed target (Torque 6/7 not required). However, Village ResultSet is removed in Torque 5.x — all core banking table Peer classes (generated from schema.xml) need regeneration. No schema.xml located in codebase yet. Without it, Peer regeneration is blocked and core DB operations cannot be migrated.</a:t>
            </a:r>
            <a:endParaRPr lang="en-US" sz="900" dirty="0"/>
          </a:p>
        </p:txBody>
      </p:sp>
      <p:sp>
        <p:nvSpPr>
          <p:cNvPr id="31" name="Shape 29"/>
          <p:cNvSpPr/>
          <p:nvPr/>
        </p:nvSpPr>
        <p:spPr>
          <a:xfrm>
            <a:off x="320040" y="3666744"/>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320040" y="3666744"/>
            <a:ext cx="54864" cy="804672"/>
          </a:xfrm>
          <a:prstGeom prst="rect">
            <a:avLst/>
          </a:prstGeom>
          <a:solidFill>
            <a:srgbClr val="1A7A4A"/>
          </a:solidFill>
          <a:ln w="12700">
            <a:solidFill>
              <a:srgbClr val="1A7A4A"/>
            </a:solidFill>
            <a:prstDash val="solid"/>
          </a:ln>
        </p:spPr>
      </p:sp>
      <p:sp>
        <p:nvSpPr>
          <p:cNvPr id="33" name="Shape 31"/>
          <p:cNvSpPr/>
          <p:nvPr/>
        </p:nvSpPr>
        <p:spPr>
          <a:xfrm>
            <a:off x="438912" y="3721608"/>
            <a:ext cx="1325880" cy="256032"/>
          </a:xfrm>
          <a:prstGeom prst="rect">
            <a:avLst/>
          </a:prstGeom>
          <a:solidFill>
            <a:srgbClr val="001F3F"/>
          </a:solidFill>
          <a:ln w="12700">
            <a:solidFill>
              <a:srgbClr val="001F3F"/>
            </a:solidFill>
            <a:prstDash val="solid"/>
          </a:ln>
        </p:spPr>
      </p:sp>
      <p:sp>
        <p:nvSpPr>
          <p:cNvPr id="34" name="Text 32"/>
          <p:cNvSpPr/>
          <p:nvPr/>
        </p:nvSpPr>
        <p:spPr>
          <a:xfrm>
            <a:off x="438912" y="3721608"/>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Sakthi</a:t>
            </a:r>
            <a:endParaRPr lang="en-US" sz="800" dirty="0"/>
          </a:p>
        </p:txBody>
      </p:sp>
      <p:sp>
        <p:nvSpPr>
          <p:cNvPr id="35" name="Shape 33"/>
          <p:cNvSpPr/>
          <p:nvPr/>
        </p:nvSpPr>
        <p:spPr>
          <a:xfrm>
            <a:off x="10241280" y="3721608"/>
            <a:ext cx="1463040" cy="256032"/>
          </a:xfrm>
          <a:prstGeom prst="rect">
            <a:avLst/>
          </a:prstGeom>
          <a:solidFill>
            <a:srgbClr val="1A7A4A"/>
          </a:solidFill>
          <a:ln w="12700">
            <a:solidFill>
              <a:srgbClr val="1A7A4A"/>
            </a:solidFill>
            <a:prstDash val="solid"/>
          </a:ln>
        </p:spPr>
      </p:sp>
      <p:sp>
        <p:nvSpPr>
          <p:cNvPr id="36" name="Text 34"/>
          <p:cNvSpPr/>
          <p:nvPr/>
        </p:nvSpPr>
        <p:spPr>
          <a:xfrm>
            <a:off x="10241280" y="3721608"/>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CLEAR</a:t>
            </a:r>
            <a:endParaRPr lang="en-US" sz="800" dirty="0"/>
          </a:p>
        </p:txBody>
      </p:sp>
      <p:sp>
        <p:nvSpPr>
          <p:cNvPr id="37" name="Text 35"/>
          <p:cNvSpPr/>
          <p:nvPr/>
        </p:nvSpPr>
        <p:spPr>
          <a:xfrm>
            <a:off x="1874520" y="3721608"/>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Trade, Trade Middle Office &amp; Batch Modules — Upgrade Path Confirmed, No Hidden Blockers</a:t>
            </a:r>
            <a:endParaRPr lang="en-US" sz="1100" dirty="0"/>
          </a:p>
        </p:txBody>
      </p:sp>
      <p:sp>
        <p:nvSpPr>
          <p:cNvPr id="38" name="Text 36"/>
          <p:cNvSpPr/>
          <p:nvPr/>
        </p:nvSpPr>
        <p:spPr>
          <a:xfrm>
            <a:off x="1874520" y="4050792"/>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Deep assessment of Trade Core, Trade Middle Office, and all Batch processing modules completed. No hidden framework blockers identified beyond the known Turbine 7 / Jakarta EE namespace changes already captured. Upgrade path is clear — standard migration steps apply. No proprietary third-party dependencies or custom protocol deviations found in this layer.</a:t>
            </a:r>
            <a:endParaRPr lang="en-US" sz="900" dirty="0"/>
          </a:p>
        </p:txBody>
      </p:sp>
      <p:sp>
        <p:nvSpPr>
          <p:cNvPr id="39" name="Shape 37"/>
          <p:cNvSpPr/>
          <p:nvPr/>
        </p:nvSpPr>
        <p:spPr>
          <a:xfrm>
            <a:off x="320040" y="4553712"/>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320040" y="4553712"/>
            <a:ext cx="54864" cy="804672"/>
          </a:xfrm>
          <a:prstGeom prst="rect">
            <a:avLst/>
          </a:prstGeom>
          <a:solidFill>
            <a:srgbClr val="1A7A4A"/>
          </a:solidFill>
          <a:ln w="12700">
            <a:solidFill>
              <a:srgbClr val="1A7A4A"/>
            </a:solidFill>
            <a:prstDash val="solid"/>
          </a:ln>
        </p:spPr>
      </p:sp>
      <p:sp>
        <p:nvSpPr>
          <p:cNvPr id="41" name="Shape 39"/>
          <p:cNvSpPr/>
          <p:nvPr/>
        </p:nvSpPr>
        <p:spPr>
          <a:xfrm>
            <a:off x="438912" y="4608576"/>
            <a:ext cx="1325880" cy="256032"/>
          </a:xfrm>
          <a:prstGeom prst="rect">
            <a:avLst/>
          </a:prstGeom>
          <a:solidFill>
            <a:srgbClr val="001F3F"/>
          </a:solidFill>
          <a:ln w="12700">
            <a:solidFill>
              <a:srgbClr val="001F3F"/>
            </a:solidFill>
            <a:prstDash val="solid"/>
          </a:ln>
        </p:spPr>
      </p:sp>
      <p:sp>
        <p:nvSpPr>
          <p:cNvPr id="42" name="Text 40"/>
          <p:cNvSpPr/>
          <p:nvPr/>
        </p:nvSpPr>
        <p:spPr>
          <a:xfrm>
            <a:off x="438912" y="4608576"/>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Akshith / Chandra</a:t>
            </a:r>
            <a:endParaRPr lang="en-US" sz="800" dirty="0"/>
          </a:p>
        </p:txBody>
      </p:sp>
      <p:sp>
        <p:nvSpPr>
          <p:cNvPr id="43" name="Shape 41"/>
          <p:cNvSpPr/>
          <p:nvPr/>
        </p:nvSpPr>
        <p:spPr>
          <a:xfrm>
            <a:off x="10241280" y="4608576"/>
            <a:ext cx="1463040" cy="256032"/>
          </a:xfrm>
          <a:prstGeom prst="rect">
            <a:avLst/>
          </a:prstGeom>
          <a:solidFill>
            <a:srgbClr val="1A7A4A"/>
          </a:solidFill>
          <a:ln w="12700">
            <a:solidFill>
              <a:srgbClr val="1A7A4A"/>
            </a:solidFill>
            <a:prstDash val="solid"/>
          </a:ln>
        </p:spPr>
      </p:sp>
      <p:sp>
        <p:nvSpPr>
          <p:cNvPr id="44" name="Text 42"/>
          <p:cNvSpPr/>
          <p:nvPr/>
        </p:nvSpPr>
        <p:spPr>
          <a:xfrm>
            <a:off x="10241280" y="4608576"/>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CONCLUDED</a:t>
            </a:r>
            <a:endParaRPr lang="en-US" sz="800" dirty="0"/>
          </a:p>
        </p:txBody>
      </p:sp>
      <p:sp>
        <p:nvSpPr>
          <p:cNvPr id="45" name="Text 43"/>
          <p:cNvSpPr/>
          <p:nvPr/>
        </p:nvSpPr>
        <p:spPr>
          <a:xfrm>
            <a:off x="1874520" y="4608576"/>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Xalan Extension Scan — 4,048 xalan:// Calls — Saxon NOT Viable</a:t>
            </a:r>
            <a:endParaRPr lang="en-US" sz="1100" dirty="0"/>
          </a:p>
        </p:txBody>
      </p:sp>
      <p:sp>
        <p:nvSpPr>
          <p:cNvPr id="46" name="Text 44"/>
          <p:cNvSpPr/>
          <p:nvPr/>
        </p:nvSpPr>
        <p:spPr>
          <a:xfrm>
            <a:off x="1874520" y="4937760"/>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Eclipse workspace scan confirmed: 4,048 matches for xalan:// Java extension calls. 211 matches for custom Xalan security extension (GTPSecurity). 0 matches for xalan/redirect (no redirect extension used — good). Saxon HE is INCOMPATIBLE with xalan:// syntax. CONCLUSION: Xalan 2.7.3 upgrade is the ONLY viable path. Saxon cannot replace Xalan without breaking all 4,000+ extension calls.</a:t>
            </a:r>
            <a:endParaRPr lang="en-US" sz="900" dirty="0"/>
          </a:p>
        </p:txBody>
      </p:sp>
      <p:sp>
        <p:nvSpPr>
          <p:cNvPr id="47" name="Shape 45"/>
          <p:cNvSpPr/>
          <p:nvPr/>
        </p:nvSpPr>
        <p:spPr>
          <a:xfrm>
            <a:off x="320040" y="5440680"/>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8" name="Shape 46"/>
          <p:cNvSpPr/>
          <p:nvPr/>
        </p:nvSpPr>
        <p:spPr>
          <a:xfrm>
            <a:off x="320040" y="5440680"/>
            <a:ext cx="54864" cy="804672"/>
          </a:xfrm>
          <a:prstGeom prst="rect">
            <a:avLst/>
          </a:prstGeom>
          <a:solidFill>
            <a:srgbClr val="C0392B"/>
          </a:solidFill>
          <a:ln w="12700">
            <a:solidFill>
              <a:srgbClr val="C0392B"/>
            </a:solidFill>
            <a:prstDash val="solid"/>
          </a:ln>
        </p:spPr>
      </p:sp>
      <p:sp>
        <p:nvSpPr>
          <p:cNvPr id="49" name="Shape 47"/>
          <p:cNvSpPr/>
          <p:nvPr/>
        </p:nvSpPr>
        <p:spPr>
          <a:xfrm>
            <a:off x="438912" y="5495544"/>
            <a:ext cx="1325880" cy="256032"/>
          </a:xfrm>
          <a:prstGeom prst="rect">
            <a:avLst/>
          </a:prstGeom>
          <a:solidFill>
            <a:srgbClr val="001F3F"/>
          </a:solidFill>
          <a:ln w="12700">
            <a:solidFill>
              <a:srgbClr val="001F3F"/>
            </a:solidFill>
            <a:prstDash val="solid"/>
          </a:ln>
        </p:spPr>
      </p:sp>
      <p:sp>
        <p:nvSpPr>
          <p:cNvPr id="50" name="Text 48"/>
          <p:cNvSpPr/>
          <p:nvPr/>
        </p:nvSpPr>
        <p:spPr>
          <a:xfrm>
            <a:off x="438912" y="5495544"/>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Akshith / Chandra</a:t>
            </a:r>
            <a:endParaRPr lang="en-US" sz="800" dirty="0"/>
          </a:p>
        </p:txBody>
      </p:sp>
      <p:sp>
        <p:nvSpPr>
          <p:cNvPr id="51" name="Shape 49"/>
          <p:cNvSpPr/>
          <p:nvPr/>
        </p:nvSpPr>
        <p:spPr>
          <a:xfrm>
            <a:off x="10241280" y="5495544"/>
            <a:ext cx="1463040" cy="256032"/>
          </a:xfrm>
          <a:prstGeom prst="rect">
            <a:avLst/>
          </a:prstGeom>
          <a:solidFill>
            <a:srgbClr val="C0392B"/>
          </a:solidFill>
          <a:ln w="12700">
            <a:solidFill>
              <a:srgbClr val="C0392B"/>
            </a:solidFill>
            <a:prstDash val="solid"/>
          </a:ln>
        </p:spPr>
      </p:sp>
      <p:sp>
        <p:nvSpPr>
          <p:cNvPr id="52" name="Text 50"/>
          <p:cNvSpPr/>
          <p:nvPr/>
        </p:nvSpPr>
        <p:spPr>
          <a:xfrm>
            <a:off x="10241280" y="5495544"/>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53" name="Text 51"/>
          <p:cNvSpPr/>
          <p:nvPr/>
        </p:nvSpPr>
        <p:spPr>
          <a:xfrm>
            <a:off x="1874520" y="5495544"/>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Saxon (Buildscripts Only) + Spring 4.2.9 → Spring 6 Mandatory Upgrade</a:t>
            </a:r>
            <a:endParaRPr lang="en-US" sz="1100" dirty="0"/>
          </a:p>
        </p:txBody>
      </p:sp>
      <p:sp>
        <p:nvSpPr>
          <p:cNvPr id="54" name="Text 52"/>
          <p:cNvSpPr/>
          <p:nvPr/>
        </p:nvSpPr>
        <p:spPr>
          <a:xfrm>
            <a:off x="1874520" y="5824728"/>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Saxon: Found ONLY in buildscript XSLs (calendar.xsl, currency.xsl, number.xsl, util.xsl) — build-time only, not runtime portal. Saxon coexistence risk is isolated. Spring: WSService layer runs Spring 4.2.9 which is incompatible with Jakarta EE. Spring 6 is MANDATORY for EAP 8 — this is a HIGH effort change as Spring 6 drops all javax.* support, requires Springfox → springdoc-openapi migration, and impacts all REST API endpoints exposed to UOB Infinity.</a:t>
            </a:r>
            <a:endParaRPr lang="en-US" sz="900" dirty="0"/>
          </a:p>
        </p:txBody>
      </p:sp>
      <p:sp>
        <p:nvSpPr>
          <p:cNvPr id="55" name="Shape 53"/>
          <p:cNvSpPr/>
          <p:nvPr/>
        </p:nvSpPr>
        <p:spPr>
          <a:xfrm>
            <a:off x="320040" y="6327648"/>
            <a:ext cx="11521440" cy="804672"/>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56" name="Shape 54"/>
          <p:cNvSpPr/>
          <p:nvPr/>
        </p:nvSpPr>
        <p:spPr>
          <a:xfrm>
            <a:off x="320040" y="6327648"/>
            <a:ext cx="54864" cy="804672"/>
          </a:xfrm>
          <a:prstGeom prst="rect">
            <a:avLst/>
          </a:prstGeom>
          <a:solidFill>
            <a:srgbClr val="D4A017"/>
          </a:solidFill>
          <a:ln w="12700">
            <a:solidFill>
              <a:srgbClr val="D4A017"/>
            </a:solidFill>
            <a:prstDash val="solid"/>
          </a:ln>
        </p:spPr>
      </p:sp>
      <p:sp>
        <p:nvSpPr>
          <p:cNvPr id="57" name="Shape 55"/>
          <p:cNvSpPr/>
          <p:nvPr/>
        </p:nvSpPr>
        <p:spPr>
          <a:xfrm>
            <a:off x="438912" y="6382512"/>
            <a:ext cx="1325880" cy="256032"/>
          </a:xfrm>
          <a:prstGeom prst="rect">
            <a:avLst/>
          </a:prstGeom>
          <a:solidFill>
            <a:srgbClr val="001F3F"/>
          </a:solidFill>
          <a:ln w="12700">
            <a:solidFill>
              <a:srgbClr val="001F3F"/>
            </a:solidFill>
            <a:prstDash val="solid"/>
          </a:ln>
        </p:spPr>
      </p:sp>
      <p:sp>
        <p:nvSpPr>
          <p:cNvPr id="58" name="Text 56"/>
          <p:cNvSpPr/>
          <p:nvPr/>
        </p:nvSpPr>
        <p:spPr>
          <a:xfrm>
            <a:off x="438912" y="6382512"/>
            <a:ext cx="1325880" cy="256032"/>
          </a:xfrm>
          <a:prstGeom prst="rect">
            <a:avLst/>
          </a:prstGeom>
          <a:noFill/>
          <a:ln/>
        </p:spPr>
        <p:txBody>
          <a:bodyPr wrap="square" lIns="0" tIns="0" rIns="0" bIns="0" rtlCol="0" anchor="ctr"/>
          <a:lstStyle/>
          <a:p>
            <a:pPr algn="ctr" indent="0" marL="0">
              <a:buNone/>
            </a:pPr>
            <a:r>
              <a:rPr lang="en-US" sz="800" b="1" dirty="0">
                <a:solidFill>
                  <a:srgbClr val="C9A84C"/>
                </a:solidFill>
                <a:latin typeface="Calibri" pitchFamily="34" charset="0"/>
                <a:ea typeface="Calibri" pitchFamily="34" charset="-122"/>
                <a:cs typeface="Calibri" pitchFamily="34" charset="-120"/>
              </a:rPr>
              <a:t>Chandra</a:t>
            </a:r>
            <a:endParaRPr lang="en-US" sz="800" dirty="0"/>
          </a:p>
        </p:txBody>
      </p:sp>
      <p:sp>
        <p:nvSpPr>
          <p:cNvPr id="59" name="Shape 57"/>
          <p:cNvSpPr/>
          <p:nvPr/>
        </p:nvSpPr>
        <p:spPr>
          <a:xfrm>
            <a:off x="10241280" y="6382512"/>
            <a:ext cx="1463040" cy="256032"/>
          </a:xfrm>
          <a:prstGeom prst="rect">
            <a:avLst/>
          </a:prstGeom>
          <a:solidFill>
            <a:srgbClr val="D4A017"/>
          </a:solidFill>
          <a:ln w="12700">
            <a:solidFill>
              <a:srgbClr val="D4A017"/>
            </a:solidFill>
            <a:prstDash val="solid"/>
          </a:ln>
        </p:spPr>
      </p:sp>
      <p:sp>
        <p:nvSpPr>
          <p:cNvPr id="60" name="Text 58"/>
          <p:cNvSpPr/>
          <p:nvPr/>
        </p:nvSpPr>
        <p:spPr>
          <a:xfrm>
            <a:off x="10241280" y="6382512"/>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 PROGRESS</a:t>
            </a:r>
            <a:endParaRPr lang="en-US" sz="800" dirty="0"/>
          </a:p>
        </p:txBody>
      </p:sp>
      <p:sp>
        <p:nvSpPr>
          <p:cNvPr id="61" name="Text 59"/>
          <p:cNvSpPr/>
          <p:nvPr/>
        </p:nvSpPr>
        <p:spPr>
          <a:xfrm>
            <a:off x="1874520" y="6382512"/>
            <a:ext cx="8229600" cy="256032"/>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Annual GreyBox Pen Test — 15 Vulnerabilities — Fixes In Progress</a:t>
            </a:r>
            <a:endParaRPr lang="en-US" sz="1100" dirty="0"/>
          </a:p>
        </p:txBody>
      </p:sp>
      <p:sp>
        <p:nvSpPr>
          <p:cNvPr id="62" name="Text 60"/>
          <p:cNvSpPr/>
          <p:nvPr/>
        </p:nvSpPr>
        <p:spPr>
          <a:xfrm>
            <a:off x="1874520" y="6711696"/>
            <a:ext cx="8229600" cy="347472"/>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15 vulnerabilities identified: 5 MEDIUM (XSS post-auth, CSV/Excel Command Injection, IDOR, Privilege Escalation, CSRF) and 10 LOW (HTTP Security Headers, Cache-Control, Session Cookie in GET, Sensitive Info Disclosure, Session not invalidated on logout, Business Logic Bypass). Fixes actively in progress. XSS and Input Validation findings intersect with GTPParameterParser migration — remediation plan being aligned with migration phases.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65760" y="228600"/>
            <a:ext cx="64008" cy="502920"/>
          </a:xfrm>
          <a:prstGeom prst="rect">
            <a:avLst/>
          </a:prstGeom>
          <a:solidFill>
            <a:srgbClr val="C9A84C"/>
          </a:solidFill>
          <a:ln w="12700">
            <a:solidFill>
              <a:srgbClr val="C9A84C"/>
            </a:solidFill>
            <a:prstDash val="solid"/>
          </a:ln>
        </p:spPr>
      </p:sp>
      <p:sp>
        <p:nvSpPr>
          <p:cNvPr id="3" name="Text 1"/>
          <p:cNvSpPr/>
          <p:nvPr/>
        </p:nvSpPr>
        <p:spPr>
          <a:xfrm>
            <a:off x="530352" y="201168"/>
            <a:ext cx="9144000" cy="365760"/>
          </a:xfrm>
          <a:prstGeom prst="rect">
            <a:avLst/>
          </a:prstGeom>
          <a:noFill/>
          <a:ln/>
        </p:spPr>
        <p:txBody>
          <a:bodyPr wrap="square" lIns="0" tIns="0" rIns="0" bIns="0" rtlCol="0" anchor="ctr"/>
          <a:lstStyle/>
          <a:p>
            <a:pPr indent="0" marL="0">
              <a:buNone/>
            </a:pPr>
            <a:r>
              <a:rPr lang="en-US" sz="2200" b="1" dirty="0">
                <a:solidFill>
                  <a:srgbClr val="003366"/>
                </a:solidFill>
                <a:latin typeface="Calibri" pitchFamily="34" charset="0"/>
                <a:ea typeface="Calibri" pitchFamily="34" charset="-122"/>
                <a:cs typeface="Calibri" pitchFamily="34" charset="-120"/>
              </a:rPr>
              <a:t>Recommendations</a:t>
            </a:r>
            <a:endParaRPr lang="en-US" sz="2200" dirty="0"/>
          </a:p>
        </p:txBody>
      </p:sp>
      <p:sp>
        <p:nvSpPr>
          <p:cNvPr id="4" name="Text 2"/>
          <p:cNvSpPr/>
          <p:nvPr/>
        </p:nvSpPr>
        <p:spPr>
          <a:xfrm>
            <a:off x="530352" y="566928"/>
            <a:ext cx="9144000" cy="228600"/>
          </a:xfrm>
          <a:prstGeom prst="rect">
            <a:avLst/>
          </a:prstGeom>
          <a:noFill/>
          <a:ln/>
        </p:spPr>
        <p:txBody>
          <a:bodyPr wrap="square" lIns="0" tIns="0" rIns="0" bIns="0" rtlCol="0" anchor="ctr"/>
          <a:lstStyle/>
          <a:p>
            <a:pPr indent="0" marL="0">
              <a:buNone/>
            </a:pPr>
            <a:r>
              <a:rPr lang="en-US" sz="1100" i="1" dirty="0">
                <a:solidFill>
                  <a:srgbClr val="8FA3BF"/>
                </a:solidFill>
                <a:latin typeface="Calibri" pitchFamily="34" charset="0"/>
                <a:ea typeface="Calibri" pitchFamily="34" charset="-122"/>
                <a:cs typeface="Calibri" pitchFamily="34" charset="-120"/>
              </a:rPr>
              <a:t>Evidence-based path forward — validated by hands-on POC</a:t>
            </a:r>
            <a:endParaRPr lang="en-US" sz="1100" dirty="0"/>
          </a:p>
        </p:txBody>
      </p:sp>
      <p:sp>
        <p:nvSpPr>
          <p:cNvPr id="5" name="Shape 3"/>
          <p:cNvSpPr/>
          <p:nvPr/>
        </p:nvSpPr>
        <p:spPr>
          <a:xfrm>
            <a:off x="0" y="6492240"/>
            <a:ext cx="12161520" cy="365760"/>
          </a:xfrm>
          <a:prstGeom prst="rect">
            <a:avLst/>
          </a:prstGeom>
          <a:solidFill>
            <a:srgbClr val="001F3F"/>
          </a:solidFill>
          <a:ln w="12700">
            <a:solidFill>
              <a:srgbClr val="001F3F"/>
            </a:solidFill>
            <a:prstDash val="solid"/>
          </a:ln>
        </p:spPr>
      </p:sp>
      <p:sp>
        <p:nvSpPr>
          <p:cNvPr id="6" name="Text 4"/>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7" name="Shape 5"/>
          <p:cNvSpPr/>
          <p:nvPr/>
        </p:nvSpPr>
        <p:spPr>
          <a:xfrm>
            <a:off x="320040" y="1005840"/>
            <a:ext cx="11521440" cy="914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20040" y="1005840"/>
            <a:ext cx="54864" cy="914400"/>
          </a:xfrm>
          <a:prstGeom prst="rect">
            <a:avLst/>
          </a:prstGeom>
          <a:solidFill>
            <a:srgbClr val="C0392B"/>
          </a:solidFill>
          <a:ln w="12700">
            <a:solidFill>
              <a:srgbClr val="C0392B"/>
            </a:solidFill>
            <a:prstDash val="solid"/>
          </a:ln>
        </p:spPr>
      </p:sp>
      <p:sp>
        <p:nvSpPr>
          <p:cNvPr id="9" name="Shape 7"/>
          <p:cNvSpPr/>
          <p:nvPr/>
        </p:nvSpPr>
        <p:spPr>
          <a:xfrm>
            <a:off x="475488" y="1188720"/>
            <a:ext cx="475488" cy="475488"/>
          </a:xfrm>
          <a:prstGeom prst="ellipse">
            <a:avLst/>
          </a:prstGeom>
          <a:solidFill>
            <a:srgbClr val="C0392B"/>
          </a:solidFill>
          <a:ln w="12700">
            <a:solidFill>
              <a:srgbClr val="C0392B"/>
            </a:solidFill>
            <a:prstDash val="solid"/>
          </a:ln>
        </p:spPr>
      </p:sp>
      <p:sp>
        <p:nvSpPr>
          <p:cNvPr id="10" name="Text 8"/>
          <p:cNvSpPr/>
          <p:nvPr/>
        </p:nvSpPr>
        <p:spPr>
          <a:xfrm>
            <a:off x="475488" y="118872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1" name="Shape 9"/>
          <p:cNvSpPr/>
          <p:nvPr/>
        </p:nvSpPr>
        <p:spPr>
          <a:xfrm>
            <a:off x="1078992" y="1234440"/>
            <a:ext cx="1097280" cy="228600"/>
          </a:xfrm>
          <a:prstGeom prst="rect">
            <a:avLst/>
          </a:prstGeom>
          <a:solidFill>
            <a:srgbClr val="C0392B"/>
          </a:solidFill>
          <a:ln w="12700">
            <a:solidFill>
              <a:srgbClr val="C0392B"/>
            </a:solidFill>
            <a:prstDash val="solid"/>
          </a:ln>
        </p:spPr>
      </p:sp>
      <p:sp>
        <p:nvSpPr>
          <p:cNvPr id="12" name="Text 10"/>
          <p:cNvSpPr/>
          <p:nvPr/>
        </p:nvSpPr>
        <p:spPr>
          <a:xfrm>
            <a:off x="1078992" y="1234440"/>
            <a:ext cx="109728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IMMEDIATE</a:t>
            </a:r>
            <a:endParaRPr lang="en-US" sz="800" dirty="0"/>
          </a:p>
        </p:txBody>
      </p:sp>
      <p:sp>
        <p:nvSpPr>
          <p:cNvPr id="13" name="Text 11"/>
          <p:cNvSpPr/>
          <p:nvPr/>
        </p:nvSpPr>
        <p:spPr>
          <a:xfrm>
            <a:off x="2304288" y="1097280"/>
            <a:ext cx="9326880" cy="292608"/>
          </a:xfrm>
          <a:prstGeom prst="rect">
            <a:avLst/>
          </a:prstGeom>
          <a:noFill/>
          <a:ln/>
        </p:spPr>
        <p:txBody>
          <a:bodyPr wrap="square" lIns="0" tIns="0" rIns="0" bIns="0" rtlCol="0" anchor="ctr"/>
          <a:lstStyle/>
          <a:p>
            <a:pPr indent="0" marL="0">
              <a:buNone/>
            </a:pPr>
            <a:r>
              <a:rPr lang="en-US" sz="1300" b="1" dirty="0">
                <a:solidFill>
                  <a:srgbClr val="1A2A3A"/>
                </a:solidFill>
                <a:latin typeface="Calibri" pitchFamily="34" charset="0"/>
                <a:ea typeface="Calibri" pitchFamily="34" charset="-122"/>
                <a:cs typeface="Calibri" pitchFamily="34" charset="-120"/>
              </a:rPr>
              <a:t>Address CRITICAL CVE — log4j 1.2.17 + Production JAR Hygiene</a:t>
            </a:r>
            <a:endParaRPr lang="en-US" sz="1300" dirty="0"/>
          </a:p>
        </p:txBody>
      </p:sp>
      <p:sp>
        <p:nvSpPr>
          <p:cNvPr id="14" name="Text 12"/>
          <p:cNvSpPr/>
          <p:nvPr/>
        </p:nvSpPr>
        <p:spPr>
          <a:xfrm>
            <a:off x="2304288" y="1426464"/>
            <a:ext cx="9326880" cy="42062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Replace log4j 1.2.17 with log4j2 2.20.0+ immediately — this is a live CRITICAL RCE vulnerability independent of EAP 8 timeline. Remove devtools.jar and all SNAPSHOT JARs from production builds. These actions carry zero migration risk and must not wait.</a:t>
            </a:r>
            <a:endParaRPr lang="en-US" sz="950" dirty="0"/>
          </a:p>
        </p:txBody>
      </p:sp>
      <p:sp>
        <p:nvSpPr>
          <p:cNvPr id="15" name="Shape 13"/>
          <p:cNvSpPr/>
          <p:nvPr/>
        </p:nvSpPr>
        <p:spPr>
          <a:xfrm>
            <a:off x="320040" y="2057400"/>
            <a:ext cx="11521440" cy="914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20040" y="2057400"/>
            <a:ext cx="54864" cy="914400"/>
          </a:xfrm>
          <a:prstGeom prst="rect">
            <a:avLst/>
          </a:prstGeom>
          <a:solidFill>
            <a:srgbClr val="C0392B"/>
          </a:solidFill>
          <a:ln w="12700">
            <a:solidFill>
              <a:srgbClr val="C0392B"/>
            </a:solidFill>
            <a:prstDash val="solid"/>
          </a:ln>
        </p:spPr>
      </p:sp>
      <p:sp>
        <p:nvSpPr>
          <p:cNvPr id="17" name="Shape 15"/>
          <p:cNvSpPr/>
          <p:nvPr/>
        </p:nvSpPr>
        <p:spPr>
          <a:xfrm>
            <a:off x="475488" y="2240280"/>
            <a:ext cx="475488" cy="475488"/>
          </a:xfrm>
          <a:prstGeom prst="ellipse">
            <a:avLst/>
          </a:prstGeom>
          <a:solidFill>
            <a:srgbClr val="C0392B"/>
          </a:solidFill>
          <a:ln w="12700">
            <a:solidFill>
              <a:srgbClr val="C0392B"/>
            </a:solidFill>
            <a:prstDash val="solid"/>
          </a:ln>
        </p:spPr>
      </p:sp>
      <p:sp>
        <p:nvSpPr>
          <p:cNvPr id="18" name="Text 16"/>
          <p:cNvSpPr/>
          <p:nvPr/>
        </p:nvSpPr>
        <p:spPr>
          <a:xfrm>
            <a:off x="475488" y="224028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9" name="Shape 17"/>
          <p:cNvSpPr/>
          <p:nvPr/>
        </p:nvSpPr>
        <p:spPr>
          <a:xfrm>
            <a:off x="1078992" y="2286000"/>
            <a:ext cx="1097280" cy="228600"/>
          </a:xfrm>
          <a:prstGeom prst="rect">
            <a:avLst/>
          </a:prstGeom>
          <a:solidFill>
            <a:srgbClr val="C0392B"/>
          </a:solidFill>
          <a:ln w="12700">
            <a:solidFill>
              <a:srgbClr val="C0392B"/>
            </a:solidFill>
            <a:prstDash val="solid"/>
          </a:ln>
        </p:spPr>
      </p:sp>
      <p:sp>
        <p:nvSpPr>
          <p:cNvPr id="20" name="Text 18"/>
          <p:cNvSpPr/>
          <p:nvPr/>
        </p:nvSpPr>
        <p:spPr>
          <a:xfrm>
            <a:off x="1078992" y="2286000"/>
            <a:ext cx="109728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IMMEDIATE</a:t>
            </a:r>
            <a:endParaRPr lang="en-US" sz="800" dirty="0"/>
          </a:p>
        </p:txBody>
      </p:sp>
      <p:sp>
        <p:nvSpPr>
          <p:cNvPr id="21" name="Text 19"/>
          <p:cNvSpPr/>
          <p:nvPr/>
        </p:nvSpPr>
        <p:spPr>
          <a:xfrm>
            <a:off x="2304288" y="2148840"/>
            <a:ext cx="9326880" cy="292608"/>
          </a:xfrm>
          <a:prstGeom prst="rect">
            <a:avLst/>
          </a:prstGeom>
          <a:noFill/>
          <a:ln/>
        </p:spPr>
        <p:txBody>
          <a:bodyPr wrap="square" lIns="0" tIns="0" rIns="0" bIns="0" rtlCol="0" anchor="ctr"/>
          <a:lstStyle/>
          <a:p>
            <a:pPr indent="0" marL="0">
              <a:buNone/>
            </a:pPr>
            <a:r>
              <a:rPr lang="en-US" sz="1300" b="1" dirty="0">
                <a:solidFill>
                  <a:srgbClr val="1A2A3A"/>
                </a:solidFill>
                <a:latin typeface="Calibri" pitchFamily="34" charset="0"/>
                <a:ea typeface="Calibri" pitchFamily="34" charset="-122"/>
                <a:cs typeface="Calibri" pitchFamily="34" charset="-120"/>
              </a:rPr>
              <a:t>Engage I-Sprint Vendor — javax to Jakarta EE Upgrade Required</a:t>
            </a:r>
            <a:endParaRPr lang="en-US" sz="1300" dirty="0"/>
          </a:p>
        </p:txBody>
      </p:sp>
      <p:sp>
        <p:nvSpPr>
          <p:cNvPr id="22" name="Text 20"/>
          <p:cNvSpPr/>
          <p:nvPr/>
        </p:nvSpPr>
        <p:spPr>
          <a:xfrm>
            <a:off x="2304288" y="2478024"/>
            <a:ext cx="9326880" cy="42062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I-Sprint token JARs depend on javax.* internally. This is a third-party vendor dependency outside Wipro's direct control. Vendor must confirm Jakarta EE compatible release availability and deprecated method alternatives. Timeline risk: if vendor cannot deliver in time, token mechanism migration becomes a project blocker.</a:t>
            </a:r>
            <a:endParaRPr lang="en-US" sz="950" dirty="0"/>
          </a:p>
        </p:txBody>
      </p:sp>
      <p:sp>
        <p:nvSpPr>
          <p:cNvPr id="23" name="Shape 21"/>
          <p:cNvSpPr/>
          <p:nvPr/>
        </p:nvSpPr>
        <p:spPr>
          <a:xfrm>
            <a:off x="320040" y="3108960"/>
            <a:ext cx="11521440" cy="914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320040" y="3108960"/>
            <a:ext cx="54864" cy="914400"/>
          </a:xfrm>
          <a:prstGeom prst="rect">
            <a:avLst/>
          </a:prstGeom>
          <a:solidFill>
            <a:srgbClr val="D4A017"/>
          </a:solidFill>
          <a:ln w="12700">
            <a:solidFill>
              <a:srgbClr val="D4A017"/>
            </a:solidFill>
            <a:prstDash val="solid"/>
          </a:ln>
        </p:spPr>
      </p:sp>
      <p:sp>
        <p:nvSpPr>
          <p:cNvPr id="25" name="Shape 23"/>
          <p:cNvSpPr/>
          <p:nvPr/>
        </p:nvSpPr>
        <p:spPr>
          <a:xfrm>
            <a:off x="475488" y="3291840"/>
            <a:ext cx="475488" cy="475488"/>
          </a:xfrm>
          <a:prstGeom prst="ellipse">
            <a:avLst/>
          </a:prstGeom>
          <a:solidFill>
            <a:srgbClr val="D4A017"/>
          </a:solidFill>
          <a:ln w="12700">
            <a:solidFill>
              <a:srgbClr val="D4A017"/>
            </a:solidFill>
            <a:prstDash val="solid"/>
          </a:ln>
        </p:spPr>
      </p:sp>
      <p:sp>
        <p:nvSpPr>
          <p:cNvPr id="26" name="Text 24"/>
          <p:cNvSpPr/>
          <p:nvPr/>
        </p:nvSpPr>
        <p:spPr>
          <a:xfrm>
            <a:off x="475488" y="32918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7" name="Shape 25"/>
          <p:cNvSpPr/>
          <p:nvPr/>
        </p:nvSpPr>
        <p:spPr>
          <a:xfrm>
            <a:off x="1078992" y="3337560"/>
            <a:ext cx="1097280" cy="228600"/>
          </a:xfrm>
          <a:prstGeom prst="rect">
            <a:avLst/>
          </a:prstGeom>
          <a:solidFill>
            <a:srgbClr val="D4A017"/>
          </a:solidFill>
          <a:ln w="12700">
            <a:solidFill>
              <a:srgbClr val="D4A017"/>
            </a:solidFill>
            <a:prstDash val="solid"/>
          </a:ln>
        </p:spPr>
      </p:sp>
      <p:sp>
        <p:nvSpPr>
          <p:cNvPr id="28" name="Text 26"/>
          <p:cNvSpPr/>
          <p:nvPr/>
        </p:nvSpPr>
        <p:spPr>
          <a:xfrm>
            <a:off x="1078992" y="3337560"/>
            <a:ext cx="109728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SHORT TERM</a:t>
            </a:r>
            <a:endParaRPr lang="en-US" sz="800" dirty="0"/>
          </a:p>
        </p:txBody>
      </p:sp>
      <p:sp>
        <p:nvSpPr>
          <p:cNvPr id="29" name="Text 27"/>
          <p:cNvSpPr/>
          <p:nvPr/>
        </p:nvSpPr>
        <p:spPr>
          <a:xfrm>
            <a:off x="2304288" y="3200400"/>
            <a:ext cx="9326880" cy="292608"/>
          </a:xfrm>
          <a:prstGeom prst="rect">
            <a:avLst/>
          </a:prstGeom>
          <a:noFill/>
          <a:ln/>
        </p:spPr>
        <p:txBody>
          <a:bodyPr wrap="square" lIns="0" tIns="0" rIns="0" bIns="0" rtlCol="0" anchor="ctr"/>
          <a:lstStyle/>
          <a:p>
            <a:pPr indent="0" marL="0">
              <a:buNone/>
            </a:pPr>
            <a:r>
              <a:rPr lang="en-US" sz="1300" b="1" dirty="0">
                <a:solidFill>
                  <a:srgbClr val="1A2A3A"/>
                </a:solidFill>
                <a:latin typeface="Calibri" pitchFamily="34" charset="0"/>
                <a:ea typeface="Calibri" pitchFamily="34" charset="-122"/>
                <a:cs typeface="Calibri" pitchFamily="34" charset="-120"/>
              </a:rPr>
              <a:t>Xalan 2.7.3 — Confirmed as Only XSLT Path. Proceed with Upgrade.</a:t>
            </a:r>
            <a:endParaRPr lang="en-US" sz="1300" dirty="0"/>
          </a:p>
        </p:txBody>
      </p:sp>
      <p:sp>
        <p:nvSpPr>
          <p:cNvPr id="30" name="Text 28"/>
          <p:cNvSpPr/>
          <p:nvPr/>
        </p:nvSpPr>
        <p:spPr>
          <a:xfrm>
            <a:off x="2304288" y="3529584"/>
            <a:ext cx="9326880" cy="42062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Scan confirmed 4,048 xalan:// Java extension calls across the XSL layer. Saxon HE is not viable. Xalan 2.7.3 is a drop-in upgrade — no XSL file changes needed. Sakthi to verify the buildscript Saxon XSLs (calendar, currency, number) are isolated from runtime portal. Upgrade can proceed with high confidence.</a:t>
            </a:r>
            <a:endParaRPr lang="en-US" sz="950" dirty="0"/>
          </a:p>
        </p:txBody>
      </p:sp>
      <p:sp>
        <p:nvSpPr>
          <p:cNvPr id="31" name="Shape 29"/>
          <p:cNvSpPr/>
          <p:nvPr/>
        </p:nvSpPr>
        <p:spPr>
          <a:xfrm>
            <a:off x="320040" y="4160520"/>
            <a:ext cx="11521440" cy="914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320040" y="4160520"/>
            <a:ext cx="54864" cy="914400"/>
          </a:xfrm>
          <a:prstGeom prst="rect">
            <a:avLst/>
          </a:prstGeom>
          <a:solidFill>
            <a:srgbClr val="D4A017"/>
          </a:solidFill>
          <a:ln w="12700">
            <a:solidFill>
              <a:srgbClr val="D4A017"/>
            </a:solidFill>
            <a:prstDash val="solid"/>
          </a:ln>
        </p:spPr>
      </p:sp>
      <p:sp>
        <p:nvSpPr>
          <p:cNvPr id="33" name="Shape 31"/>
          <p:cNvSpPr/>
          <p:nvPr/>
        </p:nvSpPr>
        <p:spPr>
          <a:xfrm>
            <a:off x="475488" y="4343400"/>
            <a:ext cx="475488" cy="475488"/>
          </a:xfrm>
          <a:prstGeom prst="ellipse">
            <a:avLst/>
          </a:prstGeom>
          <a:solidFill>
            <a:srgbClr val="D4A017"/>
          </a:solidFill>
          <a:ln w="12700">
            <a:solidFill>
              <a:srgbClr val="D4A017"/>
            </a:solidFill>
            <a:prstDash val="solid"/>
          </a:ln>
        </p:spPr>
      </p:sp>
      <p:sp>
        <p:nvSpPr>
          <p:cNvPr id="34" name="Text 32"/>
          <p:cNvSpPr/>
          <p:nvPr/>
        </p:nvSpPr>
        <p:spPr>
          <a:xfrm>
            <a:off x="475488" y="43434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5" name="Shape 33"/>
          <p:cNvSpPr/>
          <p:nvPr/>
        </p:nvSpPr>
        <p:spPr>
          <a:xfrm>
            <a:off x="1078992" y="4389120"/>
            <a:ext cx="1097280" cy="228600"/>
          </a:xfrm>
          <a:prstGeom prst="rect">
            <a:avLst/>
          </a:prstGeom>
          <a:solidFill>
            <a:srgbClr val="D4A017"/>
          </a:solidFill>
          <a:ln w="12700">
            <a:solidFill>
              <a:srgbClr val="D4A017"/>
            </a:solidFill>
            <a:prstDash val="solid"/>
          </a:ln>
        </p:spPr>
      </p:sp>
      <p:sp>
        <p:nvSpPr>
          <p:cNvPr id="36" name="Text 34"/>
          <p:cNvSpPr/>
          <p:nvPr/>
        </p:nvSpPr>
        <p:spPr>
          <a:xfrm>
            <a:off x="1078992" y="4389120"/>
            <a:ext cx="109728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SHORT TERM</a:t>
            </a:r>
            <a:endParaRPr lang="en-US" sz="800" dirty="0"/>
          </a:p>
        </p:txBody>
      </p:sp>
      <p:sp>
        <p:nvSpPr>
          <p:cNvPr id="37" name="Text 35"/>
          <p:cNvSpPr/>
          <p:nvPr/>
        </p:nvSpPr>
        <p:spPr>
          <a:xfrm>
            <a:off x="2304288" y="4251960"/>
            <a:ext cx="9326880" cy="292608"/>
          </a:xfrm>
          <a:prstGeom prst="rect">
            <a:avLst/>
          </a:prstGeom>
          <a:noFill/>
          <a:ln/>
        </p:spPr>
        <p:txBody>
          <a:bodyPr wrap="square" lIns="0" tIns="0" rIns="0" bIns="0" rtlCol="0" anchor="ctr"/>
          <a:lstStyle/>
          <a:p>
            <a:pPr indent="0" marL="0">
              <a:buNone/>
            </a:pPr>
            <a:r>
              <a:rPr lang="en-US" sz="1300" b="1" dirty="0">
                <a:solidFill>
                  <a:srgbClr val="1A2A3A"/>
                </a:solidFill>
                <a:latin typeface="Calibri" pitchFamily="34" charset="0"/>
                <a:ea typeface="Calibri" pitchFamily="34" charset="-122"/>
                <a:cs typeface="Calibri" pitchFamily="34" charset="-120"/>
              </a:rPr>
              <a:t>Torque 5.1 Migration — Locate Schema, Assess Village Impact on Core Tables</a:t>
            </a:r>
            <a:endParaRPr lang="en-US" sz="1300" dirty="0"/>
          </a:p>
        </p:txBody>
      </p:sp>
      <p:sp>
        <p:nvSpPr>
          <p:cNvPr id="38" name="Text 36"/>
          <p:cNvSpPr/>
          <p:nvPr/>
        </p:nvSpPr>
        <p:spPr>
          <a:xfrm>
            <a:off x="2304288" y="4581144"/>
            <a:ext cx="9326880" cy="42062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Torque 5.1 is the confirmed target version. Priority: locate schema.xml or confirm regeneration path for all core banking table Peers. Village ResultSet removal affects every core DB read pattern. Gokul to map all Peer classes referencing Village to quantify the full rewrite scope before migration estimate is finalised.</a:t>
            </a:r>
            <a:endParaRPr lang="en-US" sz="950" dirty="0"/>
          </a:p>
        </p:txBody>
      </p:sp>
      <p:sp>
        <p:nvSpPr>
          <p:cNvPr id="39" name="Shape 37"/>
          <p:cNvSpPr/>
          <p:nvPr/>
        </p:nvSpPr>
        <p:spPr>
          <a:xfrm>
            <a:off x="320040" y="5212080"/>
            <a:ext cx="11521440" cy="914400"/>
          </a:xfrm>
          <a:prstGeom prst="rect">
            <a:avLst/>
          </a:prstGeom>
          <a:solidFill>
            <a:srgbClr val="FFFFFF"/>
          </a:solidFill>
          <a:ln w="12700">
            <a:solidFill>
              <a:srgbClr val="E8ECF2"/>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320040" y="5212080"/>
            <a:ext cx="54864" cy="914400"/>
          </a:xfrm>
          <a:prstGeom prst="rect">
            <a:avLst/>
          </a:prstGeom>
          <a:solidFill>
            <a:srgbClr val="2C6FAC"/>
          </a:solidFill>
          <a:ln w="12700">
            <a:solidFill>
              <a:srgbClr val="2C6FAC"/>
            </a:solidFill>
            <a:prstDash val="solid"/>
          </a:ln>
        </p:spPr>
      </p:sp>
      <p:sp>
        <p:nvSpPr>
          <p:cNvPr id="41" name="Shape 39"/>
          <p:cNvSpPr/>
          <p:nvPr/>
        </p:nvSpPr>
        <p:spPr>
          <a:xfrm>
            <a:off x="475488" y="5394960"/>
            <a:ext cx="475488" cy="475488"/>
          </a:xfrm>
          <a:prstGeom prst="ellipse">
            <a:avLst/>
          </a:prstGeom>
          <a:solidFill>
            <a:srgbClr val="2C6FAC"/>
          </a:solidFill>
          <a:ln w="12700">
            <a:solidFill>
              <a:srgbClr val="2C6FAC"/>
            </a:solidFill>
            <a:prstDash val="solid"/>
          </a:ln>
        </p:spPr>
      </p:sp>
      <p:sp>
        <p:nvSpPr>
          <p:cNvPr id="42" name="Text 40"/>
          <p:cNvSpPr/>
          <p:nvPr/>
        </p:nvSpPr>
        <p:spPr>
          <a:xfrm>
            <a:off x="475488" y="53949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3" name="Shape 41"/>
          <p:cNvSpPr/>
          <p:nvPr/>
        </p:nvSpPr>
        <p:spPr>
          <a:xfrm>
            <a:off x="1078992" y="5440680"/>
            <a:ext cx="1097280" cy="228600"/>
          </a:xfrm>
          <a:prstGeom prst="rect">
            <a:avLst/>
          </a:prstGeom>
          <a:solidFill>
            <a:srgbClr val="2C6FAC"/>
          </a:solidFill>
          <a:ln w="12700">
            <a:solidFill>
              <a:srgbClr val="2C6FAC"/>
            </a:solidFill>
            <a:prstDash val="solid"/>
          </a:ln>
        </p:spPr>
      </p:sp>
      <p:sp>
        <p:nvSpPr>
          <p:cNvPr id="44" name="Text 42"/>
          <p:cNvSpPr/>
          <p:nvPr/>
        </p:nvSpPr>
        <p:spPr>
          <a:xfrm>
            <a:off x="1078992" y="5440680"/>
            <a:ext cx="109728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PLANNING</a:t>
            </a:r>
            <a:endParaRPr lang="en-US" sz="800" dirty="0"/>
          </a:p>
        </p:txBody>
      </p:sp>
      <p:sp>
        <p:nvSpPr>
          <p:cNvPr id="45" name="Text 43"/>
          <p:cNvSpPr/>
          <p:nvPr/>
        </p:nvSpPr>
        <p:spPr>
          <a:xfrm>
            <a:off x="2304288" y="5303520"/>
            <a:ext cx="9326880" cy="292608"/>
          </a:xfrm>
          <a:prstGeom prst="rect">
            <a:avLst/>
          </a:prstGeom>
          <a:noFill/>
          <a:ln/>
        </p:spPr>
        <p:txBody>
          <a:bodyPr wrap="square" lIns="0" tIns="0" rIns="0" bIns="0" rtlCol="0" anchor="ctr"/>
          <a:lstStyle/>
          <a:p>
            <a:pPr indent="0" marL="0">
              <a:buNone/>
            </a:pPr>
            <a:r>
              <a:rPr lang="en-US" sz="1300" b="1" dirty="0">
                <a:solidFill>
                  <a:srgbClr val="1A2A3A"/>
                </a:solidFill>
                <a:latin typeface="Calibri" pitchFamily="34" charset="0"/>
                <a:ea typeface="Calibri" pitchFamily="34" charset="-122"/>
                <a:cs typeface="Calibri" pitchFamily="34" charset="-120"/>
              </a:rPr>
              <a:t>Migration Phasing — Framework Layer First, Business Logic Second</a:t>
            </a:r>
            <a:endParaRPr lang="en-US" sz="1300" dirty="0"/>
          </a:p>
        </p:txBody>
      </p:sp>
      <p:sp>
        <p:nvSpPr>
          <p:cNvPr id="46" name="Text 44"/>
          <p:cNvSpPr/>
          <p:nvPr/>
        </p:nvSpPr>
        <p:spPr>
          <a:xfrm>
            <a:off x="2304288" y="5632704"/>
            <a:ext cx="9326880" cy="42062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Phase 1: log4j2, javax→jakarta namespace, JAR upgrades, I-Sprint vendor confirmation. Phase 2: Turbine 7 service layer — RunData, PoolService, FactoryService, GTPSchedulerService. Phase 3: Portlet/Action layer — extends→implements, data.getPage() removal, 300+ classes. Phase 4: Torque 5.1 ORM redesign. Phase 5: Token/E2EEService. Phase 6: GreyBox vulnerability remediation validation.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0" y="6492240"/>
            <a:ext cx="12161520" cy="365760"/>
          </a:xfrm>
          <a:prstGeom prst="rect">
            <a:avLst/>
          </a:prstGeom>
          <a:solidFill>
            <a:srgbClr val="001F3F"/>
          </a:solidFill>
          <a:ln w="12700">
            <a:solidFill>
              <a:srgbClr val="001122"/>
            </a:solidFill>
            <a:prstDash val="solid"/>
          </a:ln>
        </p:spPr>
      </p:sp>
      <p:sp>
        <p:nvSpPr>
          <p:cNvPr id="3" name="Text 1"/>
          <p:cNvSpPr/>
          <p:nvPr/>
        </p:nvSpPr>
        <p:spPr>
          <a:xfrm>
            <a:off x="274320" y="6510528"/>
            <a:ext cx="11612880" cy="228600"/>
          </a:xfrm>
          <a:prstGeom prst="rect">
            <a:avLst/>
          </a:prstGeom>
          <a:noFill/>
          <a:ln/>
        </p:spPr>
        <p:txBody>
          <a:bodyPr wrap="square" lIns="0" tIns="0" rIns="0" bIns="0" rtlCol="0" anchor="ctr"/>
          <a:lstStyle/>
          <a:p>
            <a:pPr indent="0" marL="0">
              <a:buNone/>
            </a:pPr>
            <a:r>
              <a:rPr lang="en-US" sz="800" dirty="0">
                <a:solidFill>
                  <a:srgbClr val="8FA3BF"/>
                </a:solidFill>
                <a:latin typeface="Calibri" pitchFamily="34" charset="0"/>
                <a:ea typeface="Calibri" pitchFamily="34" charset="-122"/>
                <a:cs typeface="Calibri" pitchFamily="34" charset="-120"/>
              </a:rPr>
              <a:t>GEB FCC Platform — JBoss EAP 8 Migration Assessment  |  Wipro Consulting × UOB Bank Singapore  |  Confidential</a:t>
            </a:r>
            <a:endParaRPr lang="en-US" sz="800" dirty="0"/>
          </a:p>
        </p:txBody>
      </p:sp>
      <p:sp>
        <p:nvSpPr>
          <p:cNvPr id="4" name="Shape 2"/>
          <p:cNvSpPr/>
          <p:nvPr/>
        </p:nvSpPr>
        <p:spPr>
          <a:xfrm>
            <a:off x="8961120" y="0"/>
            <a:ext cx="3200400" cy="6858000"/>
          </a:xfrm>
          <a:prstGeom prst="rect">
            <a:avLst/>
          </a:prstGeom>
          <a:solidFill>
            <a:srgbClr val="003366"/>
          </a:solidFill>
          <a:ln w="12700">
            <a:solidFill>
              <a:srgbClr val="003366"/>
            </a:solidFill>
            <a:prstDash val="solid"/>
          </a:ln>
        </p:spPr>
      </p:sp>
      <p:sp>
        <p:nvSpPr>
          <p:cNvPr id="5" name="Shape 3"/>
          <p:cNvSpPr/>
          <p:nvPr/>
        </p:nvSpPr>
        <p:spPr>
          <a:xfrm>
            <a:off x="9601200" y="0"/>
            <a:ext cx="2560320" cy="6858000"/>
          </a:xfrm>
          <a:prstGeom prst="rect">
            <a:avLst/>
          </a:prstGeom>
          <a:solidFill>
            <a:srgbClr val="1A4A7A">
              <a:alpha val="40000"/>
            </a:srgbClr>
          </a:solidFill>
          <a:ln w="12700">
            <a:solidFill>
              <a:srgbClr val="1A4A7A">
                <a:alpha val="40000"/>
              </a:srgbClr>
            </a:solidFill>
            <a:prstDash val="solid"/>
          </a:ln>
        </p:spPr>
      </p:sp>
      <p:sp>
        <p:nvSpPr>
          <p:cNvPr id="6" name="Shape 4"/>
          <p:cNvSpPr/>
          <p:nvPr/>
        </p:nvSpPr>
        <p:spPr>
          <a:xfrm>
            <a:off x="0" y="3840480"/>
            <a:ext cx="8686800" cy="54864"/>
          </a:xfrm>
          <a:prstGeom prst="rect">
            <a:avLst/>
          </a:prstGeom>
          <a:solidFill>
            <a:srgbClr val="C9A84C"/>
          </a:solidFill>
          <a:ln w="12700">
            <a:solidFill>
              <a:srgbClr val="C9A84C"/>
            </a:solidFill>
            <a:prstDash val="solid"/>
          </a:ln>
        </p:spPr>
      </p:sp>
      <p:sp>
        <p:nvSpPr>
          <p:cNvPr id="7" name="Text 5"/>
          <p:cNvSpPr/>
          <p:nvPr/>
        </p:nvSpPr>
        <p:spPr>
          <a:xfrm>
            <a:off x="457200" y="82296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8" name="Text 6"/>
          <p:cNvSpPr/>
          <p:nvPr/>
        </p:nvSpPr>
        <p:spPr>
          <a:xfrm>
            <a:off x="457200" y="1874520"/>
            <a:ext cx="8229600" cy="502920"/>
          </a:xfrm>
          <a:prstGeom prst="rect">
            <a:avLst/>
          </a:prstGeom>
          <a:noFill/>
          <a:ln/>
        </p:spPr>
        <p:txBody>
          <a:bodyPr wrap="square" lIns="0" tIns="0" rIns="0" bIns="0" rtlCol="0" anchor="ctr"/>
          <a:lstStyle/>
          <a:p>
            <a:pPr indent="0" marL="0">
              <a:buNone/>
            </a:pPr>
            <a:r>
              <a:rPr lang="en-US" sz="2000" dirty="0">
                <a:solidFill>
                  <a:srgbClr val="F0D080"/>
                </a:solidFill>
                <a:latin typeface="Calibri" pitchFamily="34" charset="0"/>
                <a:ea typeface="Calibri" pitchFamily="34" charset="-122"/>
                <a:cs typeface="Calibri" pitchFamily="34" charset="-120"/>
              </a:rPr>
              <a:t>GEB FCC Platform — JBoss EAP 8 Migration Assessment</a:t>
            </a:r>
            <a:endParaRPr lang="en-US" sz="2000" dirty="0"/>
          </a:p>
        </p:txBody>
      </p:sp>
      <p:sp>
        <p:nvSpPr>
          <p:cNvPr id="9" name="Text 7"/>
          <p:cNvSpPr/>
          <p:nvPr/>
        </p:nvSpPr>
        <p:spPr>
          <a:xfrm>
            <a:off x="457200" y="2450592"/>
            <a:ext cx="8229600" cy="347472"/>
          </a:xfrm>
          <a:prstGeom prst="rect">
            <a:avLst/>
          </a:prstGeom>
          <a:noFill/>
          <a:ln/>
        </p:spPr>
        <p:txBody>
          <a:bodyPr wrap="square" lIns="0" tIns="0" rIns="0" bIns="0" rtlCol="0" anchor="ctr"/>
          <a:lstStyle/>
          <a:p>
            <a:pPr indent="0" marL="0">
              <a:buNone/>
            </a:pPr>
            <a:r>
              <a:rPr lang="en-US" sz="1200" dirty="0">
                <a:solidFill>
                  <a:srgbClr val="8FA3BF"/>
                </a:solidFill>
                <a:latin typeface="Calibri" pitchFamily="34" charset="0"/>
                <a:ea typeface="Calibri" pitchFamily="34" charset="-122"/>
                <a:cs typeface="Calibri" pitchFamily="34" charset="-120"/>
              </a:rPr>
              <a:t>138 JARs Assessed  ·  33 Services Mapped  ·  Mini-GEB POC Live on Turbine 7 + Java 17</a:t>
            </a:r>
            <a:endParaRPr lang="en-US" sz="1200" dirty="0"/>
          </a:p>
        </p:txBody>
      </p:sp>
      <p:sp>
        <p:nvSpPr>
          <p:cNvPr id="10" name="Text 8"/>
          <p:cNvSpPr/>
          <p:nvPr/>
        </p:nvSpPr>
        <p:spPr>
          <a:xfrm>
            <a:off x="457200" y="4160520"/>
            <a:ext cx="8229600" cy="256032"/>
          </a:xfrm>
          <a:prstGeom prst="rect">
            <a:avLst/>
          </a:prstGeom>
          <a:noFill/>
          <a:ln/>
        </p:spPr>
        <p:txBody>
          <a:bodyPr wrap="square" lIns="0" tIns="0" rIns="0" bIns="0"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Prepared by:</a:t>
            </a:r>
            <a:endParaRPr lang="en-US" sz="1100" dirty="0"/>
          </a:p>
        </p:txBody>
      </p:sp>
      <p:sp>
        <p:nvSpPr>
          <p:cNvPr id="11" name="Text 9"/>
          <p:cNvSpPr/>
          <p:nvPr/>
        </p:nvSpPr>
        <p:spPr>
          <a:xfrm>
            <a:off x="457200" y="4434840"/>
            <a:ext cx="8229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Wipro Consulting  |  Digital Engineering Practice  |  UOB Bank Singapore</a:t>
            </a:r>
            <a:endParaRPr lang="en-US" sz="1300" dirty="0"/>
          </a:p>
        </p:txBody>
      </p:sp>
      <p:sp>
        <p:nvSpPr>
          <p:cNvPr id="12" name="Text 10"/>
          <p:cNvSpPr/>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F0D080"/>
                </a:solidFill>
                <a:latin typeface="Calibri" pitchFamily="34" charset="0"/>
                <a:ea typeface="Calibri" pitchFamily="34" charset="-122"/>
                <a:cs typeface="Calibri" pitchFamily="34" charset="-120"/>
              </a:rPr>
              <a:t>War Room Team: Gokul · Sakthi · Akshith · Chandra · Kreshan · Archana</a:t>
            </a:r>
            <a:endParaRPr lang="en-US" sz="1100" dirty="0"/>
          </a:p>
        </p:txBody>
      </p:sp>
      <p:sp>
        <p:nvSpPr>
          <p:cNvPr id="13" name="Text 11"/>
          <p:cNvSpPr/>
          <p:nvPr/>
        </p:nvSpPr>
        <p:spPr>
          <a:xfrm>
            <a:off x="457200" y="5166360"/>
            <a:ext cx="8229600" cy="256032"/>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April 2026  ·  Classification: Confidential  ·  Wipro Consulting × UOB Bank</a:t>
            </a:r>
            <a:endParaRPr lang="en-US" sz="1000" dirty="0"/>
          </a:p>
        </p:txBody>
      </p:sp>
      <p:sp>
        <p:nvSpPr>
          <p:cNvPr id="14" name="Text 12"/>
          <p:cNvSpPr/>
          <p:nvPr/>
        </p:nvSpPr>
        <p:spPr>
          <a:xfrm>
            <a:off x="457200" y="5623560"/>
            <a:ext cx="8229600" cy="548640"/>
          </a:xfrm>
          <a:prstGeom prst="rect">
            <a:avLst/>
          </a:prstGeom>
          <a:noFill/>
          <a:ln/>
        </p:spPr>
        <p:txBody>
          <a:bodyPr wrap="square" lIns="0" tIns="0" rIns="0" bIns="0"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Questions &amp; Discussion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2026-04-05T18:51:12Z</dcterms:created>
  <dcterms:modified xsi:type="dcterms:W3CDTF">2026-04-05T18:51:12Z</dcterms:modified>
</cp:coreProperties>
</file>