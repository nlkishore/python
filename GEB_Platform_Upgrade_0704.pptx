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6" r:id="rId17"/>
    <p:sldId id="261" r:id="rId12"/>
    <p:sldId id="262" r:id="rId13"/>
    <p:sldId id="263" r:id="rId14"/>
    <p:sldId id="264" r:id="rId15"/>
    <p:sldId id="265" r:id="rId16"/>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D2B4E"/>
          </a:solidFill>
          <a:ln w="12700">
            <a:solidFill>
              <a:srgbClr val="0D2B4E"/>
            </a:solidFill>
            <a:prstDash val="solid"/>
          </a:ln>
        </p:spPr>
      </p:sp>
      <p:sp>
        <p:nvSpPr>
          <p:cNvPr id="3" name="Shape 1"/>
          <p:cNvSpPr/>
          <p:nvPr/>
        </p:nvSpPr>
        <p:spPr>
          <a:xfrm>
            <a:off x="0" y="0"/>
            <a:ext cx="64008" cy="5143500"/>
          </a:xfrm>
          <a:prstGeom prst="rect">
            <a:avLst/>
          </a:prstGeom>
          <a:solidFill>
            <a:srgbClr val="C0392B"/>
          </a:solidFill>
          <a:ln w="12700">
            <a:solidFill>
              <a:srgbClr val="C0392B"/>
            </a:solidFill>
            <a:prstDash val="solid"/>
          </a:ln>
        </p:spPr>
      </p:sp>
      <p:sp>
        <p:nvSpPr>
          <p:cNvPr id="4" name="Text 2"/>
          <p:cNvSpPr/>
          <p:nvPr/>
        </p:nvSpPr>
        <p:spPr>
          <a:xfrm>
            <a:off x="137160" y="274320"/>
            <a:ext cx="2926080" cy="457200"/>
          </a:xfrm>
          <a:prstGeom prst="rect">
            <a:avLst/>
          </a:prstGeom>
          <a:noFill/>
          <a:ln/>
        </p:spPr>
        <p:txBody>
          <a:bodyPr wrap="square" lIns="0" tIns="0" rIns="0" bIns="0" rtlCol="0" anchor="ctr"/>
          <a:lstStyle/>
          <a:p>
            <a:pPr algn="l" indent="0" marL="0">
              <a:buNone/>
            </a:pPr>
            <a:r>
              <a:rPr lang="en-US" sz="1300" b="1" spc="400" kern="0" dirty="0">
                <a:solidFill>
                  <a:srgbClr val="C0392B"/>
                </a:solidFill>
                <a:latin typeface="Calibri" pitchFamily="34" charset="0"/>
                <a:ea typeface="Calibri" pitchFamily="34" charset="-122"/>
                <a:cs typeface="Calibri" pitchFamily="34" charset="-120"/>
              </a:rPr>
              <a:t>UOB</a:t>
            </a:r>
            <a:endParaRPr lang="en-US" sz="1300" dirty="0"/>
          </a:p>
        </p:txBody>
      </p:sp>
      <p:sp>
        <p:nvSpPr>
          <p:cNvPr id="5" name="Text 3"/>
          <p:cNvSpPr/>
          <p:nvPr/>
        </p:nvSpPr>
        <p:spPr>
          <a:xfrm>
            <a:off x="137160" y="658368"/>
            <a:ext cx="2926080" cy="256032"/>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United Overseas Bank</a:t>
            </a:r>
            <a:endParaRPr lang="en-US" sz="900" dirty="0"/>
          </a:p>
        </p:txBody>
      </p:sp>
      <p:sp>
        <p:nvSpPr>
          <p:cNvPr id="6" name="Shape 4"/>
          <p:cNvSpPr/>
          <p:nvPr/>
        </p:nvSpPr>
        <p:spPr>
          <a:xfrm>
            <a:off x="137160" y="1005840"/>
            <a:ext cx="2743200" cy="22860"/>
          </a:xfrm>
          <a:prstGeom prst="rect">
            <a:avLst/>
          </a:prstGeom>
          <a:solidFill>
            <a:srgbClr val="1E4D72"/>
          </a:solidFill>
          <a:ln w="12700">
            <a:solidFill>
              <a:srgbClr val="1E4D72"/>
            </a:solidFill>
            <a:prstDash val="solid"/>
          </a:ln>
        </p:spPr>
      </p:sp>
      <p:sp>
        <p:nvSpPr>
          <p:cNvPr id="7" name="Text 5"/>
          <p:cNvSpPr/>
          <p:nvPr/>
        </p:nvSpPr>
        <p:spPr>
          <a:xfrm>
            <a:off x="137160" y="1115568"/>
            <a:ext cx="2926080" cy="256032"/>
          </a:xfrm>
          <a:prstGeom prst="rect">
            <a:avLst/>
          </a:prstGeom>
          <a:noFill/>
          <a:ln/>
        </p:spPr>
        <p:txBody>
          <a:bodyPr wrap="square" lIns="0" tIns="0" rIns="0" bIns="0" rtlCol="0" anchor="ctr"/>
          <a:lstStyle/>
          <a:p>
            <a:pPr algn="l" indent="0" marL="0">
              <a:buNone/>
            </a:pPr>
            <a:r>
              <a:rPr lang="en-US" sz="800" b="1" spc="300" kern="0" dirty="0">
                <a:solidFill>
                  <a:srgbClr val="4A7FA5"/>
                </a:solidFill>
                <a:latin typeface="Calibri" pitchFamily="34" charset="0"/>
                <a:ea typeface="Calibri" pitchFamily="34" charset="-122"/>
                <a:cs typeface="Calibri" pitchFamily="34" charset="-120"/>
              </a:rPr>
              <a:t>PLATFORM</a:t>
            </a:r>
            <a:endParaRPr lang="en-US" sz="800" dirty="0"/>
          </a:p>
        </p:txBody>
      </p:sp>
      <p:sp>
        <p:nvSpPr>
          <p:cNvPr id="8" name="Text 6"/>
          <p:cNvSpPr/>
          <p:nvPr/>
        </p:nvSpPr>
        <p:spPr>
          <a:xfrm>
            <a:off x="137160" y="1371600"/>
            <a:ext cx="292608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Finastra Fusion Corporate Channel</a:t>
            </a:r>
            <a:endParaRPr lang="en-US" sz="1000" dirty="0"/>
          </a:p>
        </p:txBody>
      </p:sp>
      <p:sp>
        <p:nvSpPr>
          <p:cNvPr id="9" name="Text 7"/>
          <p:cNvSpPr/>
          <p:nvPr/>
        </p:nvSpPr>
        <p:spPr>
          <a:xfrm>
            <a:off x="137160" y="1664208"/>
            <a:ext cx="2926080" cy="256032"/>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GEB  /  BIB Plus  /  FCC</a:t>
            </a:r>
            <a:endParaRPr lang="en-US" sz="900" dirty="0"/>
          </a:p>
        </p:txBody>
      </p:sp>
      <p:sp>
        <p:nvSpPr>
          <p:cNvPr id="10" name="Shape 8"/>
          <p:cNvSpPr/>
          <p:nvPr/>
        </p:nvSpPr>
        <p:spPr>
          <a:xfrm>
            <a:off x="137160" y="2011680"/>
            <a:ext cx="2743200" cy="22860"/>
          </a:xfrm>
          <a:prstGeom prst="rect">
            <a:avLst/>
          </a:prstGeom>
          <a:solidFill>
            <a:srgbClr val="1E4D72"/>
          </a:solidFill>
          <a:ln w="12700">
            <a:solidFill>
              <a:srgbClr val="1E4D72"/>
            </a:solidFill>
            <a:prstDash val="solid"/>
          </a:ln>
        </p:spPr>
      </p:sp>
      <p:sp>
        <p:nvSpPr>
          <p:cNvPr id="11" name="Text 9"/>
          <p:cNvSpPr/>
          <p:nvPr/>
        </p:nvSpPr>
        <p:spPr>
          <a:xfrm>
            <a:off x="137160" y="2121408"/>
            <a:ext cx="2926080" cy="256032"/>
          </a:xfrm>
          <a:prstGeom prst="rect">
            <a:avLst/>
          </a:prstGeom>
          <a:noFill/>
          <a:ln/>
        </p:spPr>
        <p:txBody>
          <a:bodyPr wrap="square" lIns="0" tIns="0" rIns="0" bIns="0" rtlCol="0" anchor="ctr"/>
          <a:lstStyle/>
          <a:p>
            <a:pPr algn="l" indent="0" marL="0">
              <a:buNone/>
            </a:pPr>
            <a:r>
              <a:rPr lang="en-US" sz="800" b="1" spc="300" kern="0" dirty="0">
                <a:solidFill>
                  <a:srgbClr val="4A7FA5"/>
                </a:solidFill>
                <a:latin typeface="Calibri" pitchFamily="34" charset="0"/>
                <a:ea typeface="Calibri" pitchFamily="34" charset="-122"/>
                <a:cs typeface="Calibri" pitchFamily="34" charset="-120"/>
              </a:rPr>
              <a:t>MIGRATION PATH</a:t>
            </a:r>
            <a:endParaRPr lang="en-US" sz="800" dirty="0"/>
          </a:p>
        </p:txBody>
      </p:sp>
      <p:sp>
        <p:nvSpPr>
          <p:cNvPr id="12" name="Text 10"/>
          <p:cNvSpPr/>
          <p:nvPr/>
        </p:nvSpPr>
        <p:spPr>
          <a:xfrm>
            <a:off x="137160" y="2450592"/>
            <a:ext cx="2926080" cy="274320"/>
          </a:xfrm>
          <a:prstGeom prst="rect">
            <a:avLst/>
          </a:prstGeom>
          <a:noFill/>
          <a:ln/>
        </p:spPr>
        <p:txBody>
          <a:bodyPr wrap="square" lIns="0" tIns="0" rIns="0" bIns="0" rtlCol="0" anchor="ctr"/>
          <a:lstStyle/>
          <a:p>
            <a:pPr algn="l" indent="0" marL="0">
              <a:buNone/>
            </a:pPr>
            <a:r>
              <a:rPr lang="en-US" sz="950" dirty="0">
                <a:solidFill>
                  <a:srgbClr val="8BA3BF"/>
                </a:solidFill>
                <a:latin typeface="Calibri" pitchFamily="34" charset="0"/>
                <a:ea typeface="Calibri" pitchFamily="34" charset="-122"/>
                <a:cs typeface="Calibri" pitchFamily="34" charset="-120"/>
              </a:rPr>
              <a:t xml:space="preserve">JBoss EAP 7.3   </a:t>
            </a:r>
            <a:pPr algn="l" indent="0" marL="0">
              <a:buNone/>
            </a:pPr>
            <a:r>
              <a:rPr lang="en-US" sz="950" b="1" dirty="0">
                <a:solidFill>
                  <a:srgbClr val="FFFFFF"/>
                </a:solidFill>
                <a:latin typeface="Calibri" pitchFamily="34" charset="0"/>
                <a:ea typeface="Calibri" pitchFamily="34" charset="-122"/>
                <a:cs typeface="Calibri" pitchFamily="34" charset="-120"/>
              </a:rPr>
              <a:t>→  EAP 8</a:t>
            </a:r>
            <a:endParaRPr lang="en-US" sz="950" dirty="0"/>
          </a:p>
        </p:txBody>
      </p:sp>
      <p:sp>
        <p:nvSpPr>
          <p:cNvPr id="13" name="Text 11"/>
          <p:cNvSpPr/>
          <p:nvPr/>
        </p:nvSpPr>
        <p:spPr>
          <a:xfrm>
            <a:off x="137160" y="2752344"/>
            <a:ext cx="2926080" cy="274320"/>
          </a:xfrm>
          <a:prstGeom prst="rect">
            <a:avLst/>
          </a:prstGeom>
          <a:noFill/>
          <a:ln/>
        </p:spPr>
        <p:txBody>
          <a:bodyPr wrap="square" lIns="0" tIns="0" rIns="0" bIns="0" rtlCol="0" anchor="ctr"/>
          <a:lstStyle/>
          <a:p>
            <a:pPr algn="l" indent="0" marL="0">
              <a:buNone/>
            </a:pPr>
            <a:r>
              <a:rPr lang="en-US" sz="950" dirty="0">
                <a:solidFill>
                  <a:srgbClr val="8BA3BF"/>
                </a:solidFill>
                <a:latin typeface="Calibri" pitchFamily="34" charset="0"/>
                <a:ea typeface="Calibri" pitchFamily="34" charset="-122"/>
                <a:cs typeface="Calibri" pitchFamily="34" charset="-120"/>
              </a:rPr>
              <a:t xml:space="preserve">Java 8          </a:t>
            </a:r>
            <a:pPr algn="l" indent="0" marL="0">
              <a:buNone/>
            </a:pPr>
            <a:r>
              <a:rPr lang="en-US" sz="950" b="1" dirty="0">
                <a:solidFill>
                  <a:srgbClr val="FFFFFF"/>
                </a:solidFill>
                <a:latin typeface="Calibri" pitchFamily="34" charset="0"/>
                <a:ea typeface="Calibri" pitchFamily="34" charset="-122"/>
                <a:cs typeface="Calibri" pitchFamily="34" charset="-120"/>
              </a:rPr>
              <a:t>→  Java 17</a:t>
            </a:r>
            <a:endParaRPr lang="en-US" sz="950" dirty="0"/>
          </a:p>
        </p:txBody>
      </p:sp>
      <p:sp>
        <p:nvSpPr>
          <p:cNvPr id="14" name="Text 12"/>
          <p:cNvSpPr/>
          <p:nvPr/>
        </p:nvSpPr>
        <p:spPr>
          <a:xfrm>
            <a:off x="137160" y="3054096"/>
            <a:ext cx="2926080" cy="274320"/>
          </a:xfrm>
          <a:prstGeom prst="rect">
            <a:avLst/>
          </a:prstGeom>
          <a:noFill/>
          <a:ln/>
        </p:spPr>
        <p:txBody>
          <a:bodyPr wrap="square" lIns="0" tIns="0" rIns="0" bIns="0" rtlCol="0" anchor="ctr"/>
          <a:lstStyle/>
          <a:p>
            <a:pPr algn="l" indent="0" marL="0">
              <a:buNone/>
            </a:pPr>
            <a:r>
              <a:rPr lang="en-US" sz="950" dirty="0">
                <a:solidFill>
                  <a:srgbClr val="8BA3BF"/>
                </a:solidFill>
                <a:latin typeface="Calibri" pitchFamily="34" charset="0"/>
                <a:ea typeface="Calibri" pitchFamily="34" charset="-122"/>
                <a:cs typeface="Calibri" pitchFamily="34" charset="-120"/>
              </a:rPr>
              <a:t xml:space="preserve">Turbine 2.3.3   </a:t>
            </a:r>
            <a:pPr algn="l" indent="0" marL="0">
              <a:buNone/>
            </a:pPr>
            <a:r>
              <a:rPr lang="en-US" sz="950" b="1" dirty="0">
                <a:solidFill>
                  <a:srgbClr val="FFFFFF"/>
                </a:solidFill>
                <a:latin typeface="Calibri" pitchFamily="34" charset="0"/>
                <a:ea typeface="Calibri" pitchFamily="34" charset="-122"/>
                <a:cs typeface="Calibri" pitchFamily="34" charset="-120"/>
              </a:rPr>
              <a:t>→  Turbine 7</a:t>
            </a:r>
            <a:endParaRPr lang="en-US" sz="950" dirty="0"/>
          </a:p>
        </p:txBody>
      </p:sp>
      <p:sp>
        <p:nvSpPr>
          <p:cNvPr id="15" name="Text 13"/>
          <p:cNvSpPr/>
          <p:nvPr/>
        </p:nvSpPr>
        <p:spPr>
          <a:xfrm>
            <a:off x="137160" y="3355848"/>
            <a:ext cx="2926080" cy="274320"/>
          </a:xfrm>
          <a:prstGeom prst="rect">
            <a:avLst/>
          </a:prstGeom>
          <a:noFill/>
          <a:ln/>
        </p:spPr>
        <p:txBody>
          <a:bodyPr wrap="square" lIns="0" tIns="0" rIns="0" bIns="0" rtlCol="0" anchor="ctr"/>
          <a:lstStyle/>
          <a:p>
            <a:pPr algn="l" indent="0" marL="0">
              <a:buNone/>
            </a:pPr>
            <a:r>
              <a:rPr lang="en-US" sz="950" dirty="0">
                <a:solidFill>
                  <a:srgbClr val="8BA3BF"/>
                </a:solidFill>
                <a:latin typeface="Calibri" pitchFamily="34" charset="0"/>
                <a:ea typeface="Calibri" pitchFamily="34" charset="-122"/>
                <a:cs typeface="Calibri" pitchFamily="34" charset="-120"/>
              </a:rPr>
              <a:t xml:space="preserve">Torque 3.1.1    </a:t>
            </a:r>
            <a:pPr algn="l" indent="0" marL="0">
              <a:buNone/>
            </a:pPr>
            <a:r>
              <a:rPr lang="en-US" sz="950" b="1" dirty="0">
                <a:solidFill>
                  <a:srgbClr val="FFFFFF"/>
                </a:solidFill>
                <a:latin typeface="Calibri" pitchFamily="34" charset="0"/>
                <a:ea typeface="Calibri" pitchFamily="34" charset="-122"/>
                <a:cs typeface="Calibri" pitchFamily="34" charset="-120"/>
              </a:rPr>
              <a:t>→  Torque 5+</a:t>
            </a:r>
            <a:endParaRPr lang="en-US" sz="950" dirty="0"/>
          </a:p>
        </p:txBody>
      </p:sp>
      <p:sp>
        <p:nvSpPr>
          <p:cNvPr id="16" name="Text 14"/>
          <p:cNvSpPr/>
          <p:nvPr/>
        </p:nvSpPr>
        <p:spPr>
          <a:xfrm>
            <a:off x="137160" y="3657600"/>
            <a:ext cx="2926080" cy="274320"/>
          </a:xfrm>
          <a:prstGeom prst="rect">
            <a:avLst/>
          </a:prstGeom>
          <a:noFill/>
          <a:ln/>
        </p:spPr>
        <p:txBody>
          <a:bodyPr wrap="square" lIns="0" tIns="0" rIns="0" bIns="0" rtlCol="0" anchor="ctr"/>
          <a:lstStyle/>
          <a:p>
            <a:pPr algn="l" indent="0" marL="0">
              <a:buNone/>
            </a:pPr>
            <a:r>
              <a:rPr lang="en-US" sz="950" dirty="0">
                <a:solidFill>
                  <a:srgbClr val="8BA3BF"/>
                </a:solidFill>
                <a:latin typeface="Calibri" pitchFamily="34" charset="0"/>
                <a:ea typeface="Calibri" pitchFamily="34" charset="-122"/>
                <a:cs typeface="Calibri" pitchFamily="34" charset="-120"/>
              </a:rPr>
              <a:t xml:space="preserve">javax.*         </a:t>
            </a:r>
            <a:pPr algn="l" indent="0" marL="0">
              <a:buNone/>
            </a:pPr>
            <a:r>
              <a:rPr lang="en-US" sz="950" b="1" dirty="0">
                <a:solidFill>
                  <a:srgbClr val="FFFFFF"/>
                </a:solidFill>
                <a:latin typeface="Calibri" pitchFamily="34" charset="0"/>
                <a:ea typeface="Calibri" pitchFamily="34" charset="-122"/>
                <a:cs typeface="Calibri" pitchFamily="34" charset="-120"/>
              </a:rPr>
              <a:t>→  jakarta.*</a:t>
            </a:r>
            <a:endParaRPr lang="en-US" sz="950" dirty="0"/>
          </a:p>
        </p:txBody>
      </p:sp>
      <p:sp>
        <p:nvSpPr>
          <p:cNvPr id="17" name="Shape 15"/>
          <p:cNvSpPr/>
          <p:nvPr/>
        </p:nvSpPr>
        <p:spPr>
          <a:xfrm>
            <a:off x="137160" y="4041648"/>
            <a:ext cx="2743200" cy="22860"/>
          </a:xfrm>
          <a:prstGeom prst="rect">
            <a:avLst/>
          </a:prstGeom>
          <a:solidFill>
            <a:srgbClr val="1E4D72"/>
          </a:solidFill>
          <a:ln w="12700">
            <a:solidFill>
              <a:srgbClr val="1E4D72"/>
            </a:solidFill>
            <a:prstDash val="solid"/>
          </a:ln>
        </p:spPr>
      </p:sp>
      <p:sp>
        <p:nvSpPr>
          <p:cNvPr id="18" name="Text 16"/>
          <p:cNvSpPr/>
          <p:nvPr/>
        </p:nvSpPr>
        <p:spPr>
          <a:xfrm>
            <a:off x="137160" y="4160520"/>
            <a:ext cx="2926080" cy="256032"/>
          </a:xfrm>
          <a:prstGeom prst="rect">
            <a:avLst/>
          </a:prstGeom>
          <a:noFill/>
          <a:ln/>
        </p:spPr>
        <p:txBody>
          <a:bodyPr wrap="square" lIns="0" tIns="0" rIns="0" bIns="0" rtlCol="0" anchor="ctr"/>
          <a:lstStyle/>
          <a:p>
            <a:pPr algn="l" indent="0" marL="0">
              <a:buNone/>
            </a:pPr>
            <a:r>
              <a:rPr lang="en-US" sz="900" b="1" dirty="0">
                <a:solidFill>
                  <a:srgbClr val="4A7FA5"/>
                </a:solidFill>
                <a:latin typeface="Calibri" pitchFamily="34" charset="0"/>
                <a:ea typeface="Calibri" pitchFamily="34" charset="-122"/>
                <a:cs typeface="Calibri" pitchFamily="34" charset="-120"/>
              </a:rPr>
              <a:t>SG  ·  MY  ·  VN  ·  CN  ·  HK  ·  TH</a:t>
            </a:r>
            <a:endParaRPr lang="en-US" sz="900" dirty="0"/>
          </a:p>
        </p:txBody>
      </p:sp>
      <p:sp>
        <p:nvSpPr>
          <p:cNvPr id="19" name="Text 17"/>
          <p:cNvSpPr/>
          <p:nvPr/>
        </p:nvSpPr>
        <p:spPr>
          <a:xfrm>
            <a:off x="137160" y="4553712"/>
            <a:ext cx="2926080" cy="256032"/>
          </a:xfrm>
          <a:prstGeom prst="rect">
            <a:avLst/>
          </a:prstGeom>
          <a:noFill/>
          <a:ln/>
        </p:spPr>
        <p:txBody>
          <a:bodyPr wrap="square" lIns="0" tIns="0" rIns="0" bIns="0" rtlCol="0" anchor="ctr"/>
          <a:lstStyle/>
          <a:p>
            <a:pPr algn="l" indent="0" marL="0">
              <a:buNone/>
            </a:pPr>
            <a:r>
              <a:rPr lang="en-US" sz="800" dirty="0">
                <a:solidFill>
                  <a:srgbClr val="3A5F7A"/>
                </a:solidFill>
                <a:latin typeface="Calibri" pitchFamily="34" charset="0"/>
                <a:ea typeface="Calibri" pitchFamily="34" charset="-122"/>
                <a:cs typeface="Calibri" pitchFamily="34" charset="-120"/>
              </a:rPr>
              <a:t>Wipro Consulting  |  UOB Singapore  |  Confidential  |  April 2026</a:t>
            </a:r>
            <a:endParaRPr lang="en-US" sz="800" dirty="0"/>
          </a:p>
        </p:txBody>
      </p:sp>
      <p:sp>
        <p:nvSpPr>
          <p:cNvPr id="20" name="Text 18"/>
          <p:cNvSpPr/>
          <p:nvPr/>
        </p:nvSpPr>
        <p:spPr>
          <a:xfrm>
            <a:off x="3429000" y="502920"/>
            <a:ext cx="5486400" cy="749808"/>
          </a:xfrm>
          <a:prstGeom prst="rect">
            <a:avLst/>
          </a:prstGeom>
          <a:noFill/>
          <a:ln/>
        </p:spPr>
        <p:txBody>
          <a:bodyPr wrap="square" lIns="0" tIns="0" rIns="0" bIns="0" rtlCol="0" anchor="ctr"/>
          <a:lstStyle/>
          <a:p>
            <a:pPr algn="l" indent="0" marL="0">
              <a:buNone/>
            </a:pPr>
            <a:r>
              <a:rPr lang="en-US" sz="4000" b="1" dirty="0">
                <a:solidFill>
                  <a:srgbClr val="0D2B4E"/>
                </a:solidFill>
                <a:latin typeface="Calibri" pitchFamily="34" charset="0"/>
                <a:ea typeface="Calibri" pitchFamily="34" charset="-122"/>
                <a:cs typeface="Calibri" pitchFamily="34" charset="-120"/>
              </a:rPr>
              <a:t>GEB Platform Upgrade</a:t>
            </a:r>
            <a:endParaRPr lang="en-US" sz="4000" dirty="0"/>
          </a:p>
        </p:txBody>
      </p:sp>
      <p:sp>
        <p:nvSpPr>
          <p:cNvPr id="21" name="Text 19"/>
          <p:cNvSpPr/>
          <p:nvPr/>
        </p:nvSpPr>
        <p:spPr>
          <a:xfrm>
            <a:off x="3429000" y="1234440"/>
            <a:ext cx="5486400" cy="438912"/>
          </a:xfrm>
          <a:prstGeom prst="rect">
            <a:avLst/>
          </a:prstGeom>
          <a:noFill/>
          <a:ln/>
        </p:spPr>
        <p:txBody>
          <a:bodyPr wrap="square" lIns="0" tIns="0" rIns="0" bIns="0" rtlCol="0" anchor="ctr"/>
          <a:lstStyle/>
          <a:p>
            <a:pPr algn="l" indent="0" marL="0">
              <a:buNone/>
            </a:pPr>
            <a:r>
              <a:rPr lang="en-US" sz="2200" dirty="0">
                <a:solidFill>
                  <a:srgbClr val="0072BC"/>
                </a:solidFill>
                <a:latin typeface="Calibri" pitchFamily="34" charset="0"/>
                <a:ea typeface="Calibri" pitchFamily="34" charset="-122"/>
                <a:cs typeface="Calibri" pitchFamily="34" charset="-120"/>
              </a:rPr>
              <a:t>JBoss EAP Migration Assessment</a:t>
            </a:r>
            <a:endParaRPr lang="en-US" sz="2200" dirty="0"/>
          </a:p>
        </p:txBody>
      </p:sp>
      <p:sp>
        <p:nvSpPr>
          <p:cNvPr id="22" name="Text 20"/>
          <p:cNvSpPr/>
          <p:nvPr/>
        </p:nvSpPr>
        <p:spPr>
          <a:xfrm>
            <a:off x="3429000" y="1719072"/>
            <a:ext cx="5486400" cy="256032"/>
          </a:xfrm>
          <a:prstGeom prst="rect">
            <a:avLst/>
          </a:prstGeom>
          <a:noFill/>
          <a:ln/>
        </p:spPr>
        <p:txBody>
          <a:bodyPr wrap="square" lIns="0" tIns="0" rIns="0" bIns="0" rtlCol="0" anchor="ctr"/>
          <a:lstStyle/>
          <a:p>
            <a:pPr algn="l" indent="0" marL="0">
              <a:buNone/>
            </a:pPr>
            <a:r>
              <a:rPr lang="en-US" sz="1000" dirty="0">
                <a:solidFill>
                  <a:srgbClr val="6B7E94"/>
                </a:solidFill>
                <a:latin typeface="Calibri" pitchFamily="34" charset="0"/>
                <a:ea typeface="Calibri" pitchFamily="34" charset="-122"/>
                <a:cs typeface="Calibri" pitchFamily="34" charset="-120"/>
              </a:rPr>
              <a:t>Presented by Wipro Consulting  |  UOB Singapore</a:t>
            </a:r>
            <a:endParaRPr lang="en-US" sz="1000" dirty="0"/>
          </a:p>
        </p:txBody>
      </p:sp>
      <p:sp>
        <p:nvSpPr>
          <p:cNvPr id="23" name="Shape 21"/>
          <p:cNvSpPr/>
          <p:nvPr/>
        </p:nvSpPr>
        <p:spPr>
          <a:xfrm>
            <a:off x="3429000" y="2084832"/>
            <a:ext cx="5486400" cy="36576"/>
          </a:xfrm>
          <a:prstGeom prst="rect">
            <a:avLst/>
          </a:prstGeom>
          <a:solidFill>
            <a:srgbClr val="0072BC"/>
          </a:solidFill>
          <a:ln w="12700">
            <a:solidFill>
              <a:srgbClr val="0072BC"/>
            </a:solidFill>
            <a:prstDash val="solid"/>
          </a:ln>
        </p:spPr>
      </p:sp>
      <p:sp>
        <p:nvSpPr>
          <p:cNvPr id="24" name="Text 22"/>
          <p:cNvSpPr/>
          <p:nvPr/>
        </p:nvSpPr>
        <p:spPr>
          <a:xfrm>
            <a:off x="3429000" y="2212848"/>
            <a:ext cx="5486400" cy="256032"/>
          </a:xfrm>
          <a:prstGeom prst="rect">
            <a:avLst/>
          </a:prstGeom>
          <a:noFill/>
          <a:ln/>
        </p:spPr>
        <p:txBody>
          <a:bodyPr wrap="square" lIns="0" tIns="0" rIns="0" bIns="0" rtlCol="0" anchor="ctr"/>
          <a:lstStyle/>
          <a:p>
            <a:pPr algn="l" indent="0" marL="0">
              <a:buNone/>
            </a:pPr>
            <a:r>
              <a:rPr lang="en-US" sz="850" b="1" spc="200" kern="0" dirty="0">
                <a:solidFill>
                  <a:srgbClr val="6B7E94"/>
                </a:solidFill>
                <a:latin typeface="Calibri" pitchFamily="34" charset="0"/>
                <a:ea typeface="Calibri" pitchFamily="34" charset="-122"/>
                <a:cs typeface="Calibri" pitchFamily="34" charset="-120"/>
              </a:rPr>
              <a:t>WHAT THIS ASSESSMENT COVERS</a:t>
            </a:r>
            <a:endParaRPr lang="en-US" sz="850" dirty="0"/>
          </a:p>
        </p:txBody>
      </p:sp>
      <p:sp>
        <p:nvSpPr>
          <p:cNvPr id="25" name="Shape 23"/>
          <p:cNvSpPr/>
          <p:nvPr/>
        </p:nvSpPr>
        <p:spPr>
          <a:xfrm>
            <a:off x="3429000" y="2578608"/>
            <a:ext cx="1719072" cy="2148840"/>
          </a:xfrm>
          <a:prstGeom prst="rect">
            <a:avLst/>
          </a:prstGeom>
          <a:solidFill>
            <a:srgbClr val="FFFFFF"/>
          </a:solidFill>
          <a:ln w="12700">
            <a:solidFill>
              <a:srgbClr val="DDEAF5"/>
            </a:solidFill>
            <a:prstDash val="solid"/>
          </a:ln>
          <a:effectLst>
            <a:outerShdw sx="100000" sy="100000" kx="0" ky="0" algn="bl" rotWithShape="0" blurRad="76200" dist="25400" dir="8100000">
              <a:srgbClr val="000000">
                <a:alpha val="6000"/>
              </a:srgbClr>
            </a:outerShdw>
          </a:effectLst>
        </p:spPr>
      </p:sp>
      <p:sp>
        <p:nvSpPr>
          <p:cNvPr id="26" name="Shape 24"/>
          <p:cNvSpPr/>
          <p:nvPr/>
        </p:nvSpPr>
        <p:spPr>
          <a:xfrm>
            <a:off x="3429000" y="2578608"/>
            <a:ext cx="1719072" cy="41148"/>
          </a:xfrm>
          <a:prstGeom prst="rect">
            <a:avLst/>
          </a:prstGeom>
          <a:solidFill>
            <a:srgbClr val="0072BC"/>
          </a:solidFill>
          <a:ln w="12700">
            <a:solidFill>
              <a:srgbClr val="0072BC"/>
            </a:solidFill>
            <a:prstDash val="solid"/>
          </a:ln>
        </p:spPr>
      </p:sp>
      <p:sp>
        <p:nvSpPr>
          <p:cNvPr id="27" name="Text 25"/>
          <p:cNvSpPr/>
          <p:nvPr/>
        </p:nvSpPr>
        <p:spPr>
          <a:xfrm>
            <a:off x="3566160" y="2651760"/>
            <a:ext cx="457200" cy="347472"/>
          </a:xfrm>
          <a:prstGeom prst="rect">
            <a:avLst/>
          </a:prstGeom>
          <a:noFill/>
          <a:ln/>
        </p:spPr>
        <p:txBody>
          <a:bodyPr wrap="square" lIns="0" tIns="0" rIns="0" bIns="0" rtlCol="0" anchor="ctr"/>
          <a:lstStyle/>
          <a:p>
            <a:pPr algn="l" indent="0" marL="0">
              <a:buNone/>
            </a:pPr>
            <a:r>
              <a:rPr lang="en-US" sz="2000" b="1" dirty="0">
                <a:solidFill>
                  <a:srgbClr val="DDEAF5"/>
                </a:solidFill>
                <a:latin typeface="Calibri" pitchFamily="34" charset="0"/>
                <a:ea typeface="Calibri" pitchFamily="34" charset="-122"/>
                <a:cs typeface="Calibri" pitchFamily="34" charset="-120"/>
              </a:rPr>
              <a:t>01</a:t>
            </a:r>
            <a:endParaRPr lang="en-US" sz="2000" dirty="0"/>
          </a:p>
        </p:txBody>
      </p:sp>
      <p:sp>
        <p:nvSpPr>
          <p:cNvPr id="28" name="Text 26"/>
          <p:cNvSpPr/>
          <p:nvPr/>
        </p:nvSpPr>
        <p:spPr>
          <a:xfrm>
            <a:off x="3566160" y="2999232"/>
            <a:ext cx="1444752" cy="384048"/>
          </a:xfrm>
          <a:prstGeom prst="rect">
            <a:avLst/>
          </a:prstGeom>
          <a:noFill/>
          <a:ln/>
        </p:spPr>
        <p:txBody>
          <a:bodyPr wrap="square" lIns="0" tIns="0" rIns="0" bIns="0" rtlCol="0" anchor="ctr"/>
          <a:lstStyle/>
          <a:p>
            <a:pPr algn="l" indent="0" marL="0">
              <a:buNone/>
            </a:pPr>
            <a:r>
              <a:rPr lang="en-US" sz="1050" b="1" dirty="0">
                <a:solidFill>
                  <a:srgbClr val="0D2B4E"/>
                </a:solidFill>
                <a:latin typeface="Calibri" pitchFamily="34" charset="0"/>
                <a:ea typeface="Calibri" pitchFamily="34" charset="-122"/>
                <a:cs typeface="Calibri" pitchFamily="34" charset="-120"/>
              </a:rPr>
              <a:t>GEB / BIB Plus Application</a:t>
            </a:r>
            <a:endParaRPr lang="en-US" sz="1050" dirty="0"/>
          </a:p>
        </p:txBody>
      </p:sp>
      <p:sp>
        <p:nvSpPr>
          <p:cNvPr id="29" name="Text 27"/>
          <p:cNvSpPr/>
          <p:nvPr/>
        </p:nvSpPr>
        <p:spPr>
          <a:xfrm>
            <a:off x="3566160" y="3401568"/>
            <a:ext cx="1444752" cy="1234440"/>
          </a:xfrm>
          <a:prstGeom prst="rect">
            <a:avLst/>
          </a:prstGeom>
          <a:noFill/>
          <a:ln/>
        </p:spPr>
        <p:txBody>
          <a:bodyPr wrap="square" lIns="0" tIns="0" rIns="0" bIns="0" rtlCol="0" anchor="t"/>
          <a:lstStyle/>
          <a:p>
            <a:pPr algn="l" indent="0" marL="0">
              <a:buNone/>
            </a:pPr>
            <a:r>
              <a:rPr lang="en-US" sz="900" dirty="0">
                <a:solidFill>
                  <a:srgbClr val="6B7E94"/>
                </a:solidFill>
                <a:latin typeface="Calibri" pitchFamily="34" charset="0"/>
                <a:ea typeface="Calibri" pitchFamily="34" charset="-122"/>
                <a:cs typeface="Calibri" pitchFamily="34" charset="-120"/>
              </a:rPr>
              <a:t>Core Finastra platform running Trade Finance, Middle Office, and Bank Administration across UOB's 6-country footprint.</a:t>
            </a:r>
            <a:endParaRPr lang="en-US" sz="900" dirty="0"/>
          </a:p>
        </p:txBody>
      </p:sp>
      <p:sp>
        <p:nvSpPr>
          <p:cNvPr id="30" name="Shape 28"/>
          <p:cNvSpPr/>
          <p:nvPr/>
        </p:nvSpPr>
        <p:spPr>
          <a:xfrm>
            <a:off x="5221224" y="2578608"/>
            <a:ext cx="1719072" cy="2148840"/>
          </a:xfrm>
          <a:prstGeom prst="rect">
            <a:avLst/>
          </a:prstGeom>
          <a:solidFill>
            <a:srgbClr val="FFFFFF"/>
          </a:solidFill>
          <a:ln w="12700">
            <a:solidFill>
              <a:srgbClr val="DDEAF5"/>
            </a:solidFill>
            <a:prstDash val="solid"/>
          </a:ln>
          <a:effectLst>
            <a:outerShdw sx="100000" sy="100000" kx="0" ky="0" algn="bl" rotWithShape="0" blurRad="76200" dist="25400" dir="8100000">
              <a:srgbClr val="000000">
                <a:alpha val="6000"/>
              </a:srgbClr>
            </a:outerShdw>
          </a:effectLst>
        </p:spPr>
      </p:sp>
      <p:sp>
        <p:nvSpPr>
          <p:cNvPr id="31" name="Shape 29"/>
          <p:cNvSpPr/>
          <p:nvPr/>
        </p:nvSpPr>
        <p:spPr>
          <a:xfrm>
            <a:off x="5221224" y="2578608"/>
            <a:ext cx="1719072" cy="41148"/>
          </a:xfrm>
          <a:prstGeom prst="rect">
            <a:avLst/>
          </a:prstGeom>
          <a:solidFill>
            <a:srgbClr val="0072BC"/>
          </a:solidFill>
          <a:ln w="12700">
            <a:solidFill>
              <a:srgbClr val="0072BC"/>
            </a:solidFill>
            <a:prstDash val="solid"/>
          </a:ln>
        </p:spPr>
      </p:sp>
      <p:sp>
        <p:nvSpPr>
          <p:cNvPr id="32" name="Text 30"/>
          <p:cNvSpPr/>
          <p:nvPr/>
        </p:nvSpPr>
        <p:spPr>
          <a:xfrm>
            <a:off x="5358384" y="2651760"/>
            <a:ext cx="457200" cy="347472"/>
          </a:xfrm>
          <a:prstGeom prst="rect">
            <a:avLst/>
          </a:prstGeom>
          <a:noFill/>
          <a:ln/>
        </p:spPr>
        <p:txBody>
          <a:bodyPr wrap="square" lIns="0" tIns="0" rIns="0" bIns="0" rtlCol="0" anchor="ctr"/>
          <a:lstStyle/>
          <a:p>
            <a:pPr algn="l" indent="0" marL="0">
              <a:buNone/>
            </a:pPr>
            <a:r>
              <a:rPr lang="en-US" sz="2000" b="1" dirty="0">
                <a:solidFill>
                  <a:srgbClr val="DDEAF5"/>
                </a:solidFill>
                <a:latin typeface="Calibri" pitchFamily="34" charset="0"/>
                <a:ea typeface="Calibri" pitchFamily="34" charset="-122"/>
                <a:cs typeface="Calibri" pitchFamily="34" charset="-120"/>
              </a:rPr>
              <a:t>02</a:t>
            </a:r>
            <a:endParaRPr lang="en-US" sz="2000" dirty="0"/>
          </a:p>
        </p:txBody>
      </p:sp>
      <p:sp>
        <p:nvSpPr>
          <p:cNvPr id="33" name="Text 31"/>
          <p:cNvSpPr/>
          <p:nvPr/>
        </p:nvSpPr>
        <p:spPr>
          <a:xfrm>
            <a:off x="5358384" y="2999232"/>
            <a:ext cx="1444752" cy="384048"/>
          </a:xfrm>
          <a:prstGeom prst="rect">
            <a:avLst/>
          </a:prstGeom>
          <a:noFill/>
          <a:ln/>
        </p:spPr>
        <p:txBody>
          <a:bodyPr wrap="square" lIns="0" tIns="0" rIns="0" bIns="0" rtlCol="0" anchor="ctr"/>
          <a:lstStyle/>
          <a:p>
            <a:pPr algn="l" indent="0" marL="0">
              <a:buNone/>
            </a:pPr>
            <a:r>
              <a:rPr lang="en-US" sz="1050" b="1" dirty="0">
                <a:solidFill>
                  <a:srgbClr val="0D2B4E"/>
                </a:solidFill>
                <a:latin typeface="Calibri" pitchFamily="34" charset="0"/>
                <a:ea typeface="Calibri" pitchFamily="34" charset="-122"/>
                <a:cs typeface="Calibri" pitchFamily="34" charset="-120"/>
              </a:rPr>
              <a:t>IDB Integration Compatibility</a:t>
            </a:r>
            <a:endParaRPr lang="en-US" sz="1050" dirty="0"/>
          </a:p>
        </p:txBody>
      </p:sp>
      <p:sp>
        <p:nvSpPr>
          <p:cNvPr id="34" name="Text 32"/>
          <p:cNvSpPr/>
          <p:nvPr/>
        </p:nvSpPr>
        <p:spPr>
          <a:xfrm>
            <a:off x="5358384" y="3401568"/>
            <a:ext cx="1444752" cy="1234440"/>
          </a:xfrm>
          <a:prstGeom prst="rect">
            <a:avLst/>
          </a:prstGeom>
          <a:noFill/>
          <a:ln/>
        </p:spPr>
        <p:txBody>
          <a:bodyPr wrap="square" lIns="0" tIns="0" rIns="0" bIns="0" rtlCol="0" anchor="t"/>
          <a:lstStyle/>
          <a:p>
            <a:pPr algn="l" indent="0" marL="0">
              <a:buNone/>
            </a:pPr>
            <a:r>
              <a:rPr lang="en-US" sz="900" dirty="0">
                <a:solidFill>
                  <a:srgbClr val="6B7E94"/>
                </a:solidFill>
                <a:latin typeface="Calibri" pitchFamily="34" charset="0"/>
                <a:ea typeface="Calibri" pitchFamily="34" charset="-122"/>
                <a:cs typeface="Calibri" pitchFamily="34" charset="-120"/>
              </a:rPr>
              <a:t>IDB interacts with GEB through internal APIs and WSService. IDB itself is not being upgraded — compatibility of this interface is in scope.</a:t>
            </a:r>
            <a:endParaRPr lang="en-US" sz="900" dirty="0"/>
          </a:p>
        </p:txBody>
      </p:sp>
      <p:sp>
        <p:nvSpPr>
          <p:cNvPr id="35" name="Shape 33"/>
          <p:cNvSpPr/>
          <p:nvPr/>
        </p:nvSpPr>
        <p:spPr>
          <a:xfrm>
            <a:off x="7013448" y="2578608"/>
            <a:ext cx="1719072" cy="2148840"/>
          </a:xfrm>
          <a:prstGeom prst="rect">
            <a:avLst/>
          </a:prstGeom>
          <a:solidFill>
            <a:srgbClr val="FFFFFF"/>
          </a:solidFill>
          <a:ln w="12700">
            <a:solidFill>
              <a:srgbClr val="DDEAF5"/>
            </a:solidFill>
            <a:prstDash val="solid"/>
          </a:ln>
          <a:effectLst>
            <a:outerShdw sx="100000" sy="100000" kx="0" ky="0" algn="bl" rotWithShape="0" blurRad="76200" dist="25400" dir="8100000">
              <a:srgbClr val="000000">
                <a:alpha val="6000"/>
              </a:srgbClr>
            </a:outerShdw>
          </a:effectLst>
        </p:spPr>
      </p:sp>
      <p:sp>
        <p:nvSpPr>
          <p:cNvPr id="36" name="Shape 34"/>
          <p:cNvSpPr/>
          <p:nvPr/>
        </p:nvSpPr>
        <p:spPr>
          <a:xfrm>
            <a:off x="7013448" y="2578608"/>
            <a:ext cx="1719072" cy="41148"/>
          </a:xfrm>
          <a:prstGeom prst="rect">
            <a:avLst/>
          </a:prstGeom>
          <a:solidFill>
            <a:srgbClr val="0072BC"/>
          </a:solidFill>
          <a:ln w="12700">
            <a:solidFill>
              <a:srgbClr val="0072BC"/>
            </a:solidFill>
            <a:prstDash val="solid"/>
          </a:ln>
        </p:spPr>
      </p:sp>
      <p:sp>
        <p:nvSpPr>
          <p:cNvPr id="37" name="Text 35"/>
          <p:cNvSpPr/>
          <p:nvPr/>
        </p:nvSpPr>
        <p:spPr>
          <a:xfrm>
            <a:off x="7150608" y="2651760"/>
            <a:ext cx="457200" cy="347472"/>
          </a:xfrm>
          <a:prstGeom prst="rect">
            <a:avLst/>
          </a:prstGeom>
          <a:noFill/>
          <a:ln/>
        </p:spPr>
        <p:txBody>
          <a:bodyPr wrap="square" lIns="0" tIns="0" rIns="0" bIns="0" rtlCol="0" anchor="ctr"/>
          <a:lstStyle/>
          <a:p>
            <a:pPr algn="l" indent="0" marL="0">
              <a:buNone/>
            </a:pPr>
            <a:r>
              <a:rPr lang="en-US" sz="2000" b="1" dirty="0">
                <a:solidFill>
                  <a:srgbClr val="DDEAF5"/>
                </a:solidFill>
                <a:latin typeface="Calibri" pitchFamily="34" charset="0"/>
                <a:ea typeface="Calibri" pitchFamily="34" charset="-122"/>
                <a:cs typeface="Calibri" pitchFamily="34" charset="-120"/>
              </a:rPr>
              <a:t>03</a:t>
            </a:r>
            <a:endParaRPr lang="en-US" sz="2000" dirty="0"/>
          </a:p>
        </p:txBody>
      </p:sp>
      <p:sp>
        <p:nvSpPr>
          <p:cNvPr id="38" name="Text 36"/>
          <p:cNvSpPr/>
          <p:nvPr/>
        </p:nvSpPr>
        <p:spPr>
          <a:xfrm>
            <a:off x="7150608" y="2999232"/>
            <a:ext cx="1444752" cy="384048"/>
          </a:xfrm>
          <a:prstGeom prst="rect">
            <a:avLst/>
          </a:prstGeom>
          <a:noFill/>
          <a:ln/>
        </p:spPr>
        <p:txBody>
          <a:bodyPr wrap="square" lIns="0" tIns="0" rIns="0" bIns="0" rtlCol="0" anchor="ctr"/>
          <a:lstStyle/>
          <a:p>
            <a:pPr algn="l" indent="0" marL="0">
              <a:buNone/>
            </a:pPr>
            <a:r>
              <a:rPr lang="en-US" sz="1050" b="1" dirty="0">
                <a:solidFill>
                  <a:srgbClr val="0D2B4E"/>
                </a:solidFill>
                <a:latin typeface="Calibri" pitchFamily="34" charset="0"/>
                <a:ea typeface="Calibri" pitchFamily="34" charset="-122"/>
                <a:cs typeface="Calibri" pitchFamily="34" charset="-120"/>
              </a:rPr>
              <a:t>POC-Backed Analysis</a:t>
            </a:r>
            <a:endParaRPr lang="en-US" sz="1050" dirty="0"/>
          </a:p>
        </p:txBody>
      </p:sp>
      <p:sp>
        <p:nvSpPr>
          <p:cNvPr id="39" name="Text 37"/>
          <p:cNvSpPr/>
          <p:nvPr/>
        </p:nvSpPr>
        <p:spPr>
          <a:xfrm>
            <a:off x="7150608" y="3401568"/>
            <a:ext cx="1444752" cy="1234440"/>
          </a:xfrm>
          <a:prstGeom prst="rect">
            <a:avLst/>
          </a:prstGeom>
          <a:noFill/>
          <a:ln/>
        </p:spPr>
        <p:txBody>
          <a:bodyPr wrap="square" lIns="0" tIns="0" rIns="0" bIns="0" rtlCol="0" anchor="t"/>
          <a:lstStyle/>
          <a:p>
            <a:pPr algn="l" indent="0" marL="0">
              <a:buNone/>
            </a:pPr>
            <a:r>
              <a:rPr lang="en-US" sz="900" dirty="0">
                <a:solidFill>
                  <a:srgbClr val="6B7E94"/>
                </a:solidFill>
                <a:latin typeface="Calibri" pitchFamily="34" charset="0"/>
                <a:ea typeface="Calibri" pitchFamily="34" charset="-122"/>
                <a:cs typeface="Calibri" pitchFamily="34" charset="-120"/>
              </a:rPr>
              <a:t>Every finding is grounded in hands-on validation: Turbine 7 running on Tomcat 10, Java 17, and Jakarta EE — not theoretical assumptions.</a:t>
            </a:r>
            <a:endParaRPr lang="en-US" sz="900" dirty="0"/>
          </a:p>
        </p:txBody>
      </p:sp>
      <p:sp>
        <p:nvSpPr>
          <p:cNvPr id="40" name="Text 38"/>
          <p:cNvSpPr/>
          <p:nvPr/>
        </p:nvSpPr>
        <p:spPr>
          <a:xfrm>
            <a:off x="3429000" y="4773168"/>
            <a:ext cx="5486400" cy="228600"/>
          </a:xfrm>
          <a:prstGeom prst="rect">
            <a:avLst/>
          </a:prstGeom>
          <a:noFill/>
          <a:ln/>
        </p:spPr>
        <p:txBody>
          <a:bodyPr wrap="square" lIns="0" tIns="0" rIns="0" bIns="0" rtlCol="0" anchor="ctr"/>
          <a:lstStyle/>
          <a:p>
            <a:pPr algn="l" indent="0" marL="0">
              <a:buNone/>
            </a:pPr>
            <a:r>
              <a:rPr lang="en-US" sz="850" i="1" dirty="0">
                <a:solidFill>
                  <a:srgbClr val="2E7D32"/>
                </a:solidFill>
                <a:latin typeface="Calibri" pitchFamily="34" charset="0"/>
                <a:ea typeface="Calibri" pitchFamily="34" charset="-122"/>
                <a:cs typeface="Calibri" pitchFamily="34" charset="-120"/>
              </a:rPr>
              <a:t>✓  POC validated on Apache Tomcat 10  ·  Java 17  ·  Jakarta EE  ·  Turbine 7</a:t>
            </a:r>
            <a:endParaRPr lang="en-US" sz="8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64008"/>
            <a:ext cx="6583680" cy="3200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Stack Migration — Component Risk Map</a:t>
            </a:r>
            <a:endParaRPr lang="en-US" sz="1800" dirty="0"/>
          </a:p>
        </p:txBody>
      </p:sp>
      <p:sp>
        <p:nvSpPr>
          <p:cNvPr id="4" name="Text 2"/>
          <p:cNvSpPr/>
          <p:nvPr/>
        </p:nvSpPr>
        <p:spPr>
          <a:xfrm>
            <a:off x="274320" y="374904"/>
            <a:ext cx="6858000" cy="219456"/>
          </a:xfrm>
          <a:prstGeom prst="rect">
            <a:avLst/>
          </a:prstGeom>
          <a:noFill/>
          <a:ln/>
        </p:spPr>
        <p:txBody>
          <a:bodyPr wrap="square" lIns="0" tIns="0" rIns="0" bIns="0" rtlCol="0" anchor="ctr"/>
          <a:lstStyle/>
          <a:p>
            <a:pPr algn="l" indent="0" marL="0">
              <a:buNone/>
            </a:pPr>
            <a:r>
              <a:rPr lang="en-US" sz="950" dirty="0">
                <a:solidFill>
                  <a:srgbClr val="8BA3BF"/>
                </a:solidFill>
                <a:latin typeface="Calibri" pitchFamily="34" charset="0"/>
                <a:ea typeface="Calibri" pitchFamily="34" charset="-122"/>
                <a:cs typeface="Calibri" pitchFamily="34" charset="-120"/>
              </a:rPr>
              <a:t>Every component individually assessed for Java 17 + Jakarta EE compatibility</a:t>
            </a:r>
            <a:endParaRPr lang="en-US" sz="950" dirty="0"/>
          </a:p>
        </p:txBody>
      </p:sp>
      <p:sp>
        <p:nvSpPr>
          <p:cNvPr id="5" name="Shape 3"/>
          <p:cNvSpPr/>
          <p:nvPr/>
        </p:nvSpPr>
        <p:spPr>
          <a:xfrm>
            <a:off x="6949440" y="155448"/>
            <a:ext cx="109728" cy="310896"/>
          </a:xfrm>
          <a:prstGeom prst="roundRect">
            <a:avLst>
              <a:gd name="adj" fmla="val 50000"/>
            </a:avLst>
          </a:prstGeom>
          <a:solidFill>
            <a:srgbClr val="C0392B"/>
          </a:solidFill>
          <a:ln w="12700">
            <a:solidFill>
              <a:srgbClr val="C0392B"/>
            </a:solidFill>
            <a:prstDash val="solid"/>
          </a:ln>
        </p:spPr>
      </p:sp>
      <p:sp>
        <p:nvSpPr>
          <p:cNvPr id="6" name="Text 4"/>
          <p:cNvSpPr/>
          <p:nvPr/>
        </p:nvSpPr>
        <p:spPr>
          <a:xfrm>
            <a:off x="7104888" y="155448"/>
            <a:ext cx="914400" cy="310896"/>
          </a:xfrm>
          <a:prstGeom prst="rect">
            <a:avLst/>
          </a:prstGeom>
          <a:noFill/>
          <a:ln/>
        </p:spPr>
        <p:txBody>
          <a:bodyPr wrap="square" lIns="0" tIns="0" rIns="0" bIns="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BREAKING</a:t>
            </a:r>
            <a:endParaRPr lang="en-US" sz="750" dirty="0"/>
          </a:p>
        </p:txBody>
      </p:sp>
      <p:sp>
        <p:nvSpPr>
          <p:cNvPr id="7" name="Shape 5"/>
          <p:cNvSpPr/>
          <p:nvPr/>
        </p:nvSpPr>
        <p:spPr>
          <a:xfrm>
            <a:off x="8028432" y="155448"/>
            <a:ext cx="109728" cy="310896"/>
          </a:xfrm>
          <a:prstGeom prst="roundRect">
            <a:avLst>
              <a:gd name="adj" fmla="val 50000"/>
            </a:avLst>
          </a:prstGeom>
          <a:solidFill>
            <a:srgbClr val="D97706"/>
          </a:solidFill>
          <a:ln w="12700">
            <a:solidFill>
              <a:srgbClr val="D97706"/>
            </a:solidFill>
            <a:prstDash val="solid"/>
          </a:ln>
        </p:spPr>
      </p:sp>
      <p:sp>
        <p:nvSpPr>
          <p:cNvPr id="8" name="Text 6"/>
          <p:cNvSpPr/>
          <p:nvPr/>
        </p:nvSpPr>
        <p:spPr>
          <a:xfrm>
            <a:off x="8183880" y="155448"/>
            <a:ext cx="914400" cy="310896"/>
          </a:xfrm>
          <a:prstGeom prst="rect">
            <a:avLst/>
          </a:prstGeom>
          <a:noFill/>
          <a:ln/>
        </p:spPr>
        <p:txBody>
          <a:bodyPr wrap="square" lIns="0" tIns="0" rIns="0" bIns="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IN PROGRESS / PREREQ</a:t>
            </a:r>
            <a:endParaRPr lang="en-US" sz="750" dirty="0"/>
          </a:p>
        </p:txBody>
      </p:sp>
      <p:sp>
        <p:nvSpPr>
          <p:cNvPr id="9" name="Shape 7"/>
          <p:cNvSpPr/>
          <p:nvPr/>
        </p:nvSpPr>
        <p:spPr>
          <a:xfrm>
            <a:off x="9107424" y="155448"/>
            <a:ext cx="109728" cy="310896"/>
          </a:xfrm>
          <a:prstGeom prst="roundRect">
            <a:avLst>
              <a:gd name="adj" fmla="val 50000"/>
            </a:avLst>
          </a:prstGeom>
          <a:solidFill>
            <a:srgbClr val="1A7A3E"/>
          </a:solidFill>
          <a:ln w="12700">
            <a:solidFill>
              <a:srgbClr val="1A7A3E"/>
            </a:solidFill>
            <a:prstDash val="solid"/>
          </a:ln>
        </p:spPr>
      </p:sp>
      <p:sp>
        <p:nvSpPr>
          <p:cNvPr id="10" name="Text 8"/>
          <p:cNvSpPr/>
          <p:nvPr/>
        </p:nvSpPr>
        <p:spPr>
          <a:xfrm>
            <a:off x="9262872" y="155448"/>
            <a:ext cx="914400" cy="310896"/>
          </a:xfrm>
          <a:prstGeom prst="rect">
            <a:avLst/>
          </a:prstGeom>
          <a:noFill/>
          <a:ln/>
        </p:spPr>
        <p:txBody>
          <a:bodyPr wrap="square" lIns="0" tIns="0" rIns="0" bIns="0"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VALIDATED / COMPATIBLE</a:t>
            </a:r>
            <a:endParaRPr lang="en-US" sz="750" dirty="0"/>
          </a:p>
        </p:txBody>
      </p:sp>
      <p:sp>
        <p:nvSpPr>
          <p:cNvPr id="11" name="Shape 9"/>
          <p:cNvSpPr/>
          <p:nvPr/>
        </p:nvSpPr>
        <p:spPr>
          <a:xfrm>
            <a:off x="0" y="658368"/>
            <a:ext cx="9144000" cy="256032"/>
          </a:xfrm>
          <a:prstGeom prst="rect">
            <a:avLst/>
          </a:prstGeom>
          <a:solidFill>
            <a:srgbClr val="E2EAF4"/>
          </a:solidFill>
          <a:ln w="12700">
            <a:solidFill>
              <a:srgbClr val="E2EAF4"/>
            </a:solidFill>
            <a:prstDash val="solid"/>
          </a:ln>
        </p:spPr>
      </p:sp>
      <p:sp>
        <p:nvSpPr>
          <p:cNvPr id="12" name="Text 10"/>
          <p:cNvSpPr/>
          <p:nvPr/>
        </p:nvSpPr>
        <p:spPr>
          <a:xfrm>
            <a:off x="320040" y="658368"/>
            <a:ext cx="1417320" cy="256032"/>
          </a:xfrm>
          <a:prstGeom prst="rect">
            <a:avLst/>
          </a:prstGeom>
          <a:noFill/>
          <a:ln/>
        </p:spPr>
        <p:txBody>
          <a:bodyPr wrap="square" lIns="0" tIns="0" rIns="0" bIns="0" rtlCol="0" anchor="ctr"/>
          <a:lstStyle/>
          <a:p>
            <a:pPr algn="l" indent="0" marL="0">
              <a:buNone/>
            </a:pPr>
            <a:r>
              <a:rPr lang="en-US" sz="750" b="1" spc="100" kern="0" dirty="0">
                <a:solidFill>
                  <a:srgbClr val="6B7E94"/>
                </a:solidFill>
                <a:latin typeface="Calibri" pitchFamily="34" charset="0"/>
                <a:ea typeface="Calibri" pitchFamily="34" charset="-122"/>
                <a:cs typeface="Calibri" pitchFamily="34" charset="-120"/>
              </a:rPr>
              <a:t>COMPONENT</a:t>
            </a:r>
            <a:endParaRPr lang="en-US" sz="750" dirty="0"/>
          </a:p>
        </p:txBody>
      </p:sp>
      <p:sp>
        <p:nvSpPr>
          <p:cNvPr id="13" name="Text 11"/>
          <p:cNvSpPr/>
          <p:nvPr/>
        </p:nvSpPr>
        <p:spPr>
          <a:xfrm>
            <a:off x="1783080" y="658368"/>
            <a:ext cx="2743200" cy="256032"/>
          </a:xfrm>
          <a:prstGeom prst="rect">
            <a:avLst/>
          </a:prstGeom>
          <a:noFill/>
          <a:ln/>
        </p:spPr>
        <p:txBody>
          <a:bodyPr wrap="square" lIns="0" tIns="0" rIns="0" bIns="0" rtlCol="0" anchor="ctr"/>
          <a:lstStyle/>
          <a:p>
            <a:pPr algn="l" indent="0" marL="0">
              <a:buNone/>
            </a:pPr>
            <a:r>
              <a:rPr lang="en-US" sz="750" b="1" spc="100" kern="0" dirty="0">
                <a:solidFill>
                  <a:srgbClr val="6B7E94"/>
                </a:solidFill>
                <a:latin typeface="Calibri" pitchFamily="34" charset="0"/>
                <a:ea typeface="Calibri" pitchFamily="34" charset="-122"/>
                <a:cs typeface="Calibri" pitchFamily="34" charset="-120"/>
              </a:rPr>
              <a:t>CURRENT STATE</a:t>
            </a:r>
            <a:endParaRPr lang="en-US" sz="750" dirty="0"/>
          </a:p>
        </p:txBody>
      </p:sp>
      <p:sp>
        <p:nvSpPr>
          <p:cNvPr id="14" name="Text 12"/>
          <p:cNvSpPr/>
          <p:nvPr/>
        </p:nvSpPr>
        <p:spPr>
          <a:xfrm>
            <a:off x="4526280" y="658368"/>
            <a:ext cx="274320" cy="256032"/>
          </a:xfrm>
          <a:prstGeom prst="rect">
            <a:avLst/>
          </a:prstGeom>
          <a:noFill/>
          <a:ln/>
        </p:spPr>
        <p:txBody>
          <a:bodyPr wrap="square" lIns="0" tIns="0" rIns="0" bIns="0" rtlCol="0" anchor="ctr"/>
          <a:lstStyle/>
          <a:p>
            <a:pPr algn="l" indent="0" marL="0">
              <a:buNone/>
            </a:pPr>
            <a:endParaRPr lang="en-US" sz="750" dirty="0"/>
          </a:p>
        </p:txBody>
      </p:sp>
      <p:sp>
        <p:nvSpPr>
          <p:cNvPr id="15" name="Text 13"/>
          <p:cNvSpPr/>
          <p:nvPr/>
        </p:nvSpPr>
        <p:spPr>
          <a:xfrm>
            <a:off x="4846320" y="658368"/>
            <a:ext cx="2514600" cy="256032"/>
          </a:xfrm>
          <a:prstGeom prst="rect">
            <a:avLst/>
          </a:prstGeom>
          <a:noFill/>
          <a:ln/>
        </p:spPr>
        <p:txBody>
          <a:bodyPr wrap="square" lIns="0" tIns="0" rIns="0" bIns="0" rtlCol="0" anchor="ctr"/>
          <a:lstStyle/>
          <a:p>
            <a:pPr algn="l" indent="0" marL="0">
              <a:buNone/>
            </a:pPr>
            <a:r>
              <a:rPr lang="en-US" sz="750" b="1" spc="100" kern="0" dirty="0">
                <a:solidFill>
                  <a:srgbClr val="6B7E94"/>
                </a:solidFill>
                <a:latin typeface="Calibri" pitchFamily="34" charset="0"/>
                <a:ea typeface="Calibri" pitchFamily="34" charset="-122"/>
                <a:cs typeface="Calibri" pitchFamily="34" charset="-120"/>
              </a:rPr>
              <a:t>TARGET STATE</a:t>
            </a:r>
            <a:endParaRPr lang="en-US" sz="750" dirty="0"/>
          </a:p>
        </p:txBody>
      </p:sp>
      <p:sp>
        <p:nvSpPr>
          <p:cNvPr id="16" name="Text 14"/>
          <p:cNvSpPr/>
          <p:nvPr/>
        </p:nvSpPr>
        <p:spPr>
          <a:xfrm>
            <a:off x="7406640" y="658368"/>
            <a:ext cx="548640" cy="256032"/>
          </a:xfrm>
          <a:prstGeom prst="rect">
            <a:avLst/>
          </a:prstGeom>
          <a:noFill/>
          <a:ln/>
        </p:spPr>
        <p:txBody>
          <a:bodyPr wrap="square" lIns="0" tIns="0" rIns="0" bIns="0" rtlCol="0" anchor="ctr"/>
          <a:lstStyle/>
          <a:p>
            <a:pPr algn="l" indent="0" marL="0">
              <a:buNone/>
            </a:pPr>
            <a:r>
              <a:rPr lang="en-US" sz="750" b="1" spc="100" kern="0" dirty="0">
                <a:solidFill>
                  <a:srgbClr val="6B7E94"/>
                </a:solidFill>
                <a:latin typeface="Calibri" pitchFamily="34" charset="0"/>
                <a:ea typeface="Calibri" pitchFamily="34" charset="-122"/>
                <a:cs typeface="Calibri" pitchFamily="34" charset="-120"/>
              </a:rPr>
              <a:t>RISK</a:t>
            </a:r>
            <a:endParaRPr lang="en-US" sz="750" dirty="0"/>
          </a:p>
        </p:txBody>
      </p:sp>
      <p:sp>
        <p:nvSpPr>
          <p:cNvPr id="17" name="Text 15"/>
          <p:cNvSpPr/>
          <p:nvPr/>
        </p:nvSpPr>
        <p:spPr>
          <a:xfrm>
            <a:off x="8001000" y="658368"/>
            <a:ext cx="1005840" cy="256032"/>
          </a:xfrm>
          <a:prstGeom prst="rect">
            <a:avLst/>
          </a:prstGeom>
          <a:noFill/>
          <a:ln/>
        </p:spPr>
        <p:txBody>
          <a:bodyPr wrap="square" lIns="0" tIns="0" rIns="0" bIns="0" rtlCol="0" anchor="ctr"/>
          <a:lstStyle/>
          <a:p>
            <a:pPr algn="l" indent="0" marL="0">
              <a:buNone/>
            </a:pPr>
            <a:r>
              <a:rPr lang="en-US" sz="750" b="1" spc="100" kern="0" dirty="0">
                <a:solidFill>
                  <a:srgbClr val="6B7E94"/>
                </a:solidFill>
                <a:latin typeface="Calibri" pitchFamily="34" charset="0"/>
                <a:ea typeface="Calibri" pitchFamily="34" charset="-122"/>
                <a:cs typeface="Calibri" pitchFamily="34" charset="-120"/>
              </a:rPr>
              <a:t>NOTES</a:t>
            </a:r>
            <a:endParaRPr lang="en-US" sz="750" dirty="0"/>
          </a:p>
        </p:txBody>
      </p:sp>
      <p:sp>
        <p:nvSpPr>
          <p:cNvPr id="18" name="Shape 16"/>
          <p:cNvSpPr/>
          <p:nvPr/>
        </p:nvSpPr>
        <p:spPr>
          <a:xfrm>
            <a:off x="0" y="914400"/>
            <a:ext cx="9144000" cy="349301"/>
          </a:xfrm>
          <a:prstGeom prst="rect">
            <a:avLst/>
          </a:prstGeom>
          <a:solidFill>
            <a:srgbClr val="FEF2F2"/>
          </a:solidFill>
          <a:ln w="12700">
            <a:solidFill>
              <a:srgbClr val="E8EEF5"/>
            </a:solidFill>
            <a:prstDash val="solid"/>
          </a:ln>
        </p:spPr>
      </p:sp>
      <p:sp>
        <p:nvSpPr>
          <p:cNvPr id="19" name="Shape 17"/>
          <p:cNvSpPr/>
          <p:nvPr/>
        </p:nvSpPr>
        <p:spPr>
          <a:xfrm>
            <a:off x="0" y="914400"/>
            <a:ext cx="64008" cy="349301"/>
          </a:xfrm>
          <a:prstGeom prst="rect">
            <a:avLst/>
          </a:prstGeom>
          <a:solidFill>
            <a:srgbClr val="C0392B"/>
          </a:solidFill>
          <a:ln w="12700">
            <a:solidFill>
              <a:srgbClr val="C0392B"/>
            </a:solidFill>
            <a:prstDash val="solid"/>
          </a:ln>
        </p:spPr>
      </p:sp>
      <p:sp>
        <p:nvSpPr>
          <p:cNvPr id="20" name="Text 18"/>
          <p:cNvSpPr/>
          <p:nvPr/>
        </p:nvSpPr>
        <p:spPr>
          <a:xfrm>
            <a:off x="137160" y="914400"/>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Server Runtime</a:t>
            </a:r>
            <a:endParaRPr lang="en-US" sz="900" dirty="0"/>
          </a:p>
        </p:txBody>
      </p:sp>
      <p:sp>
        <p:nvSpPr>
          <p:cNvPr id="21" name="Text 19"/>
          <p:cNvSpPr/>
          <p:nvPr/>
        </p:nvSpPr>
        <p:spPr>
          <a:xfrm>
            <a:off x="1783080" y="914400"/>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JBoss EAP 7.3</a:t>
            </a:r>
            <a:endParaRPr lang="en-US" sz="850" dirty="0"/>
          </a:p>
        </p:txBody>
      </p:sp>
      <p:sp>
        <p:nvSpPr>
          <p:cNvPr id="22" name="Text 20"/>
          <p:cNvSpPr/>
          <p:nvPr/>
        </p:nvSpPr>
        <p:spPr>
          <a:xfrm>
            <a:off x="4498848" y="914400"/>
            <a:ext cx="274320" cy="349301"/>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4828032" y="914400"/>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JBoss EAP 8</a:t>
            </a:r>
            <a:endParaRPr lang="en-US" sz="850" dirty="0"/>
          </a:p>
        </p:txBody>
      </p:sp>
      <p:sp>
        <p:nvSpPr>
          <p:cNvPr id="24" name="Shape 22"/>
          <p:cNvSpPr/>
          <p:nvPr/>
        </p:nvSpPr>
        <p:spPr>
          <a:xfrm>
            <a:off x="7388352" y="978408"/>
            <a:ext cx="594360" cy="221285"/>
          </a:xfrm>
          <a:prstGeom prst="roundRect">
            <a:avLst>
              <a:gd name="adj" fmla="val 16529"/>
            </a:avLst>
          </a:prstGeom>
          <a:solidFill>
            <a:srgbClr val="C0392B"/>
          </a:solidFill>
          <a:ln w="12700">
            <a:solidFill>
              <a:srgbClr val="C0392B"/>
            </a:solidFill>
            <a:prstDash val="solid"/>
          </a:ln>
        </p:spPr>
      </p:sp>
      <p:sp>
        <p:nvSpPr>
          <p:cNvPr id="25" name="Text 23"/>
          <p:cNvSpPr/>
          <p:nvPr/>
        </p:nvSpPr>
        <p:spPr>
          <a:xfrm>
            <a:off x="7388352" y="978408"/>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BREAKING</a:t>
            </a:r>
            <a:endParaRPr lang="en-US" sz="600" dirty="0"/>
          </a:p>
        </p:txBody>
      </p:sp>
      <p:sp>
        <p:nvSpPr>
          <p:cNvPr id="26" name="Text 24"/>
          <p:cNvSpPr/>
          <p:nvPr/>
        </p:nvSpPr>
        <p:spPr>
          <a:xfrm>
            <a:off x="8028432" y="914400"/>
            <a:ext cx="1005840" cy="349301"/>
          </a:xfrm>
          <a:prstGeom prst="rect">
            <a:avLst/>
          </a:prstGeom>
          <a:noFill/>
          <a:ln/>
        </p:spPr>
        <p:txBody>
          <a:bodyPr wrap="square" lIns="0" tIns="0" rIns="0" bIns="0" rtlCol="0" anchor="ctr"/>
          <a:lstStyle/>
          <a:p>
            <a:pPr algn="l" indent="0" marL="0">
              <a:buNone/>
            </a:pPr>
            <a:r>
              <a:rPr lang="en-US" sz="700" i="1" dirty="0">
                <a:solidFill>
                  <a:srgbClr val="7B1E1E"/>
                </a:solidFill>
                <a:latin typeface="Calibri" pitchFamily="34" charset="0"/>
                <a:ea typeface="Calibri" pitchFamily="34" charset="-122"/>
                <a:cs typeface="Calibri" pitchFamily="34" charset="-120"/>
              </a:rPr>
              <a:t>Jakarta EE mandate — incompatible runtime</a:t>
            </a:r>
            <a:endParaRPr lang="en-US" sz="700" dirty="0"/>
          </a:p>
        </p:txBody>
      </p:sp>
      <p:sp>
        <p:nvSpPr>
          <p:cNvPr id="27" name="Shape 25"/>
          <p:cNvSpPr/>
          <p:nvPr/>
        </p:nvSpPr>
        <p:spPr>
          <a:xfrm>
            <a:off x="0" y="1263701"/>
            <a:ext cx="9144000" cy="349301"/>
          </a:xfrm>
          <a:prstGeom prst="rect">
            <a:avLst/>
          </a:prstGeom>
          <a:solidFill>
            <a:srgbClr val="FEF2F2"/>
          </a:solidFill>
          <a:ln w="12700">
            <a:solidFill>
              <a:srgbClr val="E8EEF5"/>
            </a:solidFill>
            <a:prstDash val="solid"/>
          </a:ln>
        </p:spPr>
      </p:sp>
      <p:sp>
        <p:nvSpPr>
          <p:cNvPr id="28" name="Shape 26"/>
          <p:cNvSpPr/>
          <p:nvPr/>
        </p:nvSpPr>
        <p:spPr>
          <a:xfrm>
            <a:off x="0" y="1263701"/>
            <a:ext cx="64008" cy="349301"/>
          </a:xfrm>
          <a:prstGeom prst="rect">
            <a:avLst/>
          </a:prstGeom>
          <a:solidFill>
            <a:srgbClr val="C0392B"/>
          </a:solidFill>
          <a:ln w="12700">
            <a:solidFill>
              <a:srgbClr val="C0392B"/>
            </a:solidFill>
            <a:prstDash val="solid"/>
          </a:ln>
        </p:spPr>
      </p:sp>
      <p:sp>
        <p:nvSpPr>
          <p:cNvPr id="29" name="Text 27"/>
          <p:cNvSpPr/>
          <p:nvPr/>
        </p:nvSpPr>
        <p:spPr>
          <a:xfrm>
            <a:off x="137160" y="1263701"/>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Java</a:t>
            </a:r>
            <a:endParaRPr lang="en-US" sz="900" dirty="0"/>
          </a:p>
        </p:txBody>
      </p:sp>
      <p:sp>
        <p:nvSpPr>
          <p:cNvPr id="30" name="Text 28"/>
          <p:cNvSpPr/>
          <p:nvPr/>
        </p:nvSpPr>
        <p:spPr>
          <a:xfrm>
            <a:off x="1783080" y="1263701"/>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JDK 8  (End of Life)</a:t>
            </a:r>
            <a:endParaRPr lang="en-US" sz="850" dirty="0"/>
          </a:p>
        </p:txBody>
      </p:sp>
      <p:sp>
        <p:nvSpPr>
          <p:cNvPr id="31" name="Text 29"/>
          <p:cNvSpPr/>
          <p:nvPr/>
        </p:nvSpPr>
        <p:spPr>
          <a:xfrm>
            <a:off x="4498848" y="1263701"/>
            <a:ext cx="274320" cy="349301"/>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32" name="Text 30"/>
          <p:cNvSpPr/>
          <p:nvPr/>
        </p:nvSpPr>
        <p:spPr>
          <a:xfrm>
            <a:off x="4828032" y="1263701"/>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JDK 17 LTS</a:t>
            </a:r>
            <a:endParaRPr lang="en-US" sz="850" dirty="0"/>
          </a:p>
        </p:txBody>
      </p:sp>
      <p:sp>
        <p:nvSpPr>
          <p:cNvPr id="33" name="Shape 31"/>
          <p:cNvSpPr/>
          <p:nvPr/>
        </p:nvSpPr>
        <p:spPr>
          <a:xfrm>
            <a:off x="7388352" y="1327709"/>
            <a:ext cx="594360" cy="221285"/>
          </a:xfrm>
          <a:prstGeom prst="roundRect">
            <a:avLst>
              <a:gd name="adj" fmla="val 16529"/>
            </a:avLst>
          </a:prstGeom>
          <a:solidFill>
            <a:srgbClr val="C0392B"/>
          </a:solidFill>
          <a:ln w="12700">
            <a:solidFill>
              <a:srgbClr val="C0392B"/>
            </a:solidFill>
            <a:prstDash val="solid"/>
          </a:ln>
        </p:spPr>
      </p:sp>
      <p:sp>
        <p:nvSpPr>
          <p:cNvPr id="34" name="Text 32"/>
          <p:cNvSpPr/>
          <p:nvPr/>
        </p:nvSpPr>
        <p:spPr>
          <a:xfrm>
            <a:off x="7388352" y="1327709"/>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BREAKING</a:t>
            </a:r>
            <a:endParaRPr lang="en-US" sz="600" dirty="0"/>
          </a:p>
        </p:txBody>
      </p:sp>
      <p:sp>
        <p:nvSpPr>
          <p:cNvPr id="35" name="Text 33"/>
          <p:cNvSpPr/>
          <p:nvPr/>
        </p:nvSpPr>
        <p:spPr>
          <a:xfrm>
            <a:off x="8028432" y="1263701"/>
            <a:ext cx="1005840" cy="349301"/>
          </a:xfrm>
          <a:prstGeom prst="rect">
            <a:avLst/>
          </a:prstGeom>
          <a:noFill/>
          <a:ln/>
        </p:spPr>
        <p:txBody>
          <a:bodyPr wrap="square" lIns="0" tIns="0" rIns="0" bIns="0" rtlCol="0" anchor="ctr"/>
          <a:lstStyle/>
          <a:p>
            <a:pPr algn="l" indent="0" marL="0">
              <a:buNone/>
            </a:pPr>
            <a:r>
              <a:rPr lang="en-US" sz="700" i="1" dirty="0">
                <a:solidFill>
                  <a:srgbClr val="7B1E1E"/>
                </a:solidFill>
                <a:latin typeface="Calibri" pitchFamily="34" charset="0"/>
                <a:ea typeface="Calibri" pitchFamily="34" charset="-122"/>
                <a:cs typeface="Calibri" pitchFamily="34" charset="-120"/>
              </a:rPr>
              <a:t>Root cause of all javax → jakarta breaks</a:t>
            </a:r>
            <a:endParaRPr lang="en-US" sz="700" dirty="0"/>
          </a:p>
        </p:txBody>
      </p:sp>
      <p:sp>
        <p:nvSpPr>
          <p:cNvPr id="36" name="Shape 34"/>
          <p:cNvSpPr/>
          <p:nvPr/>
        </p:nvSpPr>
        <p:spPr>
          <a:xfrm>
            <a:off x="0" y="1613002"/>
            <a:ext cx="9144000" cy="349301"/>
          </a:xfrm>
          <a:prstGeom prst="rect">
            <a:avLst/>
          </a:prstGeom>
          <a:solidFill>
            <a:srgbClr val="FEF2F2"/>
          </a:solidFill>
          <a:ln w="12700">
            <a:solidFill>
              <a:srgbClr val="E8EEF5"/>
            </a:solidFill>
            <a:prstDash val="solid"/>
          </a:ln>
        </p:spPr>
      </p:sp>
      <p:sp>
        <p:nvSpPr>
          <p:cNvPr id="37" name="Shape 35"/>
          <p:cNvSpPr/>
          <p:nvPr/>
        </p:nvSpPr>
        <p:spPr>
          <a:xfrm>
            <a:off x="0" y="1613002"/>
            <a:ext cx="64008" cy="349301"/>
          </a:xfrm>
          <a:prstGeom prst="rect">
            <a:avLst/>
          </a:prstGeom>
          <a:solidFill>
            <a:srgbClr val="C0392B"/>
          </a:solidFill>
          <a:ln w="12700">
            <a:solidFill>
              <a:srgbClr val="C0392B"/>
            </a:solidFill>
            <a:prstDash val="solid"/>
          </a:ln>
        </p:spPr>
      </p:sp>
      <p:sp>
        <p:nvSpPr>
          <p:cNvPr id="38" name="Text 36"/>
          <p:cNvSpPr/>
          <p:nvPr/>
        </p:nvSpPr>
        <p:spPr>
          <a:xfrm>
            <a:off x="137160" y="1613002"/>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Framework</a:t>
            </a:r>
            <a:endParaRPr lang="en-US" sz="900" dirty="0"/>
          </a:p>
        </p:txBody>
      </p:sp>
      <p:sp>
        <p:nvSpPr>
          <p:cNvPr id="39" name="Text 37"/>
          <p:cNvSpPr/>
          <p:nvPr/>
        </p:nvSpPr>
        <p:spPr>
          <a:xfrm>
            <a:off x="1783080" y="1613002"/>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Turbine 2.3.3  (Finastra custom)</a:t>
            </a:r>
            <a:endParaRPr lang="en-US" sz="850" dirty="0"/>
          </a:p>
        </p:txBody>
      </p:sp>
      <p:sp>
        <p:nvSpPr>
          <p:cNvPr id="40" name="Text 38"/>
          <p:cNvSpPr/>
          <p:nvPr/>
        </p:nvSpPr>
        <p:spPr>
          <a:xfrm>
            <a:off x="4498848" y="1613002"/>
            <a:ext cx="274320" cy="349301"/>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41" name="Text 39"/>
          <p:cNvSpPr/>
          <p:nvPr/>
        </p:nvSpPr>
        <p:spPr>
          <a:xfrm>
            <a:off x="4828032" y="1613002"/>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Turbine 7.0</a:t>
            </a:r>
            <a:endParaRPr lang="en-US" sz="850" dirty="0"/>
          </a:p>
        </p:txBody>
      </p:sp>
      <p:sp>
        <p:nvSpPr>
          <p:cNvPr id="42" name="Shape 40"/>
          <p:cNvSpPr/>
          <p:nvPr/>
        </p:nvSpPr>
        <p:spPr>
          <a:xfrm>
            <a:off x="7388352" y="1677010"/>
            <a:ext cx="594360" cy="221285"/>
          </a:xfrm>
          <a:prstGeom prst="roundRect">
            <a:avLst>
              <a:gd name="adj" fmla="val 16529"/>
            </a:avLst>
          </a:prstGeom>
          <a:solidFill>
            <a:srgbClr val="C0392B"/>
          </a:solidFill>
          <a:ln w="12700">
            <a:solidFill>
              <a:srgbClr val="C0392B"/>
            </a:solidFill>
            <a:prstDash val="solid"/>
          </a:ln>
        </p:spPr>
      </p:sp>
      <p:sp>
        <p:nvSpPr>
          <p:cNvPr id="43" name="Text 41"/>
          <p:cNvSpPr/>
          <p:nvPr/>
        </p:nvSpPr>
        <p:spPr>
          <a:xfrm>
            <a:off x="7388352" y="1677010"/>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BREAKING</a:t>
            </a:r>
            <a:endParaRPr lang="en-US" sz="600" dirty="0"/>
          </a:p>
        </p:txBody>
      </p:sp>
      <p:sp>
        <p:nvSpPr>
          <p:cNvPr id="44" name="Text 42"/>
          <p:cNvSpPr/>
          <p:nvPr/>
        </p:nvSpPr>
        <p:spPr>
          <a:xfrm>
            <a:off x="8028432" y="1613002"/>
            <a:ext cx="1005840" cy="349301"/>
          </a:xfrm>
          <a:prstGeom prst="rect">
            <a:avLst/>
          </a:prstGeom>
          <a:noFill/>
          <a:ln/>
        </p:spPr>
        <p:txBody>
          <a:bodyPr wrap="square" lIns="0" tIns="0" rIns="0" bIns="0" rtlCol="0" anchor="ctr"/>
          <a:lstStyle/>
          <a:p>
            <a:pPr algn="l" indent="0" marL="0">
              <a:buNone/>
            </a:pPr>
            <a:r>
              <a:rPr lang="en-US" sz="700" i="1" dirty="0">
                <a:solidFill>
                  <a:srgbClr val="7B1E1E"/>
                </a:solidFill>
                <a:latin typeface="Calibri" pitchFamily="34" charset="0"/>
                <a:ea typeface="Calibri" pitchFamily="34" charset="-122"/>
                <a:cs typeface="Calibri" pitchFamily="34" charset="-120"/>
              </a:rPr>
              <a:t>API redesign — Actions, RunData, Pipeline</a:t>
            </a:r>
            <a:endParaRPr lang="en-US" sz="700" dirty="0"/>
          </a:p>
        </p:txBody>
      </p:sp>
      <p:sp>
        <p:nvSpPr>
          <p:cNvPr id="45" name="Shape 43"/>
          <p:cNvSpPr/>
          <p:nvPr/>
        </p:nvSpPr>
        <p:spPr>
          <a:xfrm>
            <a:off x="0" y="1962302"/>
            <a:ext cx="9144000" cy="349301"/>
          </a:xfrm>
          <a:prstGeom prst="rect">
            <a:avLst/>
          </a:prstGeom>
          <a:solidFill>
            <a:srgbClr val="FEF2F2"/>
          </a:solidFill>
          <a:ln w="12700">
            <a:solidFill>
              <a:srgbClr val="E8EEF5"/>
            </a:solidFill>
            <a:prstDash val="solid"/>
          </a:ln>
        </p:spPr>
      </p:sp>
      <p:sp>
        <p:nvSpPr>
          <p:cNvPr id="46" name="Shape 44"/>
          <p:cNvSpPr/>
          <p:nvPr/>
        </p:nvSpPr>
        <p:spPr>
          <a:xfrm>
            <a:off x="0" y="1962302"/>
            <a:ext cx="64008" cy="349301"/>
          </a:xfrm>
          <a:prstGeom prst="rect">
            <a:avLst/>
          </a:prstGeom>
          <a:solidFill>
            <a:srgbClr val="C0392B"/>
          </a:solidFill>
          <a:ln w="12700">
            <a:solidFill>
              <a:srgbClr val="C0392B"/>
            </a:solidFill>
            <a:prstDash val="solid"/>
          </a:ln>
        </p:spPr>
      </p:sp>
      <p:sp>
        <p:nvSpPr>
          <p:cNvPr id="47" name="Text 45"/>
          <p:cNvSpPr/>
          <p:nvPr/>
        </p:nvSpPr>
        <p:spPr>
          <a:xfrm>
            <a:off x="137160" y="1962302"/>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Servlet API</a:t>
            </a:r>
            <a:endParaRPr lang="en-US" sz="900" dirty="0"/>
          </a:p>
        </p:txBody>
      </p:sp>
      <p:sp>
        <p:nvSpPr>
          <p:cNvPr id="48" name="Text 46"/>
          <p:cNvSpPr/>
          <p:nvPr/>
        </p:nvSpPr>
        <p:spPr>
          <a:xfrm>
            <a:off x="1783080" y="1962302"/>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javax.servlet.*</a:t>
            </a:r>
            <a:endParaRPr lang="en-US" sz="850" dirty="0"/>
          </a:p>
        </p:txBody>
      </p:sp>
      <p:sp>
        <p:nvSpPr>
          <p:cNvPr id="49" name="Text 47"/>
          <p:cNvSpPr/>
          <p:nvPr/>
        </p:nvSpPr>
        <p:spPr>
          <a:xfrm>
            <a:off x="4498848" y="1962302"/>
            <a:ext cx="274320" cy="349301"/>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50" name="Text 48"/>
          <p:cNvSpPr/>
          <p:nvPr/>
        </p:nvSpPr>
        <p:spPr>
          <a:xfrm>
            <a:off x="4828032" y="1962302"/>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jakarta.servlet.*</a:t>
            </a:r>
            <a:endParaRPr lang="en-US" sz="850" dirty="0"/>
          </a:p>
        </p:txBody>
      </p:sp>
      <p:sp>
        <p:nvSpPr>
          <p:cNvPr id="51" name="Shape 49"/>
          <p:cNvSpPr/>
          <p:nvPr/>
        </p:nvSpPr>
        <p:spPr>
          <a:xfrm>
            <a:off x="7388352" y="2026310"/>
            <a:ext cx="594360" cy="221285"/>
          </a:xfrm>
          <a:prstGeom prst="roundRect">
            <a:avLst>
              <a:gd name="adj" fmla="val 16529"/>
            </a:avLst>
          </a:prstGeom>
          <a:solidFill>
            <a:srgbClr val="C0392B"/>
          </a:solidFill>
          <a:ln w="12700">
            <a:solidFill>
              <a:srgbClr val="C0392B"/>
            </a:solidFill>
            <a:prstDash val="solid"/>
          </a:ln>
        </p:spPr>
      </p:sp>
      <p:sp>
        <p:nvSpPr>
          <p:cNvPr id="52" name="Text 50"/>
          <p:cNvSpPr/>
          <p:nvPr/>
        </p:nvSpPr>
        <p:spPr>
          <a:xfrm>
            <a:off x="7388352" y="2026310"/>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BREAKING</a:t>
            </a:r>
            <a:endParaRPr lang="en-US" sz="600" dirty="0"/>
          </a:p>
        </p:txBody>
      </p:sp>
      <p:sp>
        <p:nvSpPr>
          <p:cNvPr id="53" name="Text 51"/>
          <p:cNvSpPr/>
          <p:nvPr/>
        </p:nvSpPr>
        <p:spPr>
          <a:xfrm>
            <a:off x="8028432" y="1962302"/>
            <a:ext cx="1005840" cy="349301"/>
          </a:xfrm>
          <a:prstGeom prst="rect">
            <a:avLst/>
          </a:prstGeom>
          <a:noFill/>
          <a:ln/>
        </p:spPr>
        <p:txBody>
          <a:bodyPr wrap="square" lIns="0" tIns="0" rIns="0" bIns="0" rtlCol="0" anchor="ctr"/>
          <a:lstStyle/>
          <a:p>
            <a:pPr algn="l" indent="0" marL="0">
              <a:buNone/>
            </a:pPr>
            <a:r>
              <a:rPr lang="en-US" sz="700" i="1" dirty="0">
                <a:solidFill>
                  <a:srgbClr val="7B1E1E"/>
                </a:solidFill>
                <a:latin typeface="Calibri" pitchFamily="34" charset="0"/>
                <a:ea typeface="Calibri" pitchFamily="34" charset="-122"/>
                <a:cs typeface="Calibri" pitchFamily="34" charset="-120"/>
              </a:rPr>
              <a:t>Namespace change affects entire codebase</a:t>
            </a:r>
            <a:endParaRPr lang="en-US" sz="700" dirty="0"/>
          </a:p>
        </p:txBody>
      </p:sp>
      <p:sp>
        <p:nvSpPr>
          <p:cNvPr id="54" name="Shape 52"/>
          <p:cNvSpPr/>
          <p:nvPr/>
        </p:nvSpPr>
        <p:spPr>
          <a:xfrm>
            <a:off x="0" y="2311603"/>
            <a:ext cx="9144000" cy="349301"/>
          </a:xfrm>
          <a:prstGeom prst="rect">
            <a:avLst/>
          </a:prstGeom>
          <a:solidFill>
            <a:srgbClr val="FEF2F2"/>
          </a:solidFill>
          <a:ln w="12700">
            <a:solidFill>
              <a:srgbClr val="E8EEF5"/>
            </a:solidFill>
            <a:prstDash val="solid"/>
          </a:ln>
        </p:spPr>
      </p:sp>
      <p:sp>
        <p:nvSpPr>
          <p:cNvPr id="55" name="Shape 53"/>
          <p:cNvSpPr/>
          <p:nvPr/>
        </p:nvSpPr>
        <p:spPr>
          <a:xfrm>
            <a:off x="0" y="2311603"/>
            <a:ext cx="64008" cy="349301"/>
          </a:xfrm>
          <a:prstGeom prst="rect">
            <a:avLst/>
          </a:prstGeom>
          <a:solidFill>
            <a:srgbClr val="C0392B"/>
          </a:solidFill>
          <a:ln w="12700">
            <a:solidFill>
              <a:srgbClr val="C0392B"/>
            </a:solidFill>
            <a:prstDash val="solid"/>
          </a:ln>
        </p:spPr>
      </p:sp>
      <p:sp>
        <p:nvSpPr>
          <p:cNvPr id="56" name="Text 54"/>
          <p:cNvSpPr/>
          <p:nvPr/>
        </p:nvSpPr>
        <p:spPr>
          <a:xfrm>
            <a:off x="137160" y="2311603"/>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Spring MVC</a:t>
            </a:r>
            <a:endParaRPr lang="en-US" sz="900" dirty="0"/>
          </a:p>
        </p:txBody>
      </p:sp>
      <p:sp>
        <p:nvSpPr>
          <p:cNvPr id="57" name="Text 55"/>
          <p:cNvSpPr/>
          <p:nvPr/>
        </p:nvSpPr>
        <p:spPr>
          <a:xfrm>
            <a:off x="1783080" y="2311603"/>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Spring 4.x  +  Springfox 2.x</a:t>
            </a:r>
            <a:endParaRPr lang="en-US" sz="850" dirty="0"/>
          </a:p>
        </p:txBody>
      </p:sp>
      <p:sp>
        <p:nvSpPr>
          <p:cNvPr id="58" name="Text 56"/>
          <p:cNvSpPr/>
          <p:nvPr/>
        </p:nvSpPr>
        <p:spPr>
          <a:xfrm>
            <a:off x="4498848" y="2311603"/>
            <a:ext cx="274320" cy="349301"/>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59" name="Text 57"/>
          <p:cNvSpPr/>
          <p:nvPr/>
        </p:nvSpPr>
        <p:spPr>
          <a:xfrm>
            <a:off x="4828032" y="2311603"/>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Spring 6.x  +  springdoc-openapi</a:t>
            </a:r>
            <a:endParaRPr lang="en-US" sz="850" dirty="0"/>
          </a:p>
        </p:txBody>
      </p:sp>
      <p:sp>
        <p:nvSpPr>
          <p:cNvPr id="60" name="Shape 58"/>
          <p:cNvSpPr/>
          <p:nvPr/>
        </p:nvSpPr>
        <p:spPr>
          <a:xfrm>
            <a:off x="7388352" y="2375611"/>
            <a:ext cx="594360" cy="221285"/>
          </a:xfrm>
          <a:prstGeom prst="roundRect">
            <a:avLst>
              <a:gd name="adj" fmla="val 16529"/>
            </a:avLst>
          </a:prstGeom>
          <a:solidFill>
            <a:srgbClr val="C0392B"/>
          </a:solidFill>
          <a:ln w="12700">
            <a:solidFill>
              <a:srgbClr val="C0392B"/>
            </a:solidFill>
            <a:prstDash val="solid"/>
          </a:ln>
        </p:spPr>
      </p:sp>
      <p:sp>
        <p:nvSpPr>
          <p:cNvPr id="61" name="Text 59"/>
          <p:cNvSpPr/>
          <p:nvPr/>
        </p:nvSpPr>
        <p:spPr>
          <a:xfrm>
            <a:off x="7388352" y="2375611"/>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BREAKING</a:t>
            </a:r>
            <a:endParaRPr lang="en-US" sz="600" dirty="0"/>
          </a:p>
        </p:txBody>
      </p:sp>
      <p:sp>
        <p:nvSpPr>
          <p:cNvPr id="62" name="Text 60"/>
          <p:cNvSpPr/>
          <p:nvPr/>
        </p:nvSpPr>
        <p:spPr>
          <a:xfrm>
            <a:off x="8028432" y="2311603"/>
            <a:ext cx="1005840" cy="349301"/>
          </a:xfrm>
          <a:prstGeom prst="rect">
            <a:avLst/>
          </a:prstGeom>
          <a:noFill/>
          <a:ln/>
        </p:spPr>
        <p:txBody>
          <a:bodyPr wrap="square" lIns="0" tIns="0" rIns="0" bIns="0" rtlCol="0" anchor="ctr"/>
          <a:lstStyle/>
          <a:p>
            <a:pPr algn="l" indent="0" marL="0">
              <a:buNone/>
            </a:pPr>
            <a:r>
              <a:rPr lang="en-US" sz="700" i="1" dirty="0">
                <a:solidFill>
                  <a:srgbClr val="7B1E1E"/>
                </a:solidFill>
                <a:latin typeface="Calibri" pitchFamily="34" charset="0"/>
                <a:ea typeface="Calibri" pitchFamily="34" charset="-122"/>
                <a:cs typeface="Calibri" pitchFamily="34" charset="-120"/>
              </a:rPr>
              <a:t>Springfox dead — full replacement required</a:t>
            </a:r>
            <a:endParaRPr lang="en-US" sz="700" dirty="0"/>
          </a:p>
        </p:txBody>
      </p:sp>
      <p:sp>
        <p:nvSpPr>
          <p:cNvPr id="63" name="Shape 61"/>
          <p:cNvSpPr/>
          <p:nvPr/>
        </p:nvSpPr>
        <p:spPr>
          <a:xfrm>
            <a:off x="0" y="2660904"/>
            <a:ext cx="9144000" cy="349301"/>
          </a:xfrm>
          <a:prstGeom prst="rect">
            <a:avLst/>
          </a:prstGeom>
          <a:solidFill>
            <a:srgbClr val="FEF2F2"/>
          </a:solidFill>
          <a:ln w="12700">
            <a:solidFill>
              <a:srgbClr val="E8EEF5"/>
            </a:solidFill>
            <a:prstDash val="solid"/>
          </a:ln>
        </p:spPr>
      </p:sp>
      <p:sp>
        <p:nvSpPr>
          <p:cNvPr id="64" name="Shape 62"/>
          <p:cNvSpPr/>
          <p:nvPr/>
        </p:nvSpPr>
        <p:spPr>
          <a:xfrm>
            <a:off x="0" y="2660904"/>
            <a:ext cx="64008" cy="349301"/>
          </a:xfrm>
          <a:prstGeom prst="rect">
            <a:avLst/>
          </a:prstGeom>
          <a:solidFill>
            <a:srgbClr val="C0392B"/>
          </a:solidFill>
          <a:ln w="12700">
            <a:solidFill>
              <a:srgbClr val="C0392B"/>
            </a:solidFill>
            <a:prstDash val="solid"/>
          </a:ln>
        </p:spPr>
      </p:sp>
      <p:sp>
        <p:nvSpPr>
          <p:cNvPr id="65" name="Text 63"/>
          <p:cNvSpPr/>
          <p:nvPr/>
        </p:nvSpPr>
        <p:spPr>
          <a:xfrm>
            <a:off x="137160" y="2660904"/>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Portal Pages</a:t>
            </a:r>
            <a:endParaRPr lang="en-US" sz="900" dirty="0"/>
          </a:p>
        </p:txBody>
      </p:sp>
      <p:sp>
        <p:nvSpPr>
          <p:cNvPr id="66" name="Text 64"/>
          <p:cNvSpPr/>
          <p:nvPr/>
        </p:nvSpPr>
        <p:spPr>
          <a:xfrm>
            <a:off x="1783080" y="2660904"/>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PSML  via  Castor XML</a:t>
            </a:r>
            <a:endParaRPr lang="en-US" sz="850" dirty="0"/>
          </a:p>
        </p:txBody>
      </p:sp>
      <p:sp>
        <p:nvSpPr>
          <p:cNvPr id="67" name="Text 65"/>
          <p:cNvSpPr/>
          <p:nvPr/>
        </p:nvSpPr>
        <p:spPr>
          <a:xfrm>
            <a:off x="4498848" y="2660904"/>
            <a:ext cx="274320" cy="349301"/>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68" name="Text 66"/>
          <p:cNvSpPr/>
          <p:nvPr/>
        </p:nvSpPr>
        <p:spPr>
          <a:xfrm>
            <a:off x="4828032" y="2660904"/>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PSML  via  dom4j</a:t>
            </a:r>
            <a:endParaRPr lang="en-US" sz="850" dirty="0"/>
          </a:p>
        </p:txBody>
      </p:sp>
      <p:sp>
        <p:nvSpPr>
          <p:cNvPr id="69" name="Shape 67"/>
          <p:cNvSpPr/>
          <p:nvPr/>
        </p:nvSpPr>
        <p:spPr>
          <a:xfrm>
            <a:off x="7388352" y="2724912"/>
            <a:ext cx="594360" cy="221285"/>
          </a:xfrm>
          <a:prstGeom prst="roundRect">
            <a:avLst>
              <a:gd name="adj" fmla="val 16529"/>
            </a:avLst>
          </a:prstGeom>
          <a:solidFill>
            <a:srgbClr val="C0392B"/>
          </a:solidFill>
          <a:ln w="12700">
            <a:solidFill>
              <a:srgbClr val="C0392B"/>
            </a:solidFill>
            <a:prstDash val="solid"/>
          </a:ln>
        </p:spPr>
      </p:sp>
      <p:sp>
        <p:nvSpPr>
          <p:cNvPr id="70" name="Text 68"/>
          <p:cNvSpPr/>
          <p:nvPr/>
        </p:nvSpPr>
        <p:spPr>
          <a:xfrm>
            <a:off x="7388352" y="2724912"/>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BREAKING</a:t>
            </a:r>
            <a:endParaRPr lang="en-US" sz="600" dirty="0"/>
          </a:p>
        </p:txBody>
      </p:sp>
      <p:sp>
        <p:nvSpPr>
          <p:cNvPr id="71" name="Text 69"/>
          <p:cNvSpPr/>
          <p:nvPr/>
        </p:nvSpPr>
        <p:spPr>
          <a:xfrm>
            <a:off x="8028432" y="2660904"/>
            <a:ext cx="1005840" cy="349301"/>
          </a:xfrm>
          <a:prstGeom prst="rect">
            <a:avLst/>
          </a:prstGeom>
          <a:noFill/>
          <a:ln/>
        </p:spPr>
        <p:txBody>
          <a:bodyPr wrap="square" lIns="0" tIns="0" rIns="0" bIns="0" rtlCol="0" anchor="ctr"/>
          <a:lstStyle/>
          <a:p>
            <a:pPr algn="l" indent="0" marL="0">
              <a:buNone/>
            </a:pPr>
            <a:r>
              <a:rPr lang="en-US" sz="700" i="1" dirty="0">
                <a:solidFill>
                  <a:srgbClr val="7B1E1E"/>
                </a:solidFill>
                <a:latin typeface="Calibri" pitchFamily="34" charset="0"/>
                <a:ea typeface="Calibri" pitchFamily="34" charset="-122"/>
                <a:cs typeface="Calibri" pitchFamily="34" charset="-120"/>
              </a:rPr>
              <a:t>Castor XML fails on Java 17 reflection</a:t>
            </a:r>
            <a:endParaRPr lang="en-US" sz="700" dirty="0"/>
          </a:p>
        </p:txBody>
      </p:sp>
      <p:sp>
        <p:nvSpPr>
          <p:cNvPr id="72" name="Shape 70"/>
          <p:cNvSpPr/>
          <p:nvPr/>
        </p:nvSpPr>
        <p:spPr>
          <a:xfrm>
            <a:off x="0" y="3010205"/>
            <a:ext cx="9144000" cy="349301"/>
          </a:xfrm>
          <a:prstGeom prst="rect">
            <a:avLst/>
          </a:prstGeom>
          <a:solidFill>
            <a:srgbClr val="FFFBEB"/>
          </a:solidFill>
          <a:ln w="12700">
            <a:solidFill>
              <a:srgbClr val="E8EEF5"/>
            </a:solidFill>
            <a:prstDash val="solid"/>
          </a:ln>
        </p:spPr>
      </p:sp>
      <p:sp>
        <p:nvSpPr>
          <p:cNvPr id="73" name="Shape 71"/>
          <p:cNvSpPr/>
          <p:nvPr/>
        </p:nvSpPr>
        <p:spPr>
          <a:xfrm>
            <a:off x="0" y="3010205"/>
            <a:ext cx="64008" cy="349301"/>
          </a:xfrm>
          <a:prstGeom prst="rect">
            <a:avLst/>
          </a:prstGeom>
          <a:solidFill>
            <a:srgbClr val="D97706"/>
          </a:solidFill>
          <a:ln w="12700">
            <a:solidFill>
              <a:srgbClr val="D97706"/>
            </a:solidFill>
            <a:prstDash val="solid"/>
          </a:ln>
        </p:spPr>
      </p:sp>
      <p:sp>
        <p:nvSpPr>
          <p:cNvPr id="74" name="Text 72"/>
          <p:cNvSpPr/>
          <p:nvPr/>
        </p:nvSpPr>
        <p:spPr>
          <a:xfrm>
            <a:off x="137160" y="3010205"/>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ORM</a:t>
            </a:r>
            <a:endParaRPr lang="en-US" sz="900" dirty="0"/>
          </a:p>
        </p:txBody>
      </p:sp>
      <p:sp>
        <p:nvSpPr>
          <p:cNvPr id="75" name="Text 73"/>
          <p:cNvSpPr/>
          <p:nvPr/>
        </p:nvSpPr>
        <p:spPr>
          <a:xfrm>
            <a:off x="1783080" y="3010205"/>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Torque 3.1.1  +  Village ORM</a:t>
            </a:r>
            <a:endParaRPr lang="en-US" sz="850" dirty="0"/>
          </a:p>
        </p:txBody>
      </p:sp>
      <p:sp>
        <p:nvSpPr>
          <p:cNvPr id="76" name="Text 74"/>
          <p:cNvSpPr/>
          <p:nvPr/>
        </p:nvSpPr>
        <p:spPr>
          <a:xfrm>
            <a:off x="4498848" y="3010205"/>
            <a:ext cx="274320" cy="349301"/>
          </a:xfrm>
          <a:prstGeom prst="rect">
            <a:avLst/>
          </a:prstGeom>
          <a:noFill/>
          <a:ln/>
        </p:spPr>
        <p:txBody>
          <a:bodyPr wrap="square" lIns="0" tIns="0" rIns="0" bIns="0"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a:t>
            </a:r>
            <a:endParaRPr lang="en-US" sz="1100" dirty="0"/>
          </a:p>
        </p:txBody>
      </p:sp>
      <p:sp>
        <p:nvSpPr>
          <p:cNvPr id="77" name="Text 75"/>
          <p:cNvSpPr/>
          <p:nvPr/>
        </p:nvSpPr>
        <p:spPr>
          <a:xfrm>
            <a:off x="4828032" y="3010205"/>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Torque 5.1+</a:t>
            </a:r>
            <a:endParaRPr lang="en-US" sz="850" dirty="0"/>
          </a:p>
        </p:txBody>
      </p:sp>
      <p:sp>
        <p:nvSpPr>
          <p:cNvPr id="78" name="Shape 76"/>
          <p:cNvSpPr/>
          <p:nvPr/>
        </p:nvSpPr>
        <p:spPr>
          <a:xfrm>
            <a:off x="7388352" y="3074213"/>
            <a:ext cx="594360" cy="221285"/>
          </a:xfrm>
          <a:prstGeom prst="roundRect">
            <a:avLst>
              <a:gd name="adj" fmla="val 16529"/>
            </a:avLst>
          </a:prstGeom>
          <a:solidFill>
            <a:srgbClr val="D97706"/>
          </a:solidFill>
          <a:ln w="12700">
            <a:solidFill>
              <a:srgbClr val="D97706"/>
            </a:solidFill>
            <a:prstDash val="solid"/>
          </a:ln>
        </p:spPr>
      </p:sp>
      <p:sp>
        <p:nvSpPr>
          <p:cNvPr id="79" name="Text 77"/>
          <p:cNvSpPr/>
          <p:nvPr/>
        </p:nvSpPr>
        <p:spPr>
          <a:xfrm>
            <a:off x="7388352" y="3074213"/>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IN PROGRESS</a:t>
            </a:r>
            <a:endParaRPr lang="en-US" sz="600" dirty="0"/>
          </a:p>
        </p:txBody>
      </p:sp>
      <p:sp>
        <p:nvSpPr>
          <p:cNvPr id="80" name="Text 78"/>
          <p:cNvSpPr/>
          <p:nvPr/>
        </p:nvSpPr>
        <p:spPr>
          <a:xfrm>
            <a:off x="8028432" y="3010205"/>
            <a:ext cx="1005840" cy="349301"/>
          </a:xfrm>
          <a:prstGeom prst="rect">
            <a:avLst/>
          </a:prstGeom>
          <a:noFill/>
          <a:ln/>
        </p:spPr>
        <p:txBody>
          <a:bodyPr wrap="square" lIns="0" tIns="0" rIns="0" bIns="0" rtlCol="0" anchor="ctr"/>
          <a:lstStyle/>
          <a:p>
            <a:pPr algn="l" indent="0" marL="0">
              <a:buNone/>
            </a:pPr>
            <a:r>
              <a:rPr lang="en-US" sz="700" i="1" dirty="0">
                <a:solidFill>
                  <a:srgbClr val="7C4A00"/>
                </a:solidFill>
                <a:latin typeface="Calibri" pitchFamily="34" charset="0"/>
                <a:ea typeface="Calibri" pitchFamily="34" charset="-122"/>
                <a:cs typeface="Calibri" pitchFamily="34" charset="-120"/>
              </a:rPr>
              <a:t>Criteria API changed, Village removed</a:t>
            </a:r>
            <a:endParaRPr lang="en-US" sz="700" dirty="0"/>
          </a:p>
        </p:txBody>
      </p:sp>
      <p:sp>
        <p:nvSpPr>
          <p:cNvPr id="81" name="Shape 79"/>
          <p:cNvSpPr/>
          <p:nvPr/>
        </p:nvSpPr>
        <p:spPr>
          <a:xfrm>
            <a:off x="0" y="3359506"/>
            <a:ext cx="9144000" cy="349301"/>
          </a:xfrm>
          <a:prstGeom prst="rect">
            <a:avLst/>
          </a:prstGeom>
          <a:solidFill>
            <a:srgbClr val="FFFBEB"/>
          </a:solidFill>
          <a:ln w="12700">
            <a:solidFill>
              <a:srgbClr val="E8EEF5"/>
            </a:solidFill>
            <a:prstDash val="solid"/>
          </a:ln>
        </p:spPr>
      </p:sp>
      <p:sp>
        <p:nvSpPr>
          <p:cNvPr id="82" name="Shape 80"/>
          <p:cNvSpPr/>
          <p:nvPr/>
        </p:nvSpPr>
        <p:spPr>
          <a:xfrm>
            <a:off x="0" y="3359506"/>
            <a:ext cx="64008" cy="349301"/>
          </a:xfrm>
          <a:prstGeom prst="rect">
            <a:avLst/>
          </a:prstGeom>
          <a:solidFill>
            <a:srgbClr val="D97706"/>
          </a:solidFill>
          <a:ln w="12700">
            <a:solidFill>
              <a:srgbClr val="D97706"/>
            </a:solidFill>
            <a:prstDash val="solid"/>
          </a:ln>
        </p:spPr>
      </p:sp>
      <p:sp>
        <p:nvSpPr>
          <p:cNvPr id="83" name="Text 81"/>
          <p:cNvSpPr/>
          <p:nvPr/>
        </p:nvSpPr>
        <p:spPr>
          <a:xfrm>
            <a:off x="137160" y="3359506"/>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Build System</a:t>
            </a:r>
            <a:endParaRPr lang="en-US" sz="900" dirty="0"/>
          </a:p>
        </p:txBody>
      </p:sp>
      <p:sp>
        <p:nvSpPr>
          <p:cNvPr id="84" name="Text 82"/>
          <p:cNvSpPr/>
          <p:nvPr/>
        </p:nvSpPr>
        <p:spPr>
          <a:xfrm>
            <a:off x="1783080" y="3359506"/>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Apache Ant  +  Jenkins</a:t>
            </a:r>
            <a:endParaRPr lang="en-US" sz="850" dirty="0"/>
          </a:p>
        </p:txBody>
      </p:sp>
      <p:sp>
        <p:nvSpPr>
          <p:cNvPr id="85" name="Text 83"/>
          <p:cNvSpPr/>
          <p:nvPr/>
        </p:nvSpPr>
        <p:spPr>
          <a:xfrm>
            <a:off x="4498848" y="3359506"/>
            <a:ext cx="274320" cy="349301"/>
          </a:xfrm>
          <a:prstGeom prst="rect">
            <a:avLst/>
          </a:prstGeom>
          <a:noFill/>
          <a:ln/>
        </p:spPr>
        <p:txBody>
          <a:bodyPr wrap="square" lIns="0" tIns="0" rIns="0" bIns="0" rtlCol="0" anchor="ctr"/>
          <a:lstStyle/>
          <a:p>
            <a:pPr algn="ctr" indent="0" marL="0">
              <a:buNone/>
            </a:pPr>
            <a:r>
              <a:rPr lang="en-US" sz="1100" b="1" dirty="0">
                <a:solidFill>
                  <a:srgbClr val="D97706"/>
                </a:solidFill>
                <a:latin typeface="Calibri" pitchFamily="34" charset="0"/>
                <a:ea typeface="Calibri" pitchFamily="34" charset="-122"/>
                <a:cs typeface="Calibri" pitchFamily="34" charset="-120"/>
              </a:rPr>
              <a:t>→</a:t>
            </a:r>
            <a:endParaRPr lang="en-US" sz="1100" dirty="0"/>
          </a:p>
        </p:txBody>
      </p:sp>
      <p:sp>
        <p:nvSpPr>
          <p:cNvPr id="86" name="Text 84"/>
          <p:cNvSpPr/>
          <p:nvPr/>
        </p:nvSpPr>
        <p:spPr>
          <a:xfrm>
            <a:off x="4828032" y="3359506"/>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Maven  +  Jenkins</a:t>
            </a:r>
            <a:endParaRPr lang="en-US" sz="850" dirty="0"/>
          </a:p>
        </p:txBody>
      </p:sp>
      <p:sp>
        <p:nvSpPr>
          <p:cNvPr id="87" name="Shape 85"/>
          <p:cNvSpPr/>
          <p:nvPr/>
        </p:nvSpPr>
        <p:spPr>
          <a:xfrm>
            <a:off x="7388352" y="3423514"/>
            <a:ext cx="594360" cy="221285"/>
          </a:xfrm>
          <a:prstGeom prst="roundRect">
            <a:avLst>
              <a:gd name="adj" fmla="val 16529"/>
            </a:avLst>
          </a:prstGeom>
          <a:solidFill>
            <a:srgbClr val="D97706"/>
          </a:solidFill>
          <a:ln w="12700">
            <a:solidFill>
              <a:srgbClr val="D97706"/>
            </a:solidFill>
            <a:prstDash val="solid"/>
          </a:ln>
        </p:spPr>
      </p:sp>
      <p:sp>
        <p:nvSpPr>
          <p:cNvPr id="88" name="Text 86"/>
          <p:cNvSpPr/>
          <p:nvPr/>
        </p:nvSpPr>
        <p:spPr>
          <a:xfrm>
            <a:off x="7388352" y="3423514"/>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PREREQ</a:t>
            </a:r>
            <a:endParaRPr lang="en-US" sz="600" dirty="0"/>
          </a:p>
        </p:txBody>
      </p:sp>
      <p:sp>
        <p:nvSpPr>
          <p:cNvPr id="89" name="Text 87"/>
          <p:cNvSpPr/>
          <p:nvPr/>
        </p:nvSpPr>
        <p:spPr>
          <a:xfrm>
            <a:off x="8028432" y="3359506"/>
            <a:ext cx="1005840" cy="349301"/>
          </a:xfrm>
          <a:prstGeom prst="rect">
            <a:avLst/>
          </a:prstGeom>
          <a:noFill/>
          <a:ln/>
        </p:spPr>
        <p:txBody>
          <a:bodyPr wrap="square" lIns="0" tIns="0" rIns="0" bIns="0" rtlCol="0" anchor="ctr"/>
          <a:lstStyle/>
          <a:p>
            <a:pPr algn="l" indent="0" marL="0">
              <a:buNone/>
            </a:pPr>
            <a:r>
              <a:rPr lang="en-US" sz="700" i="1" dirty="0">
                <a:solidFill>
                  <a:srgbClr val="7C4A00"/>
                </a:solidFill>
                <a:latin typeface="Calibri" pitchFamily="34" charset="0"/>
                <a:ea typeface="Calibri" pitchFamily="34" charset="-122"/>
                <a:cs typeface="Calibri" pitchFamily="34" charset="-120"/>
              </a:rPr>
              <a:t>Required before OpenRewrite automation</a:t>
            </a:r>
            <a:endParaRPr lang="en-US" sz="700" dirty="0"/>
          </a:p>
        </p:txBody>
      </p:sp>
      <p:sp>
        <p:nvSpPr>
          <p:cNvPr id="90" name="Shape 88"/>
          <p:cNvSpPr/>
          <p:nvPr/>
        </p:nvSpPr>
        <p:spPr>
          <a:xfrm>
            <a:off x="0" y="3708806"/>
            <a:ext cx="9144000" cy="349301"/>
          </a:xfrm>
          <a:prstGeom prst="rect">
            <a:avLst/>
          </a:prstGeom>
          <a:solidFill>
            <a:srgbClr val="F0FAF4"/>
          </a:solidFill>
          <a:ln w="12700">
            <a:solidFill>
              <a:srgbClr val="E8EEF5"/>
            </a:solidFill>
            <a:prstDash val="solid"/>
          </a:ln>
        </p:spPr>
      </p:sp>
      <p:sp>
        <p:nvSpPr>
          <p:cNvPr id="91" name="Shape 89"/>
          <p:cNvSpPr/>
          <p:nvPr/>
        </p:nvSpPr>
        <p:spPr>
          <a:xfrm>
            <a:off x="0" y="3708806"/>
            <a:ext cx="64008" cy="349301"/>
          </a:xfrm>
          <a:prstGeom prst="rect">
            <a:avLst/>
          </a:prstGeom>
          <a:solidFill>
            <a:srgbClr val="1A7A3E"/>
          </a:solidFill>
          <a:ln w="12700">
            <a:solidFill>
              <a:srgbClr val="1A7A3E"/>
            </a:solidFill>
            <a:prstDash val="solid"/>
          </a:ln>
        </p:spPr>
      </p:sp>
      <p:sp>
        <p:nvSpPr>
          <p:cNvPr id="92" name="Text 90"/>
          <p:cNvSpPr/>
          <p:nvPr/>
        </p:nvSpPr>
        <p:spPr>
          <a:xfrm>
            <a:off x="137160" y="3708806"/>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Template Engine</a:t>
            </a:r>
            <a:endParaRPr lang="en-US" sz="900" dirty="0"/>
          </a:p>
        </p:txBody>
      </p:sp>
      <p:sp>
        <p:nvSpPr>
          <p:cNvPr id="93" name="Text 91"/>
          <p:cNvSpPr/>
          <p:nvPr/>
        </p:nvSpPr>
        <p:spPr>
          <a:xfrm>
            <a:off x="1783080" y="3708806"/>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Velocity 1.7  +  ECS 1.4.2</a:t>
            </a:r>
            <a:endParaRPr lang="en-US" sz="850" dirty="0"/>
          </a:p>
        </p:txBody>
      </p:sp>
      <p:sp>
        <p:nvSpPr>
          <p:cNvPr id="94" name="Text 92"/>
          <p:cNvSpPr/>
          <p:nvPr/>
        </p:nvSpPr>
        <p:spPr>
          <a:xfrm>
            <a:off x="4498848" y="3708806"/>
            <a:ext cx="274320" cy="349301"/>
          </a:xfrm>
          <a:prstGeom prst="rect">
            <a:avLst/>
          </a:prstGeom>
          <a:noFill/>
          <a:ln/>
        </p:spPr>
        <p:txBody>
          <a:bodyPr wrap="square" lIns="0" tIns="0" rIns="0" bIns="0" rtlCol="0" anchor="ctr"/>
          <a:lstStyle/>
          <a:p>
            <a:pPr algn="ctr" indent="0" marL="0">
              <a:buNone/>
            </a:pPr>
            <a:r>
              <a:rPr lang="en-US" sz="1100" b="1" dirty="0">
                <a:solidFill>
                  <a:srgbClr val="1A7A3E"/>
                </a:solidFill>
                <a:latin typeface="Calibri" pitchFamily="34" charset="0"/>
                <a:ea typeface="Calibri" pitchFamily="34" charset="-122"/>
                <a:cs typeface="Calibri" pitchFamily="34" charset="-120"/>
              </a:rPr>
              <a:t>→</a:t>
            </a:r>
            <a:endParaRPr lang="en-US" sz="1100" dirty="0"/>
          </a:p>
        </p:txBody>
      </p:sp>
      <p:sp>
        <p:nvSpPr>
          <p:cNvPr id="95" name="Text 93"/>
          <p:cNvSpPr/>
          <p:nvPr/>
        </p:nvSpPr>
        <p:spPr>
          <a:xfrm>
            <a:off x="4828032" y="3708806"/>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Velocity 1.7  +  ECS 1.4.2</a:t>
            </a:r>
            <a:endParaRPr lang="en-US" sz="850" dirty="0"/>
          </a:p>
        </p:txBody>
      </p:sp>
      <p:sp>
        <p:nvSpPr>
          <p:cNvPr id="96" name="Shape 94"/>
          <p:cNvSpPr/>
          <p:nvPr/>
        </p:nvSpPr>
        <p:spPr>
          <a:xfrm>
            <a:off x="7388352" y="3772814"/>
            <a:ext cx="594360" cy="221285"/>
          </a:xfrm>
          <a:prstGeom prst="roundRect">
            <a:avLst>
              <a:gd name="adj" fmla="val 16529"/>
            </a:avLst>
          </a:prstGeom>
          <a:solidFill>
            <a:srgbClr val="1A7A3E"/>
          </a:solidFill>
          <a:ln w="12700">
            <a:solidFill>
              <a:srgbClr val="1A7A3E"/>
            </a:solidFill>
            <a:prstDash val="solid"/>
          </a:ln>
        </p:spPr>
      </p:sp>
      <p:sp>
        <p:nvSpPr>
          <p:cNvPr id="97" name="Text 95"/>
          <p:cNvSpPr/>
          <p:nvPr/>
        </p:nvSpPr>
        <p:spPr>
          <a:xfrm>
            <a:off x="7388352" y="3772814"/>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VALIDATED</a:t>
            </a:r>
            <a:endParaRPr lang="en-US" sz="600" dirty="0"/>
          </a:p>
        </p:txBody>
      </p:sp>
      <p:sp>
        <p:nvSpPr>
          <p:cNvPr id="98" name="Text 96"/>
          <p:cNvSpPr/>
          <p:nvPr/>
        </p:nvSpPr>
        <p:spPr>
          <a:xfrm>
            <a:off x="8028432" y="3708806"/>
            <a:ext cx="1005840" cy="349301"/>
          </a:xfrm>
          <a:prstGeom prst="rect">
            <a:avLst/>
          </a:prstGeom>
          <a:noFill/>
          <a:ln/>
        </p:spPr>
        <p:txBody>
          <a:bodyPr wrap="square" lIns="0" tIns="0" rIns="0" bIns="0" rtlCol="0" anchor="ctr"/>
          <a:lstStyle/>
          <a:p>
            <a:pPr algn="l" indent="0" marL="0">
              <a:buNone/>
            </a:pPr>
            <a:r>
              <a:rPr lang="en-US" sz="700" i="1" dirty="0">
                <a:solidFill>
                  <a:srgbClr val="14532D"/>
                </a:solidFill>
                <a:latin typeface="Calibri" pitchFamily="34" charset="0"/>
                <a:ea typeface="Calibri" pitchFamily="34" charset="-122"/>
                <a:cs typeface="Calibri" pitchFamily="34" charset="-120"/>
              </a:rPr>
              <a:t>Confirmed compatible with Java 17</a:t>
            </a:r>
            <a:endParaRPr lang="en-US" sz="700" dirty="0"/>
          </a:p>
        </p:txBody>
      </p:sp>
      <p:sp>
        <p:nvSpPr>
          <p:cNvPr id="99" name="Shape 97"/>
          <p:cNvSpPr/>
          <p:nvPr/>
        </p:nvSpPr>
        <p:spPr>
          <a:xfrm>
            <a:off x="0" y="4058107"/>
            <a:ext cx="9144000" cy="349301"/>
          </a:xfrm>
          <a:prstGeom prst="rect">
            <a:avLst/>
          </a:prstGeom>
          <a:solidFill>
            <a:srgbClr val="F0FAF4"/>
          </a:solidFill>
          <a:ln w="12700">
            <a:solidFill>
              <a:srgbClr val="E8EEF5"/>
            </a:solidFill>
            <a:prstDash val="solid"/>
          </a:ln>
        </p:spPr>
      </p:sp>
      <p:sp>
        <p:nvSpPr>
          <p:cNvPr id="100" name="Shape 98"/>
          <p:cNvSpPr/>
          <p:nvPr/>
        </p:nvSpPr>
        <p:spPr>
          <a:xfrm>
            <a:off x="0" y="4058107"/>
            <a:ext cx="64008" cy="349301"/>
          </a:xfrm>
          <a:prstGeom prst="rect">
            <a:avLst/>
          </a:prstGeom>
          <a:solidFill>
            <a:srgbClr val="1A7A3E"/>
          </a:solidFill>
          <a:ln w="12700">
            <a:solidFill>
              <a:srgbClr val="1A7A3E"/>
            </a:solidFill>
            <a:prstDash val="solid"/>
          </a:ln>
        </p:spPr>
      </p:sp>
      <p:sp>
        <p:nvSpPr>
          <p:cNvPr id="101" name="Text 99"/>
          <p:cNvSpPr/>
          <p:nvPr/>
        </p:nvSpPr>
        <p:spPr>
          <a:xfrm>
            <a:off x="137160" y="4058107"/>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XSLT Processor</a:t>
            </a:r>
            <a:endParaRPr lang="en-US" sz="900" dirty="0"/>
          </a:p>
        </p:txBody>
      </p:sp>
      <p:sp>
        <p:nvSpPr>
          <p:cNvPr id="102" name="Text 100"/>
          <p:cNvSpPr/>
          <p:nvPr/>
        </p:nvSpPr>
        <p:spPr>
          <a:xfrm>
            <a:off x="1783080" y="4058107"/>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Xalan 2.7.2  (CVE-2022-34169)</a:t>
            </a:r>
            <a:endParaRPr lang="en-US" sz="850" dirty="0"/>
          </a:p>
        </p:txBody>
      </p:sp>
      <p:sp>
        <p:nvSpPr>
          <p:cNvPr id="103" name="Text 101"/>
          <p:cNvSpPr/>
          <p:nvPr/>
        </p:nvSpPr>
        <p:spPr>
          <a:xfrm>
            <a:off x="4498848" y="4058107"/>
            <a:ext cx="274320" cy="349301"/>
          </a:xfrm>
          <a:prstGeom prst="rect">
            <a:avLst/>
          </a:prstGeom>
          <a:noFill/>
          <a:ln/>
        </p:spPr>
        <p:txBody>
          <a:bodyPr wrap="square" lIns="0" tIns="0" rIns="0" bIns="0" rtlCol="0" anchor="ctr"/>
          <a:lstStyle/>
          <a:p>
            <a:pPr algn="ctr" indent="0" marL="0">
              <a:buNone/>
            </a:pPr>
            <a:r>
              <a:rPr lang="en-US" sz="1100" b="1" dirty="0">
                <a:solidFill>
                  <a:srgbClr val="1A7A3E"/>
                </a:solidFill>
                <a:latin typeface="Calibri" pitchFamily="34" charset="0"/>
                <a:ea typeface="Calibri" pitchFamily="34" charset="-122"/>
                <a:cs typeface="Calibri" pitchFamily="34" charset="-120"/>
              </a:rPr>
              <a:t>→</a:t>
            </a:r>
            <a:endParaRPr lang="en-US" sz="1100" dirty="0"/>
          </a:p>
        </p:txBody>
      </p:sp>
      <p:sp>
        <p:nvSpPr>
          <p:cNvPr id="104" name="Text 102"/>
          <p:cNvSpPr/>
          <p:nvPr/>
        </p:nvSpPr>
        <p:spPr>
          <a:xfrm>
            <a:off x="4828032" y="4058107"/>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Xalan 2.7.3</a:t>
            </a:r>
            <a:endParaRPr lang="en-US" sz="850" dirty="0"/>
          </a:p>
        </p:txBody>
      </p:sp>
      <p:sp>
        <p:nvSpPr>
          <p:cNvPr id="105" name="Shape 103"/>
          <p:cNvSpPr/>
          <p:nvPr/>
        </p:nvSpPr>
        <p:spPr>
          <a:xfrm>
            <a:off x="7388352" y="4122115"/>
            <a:ext cx="594360" cy="221285"/>
          </a:xfrm>
          <a:prstGeom prst="roundRect">
            <a:avLst>
              <a:gd name="adj" fmla="val 16529"/>
            </a:avLst>
          </a:prstGeom>
          <a:solidFill>
            <a:srgbClr val="1A7A3E"/>
          </a:solidFill>
          <a:ln w="12700">
            <a:solidFill>
              <a:srgbClr val="1A7A3E"/>
            </a:solidFill>
            <a:prstDash val="solid"/>
          </a:ln>
        </p:spPr>
      </p:sp>
      <p:sp>
        <p:nvSpPr>
          <p:cNvPr id="106" name="Text 104"/>
          <p:cNvSpPr/>
          <p:nvPr/>
        </p:nvSpPr>
        <p:spPr>
          <a:xfrm>
            <a:off x="7388352" y="4122115"/>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MINOR</a:t>
            </a:r>
            <a:endParaRPr lang="en-US" sz="600" dirty="0"/>
          </a:p>
        </p:txBody>
      </p:sp>
      <p:sp>
        <p:nvSpPr>
          <p:cNvPr id="107" name="Text 105"/>
          <p:cNvSpPr/>
          <p:nvPr/>
        </p:nvSpPr>
        <p:spPr>
          <a:xfrm>
            <a:off x="8028432" y="4058107"/>
            <a:ext cx="1005840" cy="349301"/>
          </a:xfrm>
          <a:prstGeom prst="rect">
            <a:avLst/>
          </a:prstGeom>
          <a:noFill/>
          <a:ln/>
        </p:spPr>
        <p:txBody>
          <a:bodyPr wrap="square" lIns="0" tIns="0" rIns="0" bIns="0" rtlCol="0" anchor="ctr"/>
          <a:lstStyle/>
          <a:p>
            <a:pPr algn="l" indent="0" marL="0">
              <a:buNone/>
            </a:pPr>
            <a:r>
              <a:rPr lang="en-US" sz="700" i="1" dirty="0">
                <a:solidFill>
                  <a:srgbClr val="14532D"/>
                </a:solidFill>
                <a:latin typeface="Calibri" pitchFamily="34" charset="0"/>
                <a:ea typeface="Calibri" pitchFamily="34" charset="-122"/>
                <a:cs typeface="Calibri" pitchFamily="34" charset="-120"/>
              </a:rPr>
              <a:t>Security patch only — no API change</a:t>
            </a:r>
            <a:endParaRPr lang="en-US" sz="700" dirty="0"/>
          </a:p>
        </p:txBody>
      </p:sp>
      <p:sp>
        <p:nvSpPr>
          <p:cNvPr id="108" name="Shape 106"/>
          <p:cNvSpPr/>
          <p:nvPr/>
        </p:nvSpPr>
        <p:spPr>
          <a:xfrm>
            <a:off x="0" y="4407408"/>
            <a:ext cx="9144000" cy="349301"/>
          </a:xfrm>
          <a:prstGeom prst="rect">
            <a:avLst/>
          </a:prstGeom>
          <a:solidFill>
            <a:srgbClr val="F0FAF4"/>
          </a:solidFill>
          <a:ln w="12700">
            <a:solidFill>
              <a:srgbClr val="E8EEF5"/>
            </a:solidFill>
            <a:prstDash val="solid"/>
          </a:ln>
        </p:spPr>
      </p:sp>
      <p:sp>
        <p:nvSpPr>
          <p:cNvPr id="109" name="Shape 107"/>
          <p:cNvSpPr/>
          <p:nvPr/>
        </p:nvSpPr>
        <p:spPr>
          <a:xfrm>
            <a:off x="0" y="4407408"/>
            <a:ext cx="64008" cy="349301"/>
          </a:xfrm>
          <a:prstGeom prst="rect">
            <a:avLst/>
          </a:prstGeom>
          <a:solidFill>
            <a:srgbClr val="1A7A3E"/>
          </a:solidFill>
          <a:ln w="12700">
            <a:solidFill>
              <a:srgbClr val="1A7A3E"/>
            </a:solidFill>
            <a:prstDash val="solid"/>
          </a:ln>
        </p:spPr>
      </p:sp>
      <p:sp>
        <p:nvSpPr>
          <p:cNvPr id="110" name="Text 108"/>
          <p:cNvSpPr/>
          <p:nvPr/>
        </p:nvSpPr>
        <p:spPr>
          <a:xfrm>
            <a:off x="137160" y="4407408"/>
            <a:ext cx="1600200" cy="349301"/>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Database</a:t>
            </a:r>
            <a:endParaRPr lang="en-US" sz="900" dirty="0"/>
          </a:p>
        </p:txBody>
      </p:sp>
      <p:sp>
        <p:nvSpPr>
          <p:cNvPr id="111" name="Text 109"/>
          <p:cNvSpPr/>
          <p:nvPr/>
        </p:nvSpPr>
        <p:spPr>
          <a:xfrm>
            <a:off x="1783080" y="4407408"/>
            <a:ext cx="2651760" cy="349301"/>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Oracle 19c</a:t>
            </a:r>
            <a:endParaRPr lang="en-US" sz="850" dirty="0"/>
          </a:p>
        </p:txBody>
      </p:sp>
      <p:sp>
        <p:nvSpPr>
          <p:cNvPr id="112" name="Text 110"/>
          <p:cNvSpPr/>
          <p:nvPr/>
        </p:nvSpPr>
        <p:spPr>
          <a:xfrm>
            <a:off x="4498848" y="4407408"/>
            <a:ext cx="274320" cy="349301"/>
          </a:xfrm>
          <a:prstGeom prst="rect">
            <a:avLst/>
          </a:prstGeom>
          <a:noFill/>
          <a:ln/>
        </p:spPr>
        <p:txBody>
          <a:bodyPr wrap="square" lIns="0" tIns="0" rIns="0" bIns="0" rtlCol="0" anchor="ctr"/>
          <a:lstStyle/>
          <a:p>
            <a:pPr algn="ctr" indent="0" marL="0">
              <a:buNone/>
            </a:pPr>
            <a:r>
              <a:rPr lang="en-US" sz="1100" b="1" dirty="0">
                <a:solidFill>
                  <a:srgbClr val="1A7A3E"/>
                </a:solidFill>
                <a:latin typeface="Calibri" pitchFamily="34" charset="0"/>
                <a:ea typeface="Calibri" pitchFamily="34" charset="-122"/>
                <a:cs typeface="Calibri" pitchFamily="34" charset="-120"/>
              </a:rPr>
              <a:t>→</a:t>
            </a:r>
            <a:endParaRPr lang="en-US" sz="1100" dirty="0"/>
          </a:p>
        </p:txBody>
      </p:sp>
      <p:sp>
        <p:nvSpPr>
          <p:cNvPr id="113" name="Text 111"/>
          <p:cNvSpPr/>
          <p:nvPr/>
        </p:nvSpPr>
        <p:spPr>
          <a:xfrm>
            <a:off x="4828032" y="4407408"/>
            <a:ext cx="2514600" cy="349301"/>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Oracle 19c</a:t>
            </a:r>
            <a:endParaRPr lang="en-US" sz="850" dirty="0"/>
          </a:p>
        </p:txBody>
      </p:sp>
      <p:sp>
        <p:nvSpPr>
          <p:cNvPr id="114" name="Shape 112"/>
          <p:cNvSpPr/>
          <p:nvPr/>
        </p:nvSpPr>
        <p:spPr>
          <a:xfrm>
            <a:off x="7388352" y="4471416"/>
            <a:ext cx="594360" cy="221285"/>
          </a:xfrm>
          <a:prstGeom prst="roundRect">
            <a:avLst>
              <a:gd name="adj" fmla="val 16529"/>
            </a:avLst>
          </a:prstGeom>
          <a:solidFill>
            <a:srgbClr val="1A7A3E"/>
          </a:solidFill>
          <a:ln w="12700">
            <a:solidFill>
              <a:srgbClr val="1A7A3E"/>
            </a:solidFill>
            <a:prstDash val="solid"/>
          </a:ln>
        </p:spPr>
      </p:sp>
      <p:sp>
        <p:nvSpPr>
          <p:cNvPr id="115" name="Text 113"/>
          <p:cNvSpPr/>
          <p:nvPr/>
        </p:nvSpPr>
        <p:spPr>
          <a:xfrm>
            <a:off x="7388352" y="4471416"/>
            <a:ext cx="594360" cy="221285"/>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NO CHANGE</a:t>
            </a:r>
            <a:endParaRPr lang="en-US" sz="600" dirty="0"/>
          </a:p>
        </p:txBody>
      </p:sp>
      <p:sp>
        <p:nvSpPr>
          <p:cNvPr id="116" name="Text 114"/>
          <p:cNvSpPr/>
          <p:nvPr/>
        </p:nvSpPr>
        <p:spPr>
          <a:xfrm>
            <a:off x="8028432" y="4407408"/>
            <a:ext cx="1005840" cy="349301"/>
          </a:xfrm>
          <a:prstGeom prst="rect">
            <a:avLst/>
          </a:prstGeom>
          <a:noFill/>
          <a:ln/>
        </p:spPr>
        <p:txBody>
          <a:bodyPr wrap="square" lIns="0" tIns="0" rIns="0" bIns="0" rtlCol="0" anchor="ctr"/>
          <a:lstStyle/>
          <a:p>
            <a:pPr algn="l" indent="0" marL="0">
              <a:buNone/>
            </a:pPr>
            <a:r>
              <a:rPr lang="en-US" sz="700" i="1" dirty="0">
                <a:solidFill>
                  <a:srgbClr val="14532D"/>
                </a:solidFill>
                <a:latin typeface="Calibri" pitchFamily="34" charset="0"/>
                <a:ea typeface="Calibri" pitchFamily="34" charset="-122"/>
                <a:cs typeface="Calibri" pitchFamily="34" charset="-120"/>
              </a:rPr>
              <a:t>No migration required</a:t>
            </a:r>
            <a:endParaRPr lang="en-US" sz="700" dirty="0"/>
          </a:p>
        </p:txBody>
      </p:sp>
      <p:sp>
        <p:nvSpPr>
          <p:cNvPr id="117" name="Shape 115"/>
          <p:cNvSpPr/>
          <p:nvPr/>
        </p:nvSpPr>
        <p:spPr>
          <a:xfrm>
            <a:off x="0" y="4764024"/>
            <a:ext cx="9144000" cy="283464"/>
          </a:xfrm>
          <a:prstGeom prst="rect">
            <a:avLst/>
          </a:prstGeom>
          <a:solidFill>
            <a:srgbClr val="1A3A5C"/>
          </a:solidFill>
          <a:ln w="12700">
            <a:solidFill>
              <a:srgbClr val="1A3A5C"/>
            </a:solidFill>
            <a:prstDash val="solid"/>
          </a:ln>
        </p:spPr>
      </p:sp>
      <p:sp>
        <p:nvSpPr>
          <p:cNvPr id="118" name="Text 116"/>
          <p:cNvSpPr/>
          <p:nvPr/>
        </p:nvSpPr>
        <p:spPr>
          <a:xfrm>
            <a:off x="228600" y="4764024"/>
            <a:ext cx="8686800" cy="283464"/>
          </a:xfrm>
          <a:prstGeom prst="rect">
            <a:avLst/>
          </a:prstGeom>
          <a:noFill/>
          <a:ln/>
        </p:spPr>
        <p:txBody>
          <a:bodyPr wrap="square" lIns="0" tIns="0" rIns="0" bIns="0" rtlCol="0" anchor="ctr"/>
          <a:lstStyle/>
          <a:p>
            <a:pPr algn="l" indent="0" marL="0">
              <a:buNone/>
            </a:pPr>
            <a:r>
              <a:rPr lang="en-US" sz="850" i="1" dirty="0">
                <a:solidFill>
                  <a:srgbClr val="8BA3BF"/>
                </a:solidFill>
                <a:latin typeface="Calibri" pitchFamily="34" charset="0"/>
                <a:ea typeface="Calibri" pitchFamily="34" charset="-122"/>
                <a:cs typeface="Calibri" pitchFamily="34" charset="-120"/>
              </a:rPr>
              <a:t>138 third-party JARs individually assessed  ·  Migration objective: eliminate all javax.* dependencies and align the full stack to Java 17 + Jakarta EE</a:t>
            </a:r>
            <a:endParaRPr lang="en-US" sz="850" dirty="0"/>
          </a:p>
        </p:txBody>
      </p:sp>
      <p:sp>
        <p:nvSpPr>
          <p:cNvPr id="119" name="Shape 117"/>
          <p:cNvSpPr/>
          <p:nvPr/>
        </p:nvSpPr>
        <p:spPr>
          <a:xfrm>
            <a:off x="0" y="5047488"/>
            <a:ext cx="9144000" cy="96012"/>
          </a:xfrm>
          <a:prstGeom prst="rect">
            <a:avLst/>
          </a:prstGeom>
          <a:solidFill>
            <a:srgbClr val="091525"/>
          </a:solidFill>
          <a:ln w="12700">
            <a:solidFill>
              <a:srgbClr val="091525"/>
            </a:solidFill>
            <a:prstDash val="solid"/>
          </a:ln>
        </p:spPr>
      </p:sp>
      <p:sp>
        <p:nvSpPr>
          <p:cNvPr id="120" name="Text 118"/>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54864"/>
            <a:ext cx="6858000" cy="329184"/>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Framework  —  Turbine 2.3.3  →  Turbine 7.0</a:t>
            </a:r>
            <a:endParaRPr lang="en-US" sz="1800" dirty="0"/>
          </a:p>
        </p:txBody>
      </p:sp>
      <p:sp>
        <p:nvSpPr>
          <p:cNvPr id="4" name="Text 2"/>
          <p:cNvSpPr/>
          <p:nvPr/>
        </p:nvSpPr>
        <p:spPr>
          <a:xfrm>
            <a:off x="274320" y="393192"/>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All 33 services mapped from server startup log — source class, config file, and migration impact identified for each</a:t>
            </a:r>
            <a:endParaRPr lang="en-US" sz="900" dirty="0"/>
          </a:p>
        </p:txBody>
      </p:sp>
      <p:sp>
        <p:nvSpPr>
          <p:cNvPr id="5" name="Shape 3"/>
          <p:cNvSpPr/>
          <p:nvPr/>
        </p:nvSpPr>
        <p:spPr>
          <a:xfrm>
            <a:off x="4160520" y="713232"/>
            <a:ext cx="27432" cy="3995928"/>
          </a:xfrm>
          <a:prstGeom prst="rect">
            <a:avLst/>
          </a:prstGeom>
          <a:solidFill>
            <a:srgbClr val="D0DCE8"/>
          </a:solidFill>
          <a:ln w="12700">
            <a:solidFill>
              <a:srgbClr val="D0DCE8"/>
            </a:solidFill>
            <a:prstDash val="solid"/>
          </a:ln>
        </p:spPr>
      </p:sp>
      <p:sp>
        <p:nvSpPr>
          <p:cNvPr id="6" name="Text 4"/>
          <p:cNvSpPr/>
          <p:nvPr/>
        </p:nvSpPr>
        <p:spPr>
          <a:xfrm>
            <a:off x="182880" y="731520"/>
            <a:ext cx="384048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33 SERVICES — AS LOADED AT STARTUP</a:t>
            </a:r>
            <a:endParaRPr lang="en-US" sz="750" dirty="0"/>
          </a:p>
        </p:txBody>
      </p:sp>
      <p:sp>
        <p:nvSpPr>
          <p:cNvPr id="7" name="Text 5"/>
          <p:cNvSpPr/>
          <p:nvPr/>
        </p:nvSpPr>
        <p:spPr>
          <a:xfrm>
            <a:off x="182880" y="914400"/>
            <a:ext cx="3840480" cy="182880"/>
          </a:xfrm>
          <a:prstGeom prst="rect">
            <a:avLst/>
          </a:prstGeom>
          <a:noFill/>
          <a:ln/>
        </p:spPr>
        <p:txBody>
          <a:bodyPr wrap="square" lIns="0" tIns="0" rIns="0" bIns="0" rtlCol="0" anchor="ctr"/>
          <a:lstStyle/>
          <a:p>
            <a:pPr algn="l" indent="0" marL="0">
              <a:buNone/>
            </a:pPr>
            <a:r>
              <a:rPr lang="en-US" sz="700" i="1" dirty="0">
                <a:solidFill>
                  <a:srgbClr val="6B7E94"/>
                </a:solidFill>
                <a:latin typeface="Calibri" pitchFamily="34" charset="0"/>
                <a:ea typeface="Calibri" pitchFamily="34" charset="-122"/>
                <a:cs typeface="Calibri" pitchFamily="34" charset="-120"/>
              </a:rPr>
              <a:t>All extend or implement Turbine — regardless of which config file registers them</a:t>
            </a:r>
            <a:endParaRPr lang="en-US" sz="700" dirty="0"/>
          </a:p>
        </p:txBody>
      </p:sp>
      <p:sp>
        <p:nvSpPr>
          <p:cNvPr id="8" name="Shape 6"/>
          <p:cNvSpPr/>
          <p:nvPr/>
        </p:nvSpPr>
        <p:spPr>
          <a:xfrm>
            <a:off x="137160" y="1133856"/>
            <a:ext cx="3886200" cy="1444752"/>
          </a:xfrm>
          <a:prstGeom prst="rect">
            <a:avLst/>
          </a:prstGeom>
          <a:solidFill>
            <a:srgbClr val="1A5C3A"/>
          </a:solidFill>
          <a:ln w="12700">
            <a:solidFill>
              <a:srgbClr val="1A5C3A"/>
            </a:solidFill>
            <a:prstDash val="solid"/>
          </a:ln>
        </p:spPr>
      </p:sp>
      <p:sp>
        <p:nvSpPr>
          <p:cNvPr id="9" name="Shape 7"/>
          <p:cNvSpPr/>
          <p:nvPr/>
        </p:nvSpPr>
        <p:spPr>
          <a:xfrm>
            <a:off x="137160" y="1133856"/>
            <a:ext cx="54864" cy="1444752"/>
          </a:xfrm>
          <a:prstGeom prst="rect">
            <a:avLst/>
          </a:prstGeom>
          <a:solidFill>
            <a:srgbClr val="2ECC71"/>
          </a:solidFill>
          <a:ln w="12700">
            <a:solidFill>
              <a:srgbClr val="2ECC71"/>
            </a:solidFill>
            <a:prstDash val="solid"/>
          </a:ln>
        </p:spPr>
      </p:sp>
      <p:sp>
        <p:nvSpPr>
          <p:cNvPr id="10" name="Text 8"/>
          <p:cNvSpPr/>
          <p:nvPr/>
        </p:nvSpPr>
        <p:spPr>
          <a:xfrm>
            <a:off x="256032" y="1188720"/>
            <a:ext cx="365760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Business Services  —  17  —  from portal.properties</a:t>
            </a:r>
            <a:endParaRPr lang="en-US" sz="850" dirty="0"/>
          </a:p>
        </p:txBody>
      </p:sp>
      <p:sp>
        <p:nvSpPr>
          <p:cNvPr id="11" name="Text 9"/>
          <p:cNvSpPr/>
          <p:nvPr/>
        </p:nvSpPr>
        <p:spPr>
          <a:xfrm>
            <a:off x="256032" y="1408176"/>
            <a:ext cx="3657600" cy="164592"/>
          </a:xfrm>
          <a:prstGeom prst="rect">
            <a:avLst/>
          </a:prstGeom>
          <a:noFill/>
          <a:ln/>
        </p:spPr>
        <p:txBody>
          <a:bodyPr wrap="square" lIns="0" tIns="0" rIns="0" bIns="0" rtlCol="0" anchor="ctr"/>
          <a:lstStyle/>
          <a:p>
            <a:pPr algn="l" indent="0" marL="0">
              <a:buNone/>
            </a:pPr>
            <a:r>
              <a:rPr lang="en-US" sz="700" i="1" dirty="0">
                <a:solidFill>
                  <a:srgbClr val="A8DABC"/>
                </a:solidFill>
                <a:latin typeface="Calibri" pitchFamily="34" charset="0"/>
                <a:ea typeface="Calibri" pitchFamily="34" charset="-122"/>
                <a:cs typeface="Calibri" pitchFamily="34" charset="-120"/>
              </a:rPr>
              <a:t>Pure banking logic — no Apache equivalent. Built entirely by Finastra.</a:t>
            </a:r>
            <a:endParaRPr lang="en-US" sz="700" dirty="0"/>
          </a:p>
        </p:txBody>
      </p:sp>
      <p:sp>
        <p:nvSpPr>
          <p:cNvPr id="12" name="Text 10"/>
          <p:cNvSpPr/>
          <p:nvPr/>
        </p:nvSpPr>
        <p:spPr>
          <a:xfrm>
            <a:off x="256032" y="1609344"/>
            <a:ext cx="3657600" cy="219456"/>
          </a:xfrm>
          <a:prstGeom prst="rect">
            <a:avLst/>
          </a:prstGeom>
          <a:noFill/>
          <a:ln/>
        </p:spPr>
        <p:txBody>
          <a:bodyPr wrap="square" lIns="0" tIns="0" rIns="0" bIns="0" rtlCol="0" anchor="ctr"/>
          <a:lstStyle/>
          <a:p>
            <a:pPr algn="l" indent="0" marL="0">
              <a:buNone/>
            </a:pPr>
            <a:r>
              <a:rPr lang="en-US" sz="800" dirty="0">
                <a:solidFill>
                  <a:srgbClr val="D5F5E3"/>
                </a:solidFill>
                <a:latin typeface="Calibri" pitchFamily="34" charset="0"/>
                <a:ea typeface="Calibri" pitchFamily="34" charset="-122"/>
                <a:cs typeface="Calibri" pitchFamily="34" charset="-120"/>
              </a:rPr>
              <a:t>GTPInitializationService   ·   GTPAuthenticationService</a:t>
            </a:r>
            <a:endParaRPr lang="en-US" sz="800" dirty="0"/>
          </a:p>
        </p:txBody>
      </p:sp>
      <p:sp>
        <p:nvSpPr>
          <p:cNvPr id="13" name="Text 11"/>
          <p:cNvSpPr/>
          <p:nvPr/>
        </p:nvSpPr>
        <p:spPr>
          <a:xfrm>
            <a:off x="256032" y="1828800"/>
            <a:ext cx="3657600" cy="219456"/>
          </a:xfrm>
          <a:prstGeom prst="rect">
            <a:avLst/>
          </a:prstGeom>
          <a:noFill/>
          <a:ln/>
        </p:spPr>
        <p:txBody>
          <a:bodyPr wrap="square" lIns="0" tIns="0" rIns="0" bIns="0" rtlCol="0" anchor="ctr"/>
          <a:lstStyle/>
          <a:p>
            <a:pPr algn="l" indent="0" marL="0">
              <a:buNone/>
            </a:pPr>
            <a:r>
              <a:rPr lang="en-US" sz="800" dirty="0">
                <a:solidFill>
                  <a:srgbClr val="D5F5E3"/>
                </a:solidFill>
                <a:latin typeface="Calibri" pitchFamily="34" charset="0"/>
                <a:ea typeface="Calibri" pitchFamily="34" charset="-122"/>
                <a:cs typeface="Calibri" pitchFamily="34" charset="-120"/>
              </a:rPr>
              <a:t>GTPAuthorizationService   ·   GTPPoolBrokerService</a:t>
            </a:r>
            <a:endParaRPr lang="en-US" sz="800" dirty="0"/>
          </a:p>
        </p:txBody>
      </p:sp>
      <p:sp>
        <p:nvSpPr>
          <p:cNvPr id="14" name="Text 12"/>
          <p:cNvSpPr/>
          <p:nvPr/>
        </p:nvSpPr>
        <p:spPr>
          <a:xfrm>
            <a:off x="256032" y="2048256"/>
            <a:ext cx="3657600" cy="219456"/>
          </a:xfrm>
          <a:prstGeom prst="rect">
            <a:avLst/>
          </a:prstGeom>
          <a:noFill/>
          <a:ln/>
        </p:spPr>
        <p:txBody>
          <a:bodyPr wrap="square" lIns="0" tIns="0" rIns="0" bIns="0" rtlCol="0" anchor="ctr"/>
          <a:lstStyle/>
          <a:p>
            <a:pPr algn="l" indent="0" marL="0">
              <a:buNone/>
            </a:pPr>
            <a:r>
              <a:rPr lang="en-US" sz="800" dirty="0">
                <a:solidFill>
                  <a:srgbClr val="D5F5E3"/>
                </a:solidFill>
                <a:latin typeface="Calibri" pitchFamily="34" charset="0"/>
                <a:ea typeface="Calibri" pitchFamily="34" charset="-122"/>
                <a:cs typeface="Calibri" pitchFamily="34" charset="-120"/>
              </a:rPr>
              <a:t>E2EEService   ·   PsmlScreenManager   ·   DaemonFactory</a:t>
            </a:r>
            <a:endParaRPr lang="en-US" sz="800" dirty="0"/>
          </a:p>
        </p:txBody>
      </p:sp>
      <p:sp>
        <p:nvSpPr>
          <p:cNvPr id="15" name="Text 13"/>
          <p:cNvSpPr/>
          <p:nvPr/>
        </p:nvSpPr>
        <p:spPr>
          <a:xfrm>
            <a:off x="256032" y="2267712"/>
            <a:ext cx="3657600" cy="219456"/>
          </a:xfrm>
          <a:prstGeom prst="rect">
            <a:avLst/>
          </a:prstGeom>
          <a:noFill/>
          <a:ln/>
        </p:spPr>
        <p:txBody>
          <a:bodyPr wrap="square" lIns="0" tIns="0" rIns="0" bIns="0" rtlCol="0" anchor="ctr"/>
          <a:lstStyle/>
          <a:p>
            <a:pPr algn="l" indent="0" marL="0">
              <a:buNone/>
            </a:pPr>
            <a:r>
              <a:rPr lang="en-US" sz="800" dirty="0">
                <a:solidFill>
                  <a:srgbClr val="D5F5E3"/>
                </a:solidFill>
                <a:latin typeface="Calibri" pitchFamily="34" charset="0"/>
                <a:ea typeface="Calibri" pitchFamily="34" charset="-122"/>
                <a:cs typeface="Calibri" pitchFamily="34" charset="-120"/>
              </a:rPr>
              <a:t>HolidaysAndCutOffService   ·   XMLCatalogService   +  8 more</a:t>
            </a:r>
            <a:endParaRPr lang="en-US" sz="800" dirty="0"/>
          </a:p>
        </p:txBody>
      </p:sp>
      <p:sp>
        <p:nvSpPr>
          <p:cNvPr id="16" name="Shape 14"/>
          <p:cNvSpPr/>
          <p:nvPr/>
        </p:nvSpPr>
        <p:spPr>
          <a:xfrm>
            <a:off x="137160" y="2624328"/>
            <a:ext cx="3886200" cy="1024128"/>
          </a:xfrm>
          <a:prstGeom prst="rect">
            <a:avLst/>
          </a:prstGeom>
          <a:solidFill>
            <a:srgbClr val="0D4D6E"/>
          </a:solidFill>
          <a:ln w="12700">
            <a:solidFill>
              <a:srgbClr val="0D4D6E"/>
            </a:solidFill>
            <a:prstDash val="solid"/>
          </a:ln>
        </p:spPr>
      </p:sp>
      <p:sp>
        <p:nvSpPr>
          <p:cNvPr id="17" name="Shape 15"/>
          <p:cNvSpPr/>
          <p:nvPr/>
        </p:nvSpPr>
        <p:spPr>
          <a:xfrm>
            <a:off x="137160" y="2624328"/>
            <a:ext cx="54864" cy="1024128"/>
          </a:xfrm>
          <a:prstGeom prst="rect">
            <a:avLst/>
          </a:prstGeom>
          <a:solidFill>
            <a:srgbClr val="00A8CC"/>
          </a:solidFill>
          <a:ln w="12700">
            <a:solidFill>
              <a:srgbClr val="00A8CC"/>
            </a:solidFill>
            <a:prstDash val="solid"/>
          </a:ln>
        </p:spPr>
      </p:sp>
      <p:sp>
        <p:nvSpPr>
          <p:cNvPr id="18" name="Text 16"/>
          <p:cNvSpPr/>
          <p:nvPr/>
        </p:nvSpPr>
        <p:spPr>
          <a:xfrm>
            <a:off x="256032" y="2679192"/>
            <a:ext cx="365760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GTP-Overridden Services  —  10  —  from turbine.properties</a:t>
            </a:r>
            <a:endParaRPr lang="en-US" sz="850" dirty="0"/>
          </a:p>
        </p:txBody>
      </p:sp>
      <p:sp>
        <p:nvSpPr>
          <p:cNvPr id="19" name="Text 17"/>
          <p:cNvSpPr/>
          <p:nvPr/>
        </p:nvSpPr>
        <p:spPr>
          <a:xfrm>
            <a:off x="256032" y="2898648"/>
            <a:ext cx="3657600" cy="164592"/>
          </a:xfrm>
          <a:prstGeom prst="rect">
            <a:avLst/>
          </a:prstGeom>
          <a:noFill/>
          <a:ln/>
        </p:spPr>
        <p:txBody>
          <a:bodyPr wrap="square" lIns="0" tIns="0" rIns="0" bIns="0" rtlCol="0" anchor="ctr"/>
          <a:lstStyle/>
          <a:p>
            <a:pPr algn="l" indent="0" marL="0">
              <a:buNone/>
            </a:pPr>
            <a:r>
              <a:rPr lang="en-US" sz="700" i="1" dirty="0">
                <a:solidFill>
                  <a:srgbClr val="A8D8EA"/>
                </a:solidFill>
                <a:latin typeface="Calibri" pitchFamily="34" charset="0"/>
                <a:ea typeface="Calibri" pitchFamily="34" charset="-122"/>
                <a:cs typeface="Calibri" pitchFamily="34" charset="-120"/>
              </a:rPr>
              <a:t>Finastra replaced Apache defaults with banking-specific implementations.</a:t>
            </a:r>
            <a:endParaRPr lang="en-US" sz="700" dirty="0"/>
          </a:p>
        </p:txBody>
      </p:sp>
      <p:sp>
        <p:nvSpPr>
          <p:cNvPr id="20" name="Text 18"/>
          <p:cNvSpPr/>
          <p:nvPr/>
        </p:nvSpPr>
        <p:spPr>
          <a:xfrm>
            <a:off x="256032" y="3081528"/>
            <a:ext cx="3657600" cy="192024"/>
          </a:xfrm>
          <a:prstGeom prst="rect">
            <a:avLst/>
          </a:prstGeom>
          <a:noFill/>
          <a:ln/>
        </p:spPr>
        <p:txBody>
          <a:bodyPr wrap="square" lIns="0" tIns="0" rIns="0" bIns="0" rtlCol="0" anchor="ctr"/>
          <a:lstStyle/>
          <a:p>
            <a:pPr algn="l" indent="0" marL="0">
              <a:buNone/>
            </a:pPr>
            <a:r>
              <a:rPr lang="en-US" sz="800" dirty="0">
                <a:solidFill>
                  <a:srgbClr val="D6EAF8"/>
                </a:solidFill>
                <a:latin typeface="Calibri" pitchFamily="34" charset="0"/>
                <a:ea typeface="Calibri" pitchFamily="34" charset="-122"/>
                <a:cs typeface="Calibri" pitchFamily="34" charset="-120"/>
              </a:rPr>
              <a:t>GTPRunDataService  ·  EHCacheService  ·  GTPSchedulerService</a:t>
            </a:r>
            <a:endParaRPr lang="en-US" sz="800" dirty="0"/>
          </a:p>
        </p:txBody>
      </p:sp>
      <p:sp>
        <p:nvSpPr>
          <p:cNvPr id="21" name="Text 19"/>
          <p:cNvSpPr/>
          <p:nvPr/>
        </p:nvSpPr>
        <p:spPr>
          <a:xfrm>
            <a:off x="256032" y="3273552"/>
            <a:ext cx="3657600" cy="192024"/>
          </a:xfrm>
          <a:prstGeom prst="rect">
            <a:avLst/>
          </a:prstGeom>
          <a:noFill/>
          <a:ln/>
        </p:spPr>
        <p:txBody>
          <a:bodyPr wrap="square" lIns="0" tIns="0" rIns="0" bIns="0" rtlCol="0" anchor="ctr"/>
          <a:lstStyle/>
          <a:p>
            <a:pPr algn="l" indent="0" marL="0">
              <a:buNone/>
            </a:pPr>
            <a:r>
              <a:rPr lang="en-US" sz="800" dirty="0">
                <a:solidFill>
                  <a:srgbClr val="D6EAF8"/>
                </a:solidFill>
                <a:latin typeface="Calibri" pitchFamily="34" charset="0"/>
                <a:ea typeface="Calibri" pitchFamily="34" charset="-122"/>
                <a:cs typeface="Calibri" pitchFamily="34" charset="-120"/>
              </a:rPr>
              <a:t>XSLTCachingService  ·  UniqueSessionService  ·  GTPAuditService</a:t>
            </a:r>
            <a:endParaRPr lang="en-US" sz="800" dirty="0"/>
          </a:p>
        </p:txBody>
      </p:sp>
      <p:sp>
        <p:nvSpPr>
          <p:cNvPr id="22" name="Text 20"/>
          <p:cNvSpPr/>
          <p:nvPr/>
        </p:nvSpPr>
        <p:spPr>
          <a:xfrm>
            <a:off x="256032" y="3465576"/>
            <a:ext cx="3657600" cy="192024"/>
          </a:xfrm>
          <a:prstGeom prst="rect">
            <a:avLst/>
          </a:prstGeom>
          <a:noFill/>
          <a:ln/>
        </p:spPr>
        <p:txBody>
          <a:bodyPr wrap="square" lIns="0" tIns="0" rIns="0" bIns="0" rtlCol="0" anchor="ctr"/>
          <a:lstStyle/>
          <a:p>
            <a:pPr algn="l" indent="0" marL="0">
              <a:buNone/>
            </a:pPr>
            <a:r>
              <a:rPr lang="en-US" sz="800" dirty="0">
                <a:solidFill>
                  <a:srgbClr val="D6EAF8"/>
                </a:solidFill>
                <a:latin typeface="Calibri" pitchFamily="34" charset="0"/>
                <a:ea typeface="Calibri" pitchFamily="34" charset="-122"/>
                <a:cs typeface="Calibri" pitchFamily="34" charset="-120"/>
              </a:rPr>
              <a:t>AdapterForTurbineSecurityService  +  3 more</a:t>
            </a:r>
            <a:endParaRPr lang="en-US" sz="800" dirty="0"/>
          </a:p>
        </p:txBody>
      </p:sp>
      <p:sp>
        <p:nvSpPr>
          <p:cNvPr id="23" name="Shape 21"/>
          <p:cNvSpPr/>
          <p:nvPr/>
        </p:nvSpPr>
        <p:spPr>
          <a:xfrm>
            <a:off x="137160" y="3694176"/>
            <a:ext cx="3886200" cy="713232"/>
          </a:xfrm>
          <a:prstGeom prst="rect">
            <a:avLst/>
          </a:prstGeom>
          <a:solidFill>
            <a:srgbClr val="0D2B4E"/>
          </a:solidFill>
          <a:ln w="12700">
            <a:solidFill>
              <a:srgbClr val="0D2B4E"/>
            </a:solidFill>
            <a:prstDash val="solid"/>
          </a:ln>
        </p:spPr>
      </p:sp>
      <p:sp>
        <p:nvSpPr>
          <p:cNvPr id="24" name="Shape 22"/>
          <p:cNvSpPr/>
          <p:nvPr/>
        </p:nvSpPr>
        <p:spPr>
          <a:xfrm>
            <a:off x="137160" y="3694176"/>
            <a:ext cx="54864" cy="713232"/>
          </a:xfrm>
          <a:prstGeom prst="rect">
            <a:avLst/>
          </a:prstGeom>
          <a:solidFill>
            <a:srgbClr val="0072BC"/>
          </a:solidFill>
          <a:ln w="12700">
            <a:solidFill>
              <a:srgbClr val="0072BC"/>
            </a:solidFill>
            <a:prstDash val="solid"/>
          </a:ln>
        </p:spPr>
      </p:sp>
      <p:sp>
        <p:nvSpPr>
          <p:cNvPr id="25" name="Text 23"/>
          <p:cNvSpPr/>
          <p:nvPr/>
        </p:nvSpPr>
        <p:spPr>
          <a:xfrm>
            <a:off x="256032" y="3749040"/>
            <a:ext cx="365760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Core Backbone Services  —  6  —  internal to Turbine</a:t>
            </a:r>
            <a:endParaRPr lang="en-US" sz="850" dirty="0"/>
          </a:p>
        </p:txBody>
      </p:sp>
      <p:sp>
        <p:nvSpPr>
          <p:cNvPr id="26" name="Text 24"/>
          <p:cNvSpPr/>
          <p:nvPr/>
        </p:nvSpPr>
        <p:spPr>
          <a:xfrm>
            <a:off x="256032" y="3968496"/>
            <a:ext cx="3657600" cy="164592"/>
          </a:xfrm>
          <a:prstGeom prst="rect">
            <a:avLst/>
          </a:prstGeom>
          <a:noFill/>
          <a:ln/>
        </p:spPr>
        <p:txBody>
          <a:bodyPr wrap="square" lIns="0" tIns="0" rIns="0" bIns="0" rtlCol="0" anchor="ctr"/>
          <a:lstStyle/>
          <a:p>
            <a:pPr algn="l" indent="0" marL="0">
              <a:buNone/>
            </a:pPr>
            <a:r>
              <a:rPr lang="en-US" sz="700" i="1" dirty="0">
                <a:solidFill>
                  <a:srgbClr val="A8C4E0"/>
                </a:solidFill>
                <a:latin typeface="Calibri" pitchFamily="34" charset="0"/>
                <a:ea typeface="Calibri" pitchFamily="34" charset="-122"/>
                <a:cs typeface="Calibri" pitchFamily="34" charset="-120"/>
              </a:rPr>
              <a:t>GEB code never imports these — but Turbine crashes without them.</a:t>
            </a:r>
            <a:endParaRPr lang="en-US" sz="700" dirty="0"/>
          </a:p>
        </p:txBody>
      </p:sp>
      <p:sp>
        <p:nvSpPr>
          <p:cNvPr id="27" name="Text 25"/>
          <p:cNvSpPr/>
          <p:nvPr/>
        </p:nvSpPr>
        <p:spPr>
          <a:xfrm>
            <a:off x="256032" y="4151376"/>
            <a:ext cx="3657600" cy="219456"/>
          </a:xfrm>
          <a:prstGeom prst="rect">
            <a:avLst/>
          </a:prstGeom>
          <a:noFill/>
          <a:ln/>
        </p:spPr>
        <p:txBody>
          <a:bodyPr wrap="square" lIns="0" tIns="0" rIns="0" bIns="0" rtlCol="0" anchor="ctr"/>
          <a:lstStyle/>
          <a:p>
            <a:pPr algn="l" indent="0" marL="0">
              <a:buNone/>
            </a:pPr>
            <a:r>
              <a:rPr lang="en-US" sz="750" dirty="0">
                <a:solidFill>
                  <a:srgbClr val="D6E8F5"/>
                </a:solidFill>
                <a:latin typeface="Calibri" pitchFamily="34" charset="0"/>
                <a:ea typeface="Calibri" pitchFamily="34" charset="-122"/>
                <a:cs typeface="Calibri" pitchFamily="34" charset="-120"/>
              </a:rPr>
              <a:t>PoolService  ·  FactoryService  ·  VelocityService  ·  TemplateService  ·  AssemblerBrokerService  ·  PullService</a:t>
            </a:r>
            <a:endParaRPr lang="en-US" sz="750" dirty="0"/>
          </a:p>
        </p:txBody>
      </p:sp>
      <p:sp>
        <p:nvSpPr>
          <p:cNvPr id="28" name="Text 26"/>
          <p:cNvSpPr/>
          <p:nvPr/>
        </p:nvSpPr>
        <p:spPr>
          <a:xfrm>
            <a:off x="4315968" y="731520"/>
            <a:ext cx="466344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WHAT TURBINE 7 CHANGES  —  4 ARCHITECTURAL SHIFTS</a:t>
            </a:r>
            <a:endParaRPr lang="en-US" sz="750" dirty="0"/>
          </a:p>
        </p:txBody>
      </p:sp>
      <p:sp>
        <p:nvSpPr>
          <p:cNvPr id="29" name="Shape 27"/>
          <p:cNvSpPr/>
          <p:nvPr/>
        </p:nvSpPr>
        <p:spPr>
          <a:xfrm>
            <a:off x="4279392" y="969264"/>
            <a:ext cx="4709160" cy="886968"/>
          </a:xfrm>
          <a:prstGeom prst="rect">
            <a:avLst/>
          </a:prstGeom>
          <a:solidFill>
            <a:srgbClr val="FFFFFF"/>
          </a:solidFill>
          <a:ln w="12700">
            <a:solidFill>
              <a:srgbClr val="D8E6F0"/>
            </a:solidFill>
            <a:prstDash val="solid"/>
          </a:ln>
          <a:effectLst>
            <a:outerShdw sx="100000" sy="100000" kx="0" ky="0" algn="bl" rotWithShape="0" blurRad="50800" dist="25400" dir="8100000">
              <a:srgbClr val="000000">
                <a:alpha val="5000"/>
              </a:srgbClr>
            </a:outerShdw>
          </a:effectLst>
        </p:spPr>
      </p:sp>
      <p:sp>
        <p:nvSpPr>
          <p:cNvPr id="30" name="Shape 28"/>
          <p:cNvSpPr/>
          <p:nvPr/>
        </p:nvSpPr>
        <p:spPr>
          <a:xfrm>
            <a:off x="4279392" y="969264"/>
            <a:ext cx="45720" cy="886968"/>
          </a:xfrm>
          <a:prstGeom prst="rect">
            <a:avLst/>
          </a:prstGeom>
          <a:solidFill>
            <a:srgbClr val="0072BC"/>
          </a:solidFill>
          <a:ln w="12700">
            <a:solidFill>
              <a:srgbClr val="0072BC"/>
            </a:solidFill>
            <a:prstDash val="solid"/>
          </a:ln>
        </p:spPr>
      </p:sp>
      <p:sp>
        <p:nvSpPr>
          <p:cNvPr id="31" name="Text 29"/>
          <p:cNvSpPr/>
          <p:nvPr/>
        </p:nvSpPr>
        <p:spPr>
          <a:xfrm>
            <a:off x="4389120" y="1005840"/>
            <a:ext cx="320040" cy="237744"/>
          </a:xfrm>
          <a:prstGeom prst="rect">
            <a:avLst/>
          </a:prstGeom>
          <a:noFill/>
          <a:ln/>
        </p:spPr>
        <p:txBody>
          <a:bodyPr wrap="square" lIns="0" tIns="0" rIns="0" bIns="0" rtlCol="0" anchor="ctr"/>
          <a:lstStyle/>
          <a:p>
            <a:pPr algn="l" indent="0" marL="0">
              <a:buNone/>
            </a:pPr>
            <a:r>
              <a:rPr lang="en-US" sz="1300" b="1" dirty="0">
                <a:solidFill>
                  <a:srgbClr val="D0DCE8"/>
                </a:solidFill>
                <a:latin typeface="Calibri" pitchFamily="34" charset="0"/>
                <a:ea typeface="Calibri" pitchFamily="34" charset="-122"/>
                <a:cs typeface="Calibri" pitchFamily="34" charset="-120"/>
              </a:rPr>
              <a:t>01</a:t>
            </a:r>
            <a:endParaRPr lang="en-US" sz="1300" dirty="0"/>
          </a:p>
        </p:txBody>
      </p:sp>
      <p:sp>
        <p:nvSpPr>
          <p:cNvPr id="32" name="Text 30"/>
          <p:cNvSpPr/>
          <p:nvPr/>
        </p:nvSpPr>
        <p:spPr>
          <a:xfrm>
            <a:off x="4736592" y="1014984"/>
            <a:ext cx="416052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Central Data Object — RunData → PipelineData</a:t>
            </a:r>
            <a:endParaRPr lang="en-US" sz="950" dirty="0"/>
          </a:p>
        </p:txBody>
      </p:sp>
      <p:sp>
        <p:nvSpPr>
          <p:cNvPr id="33" name="Text 31"/>
          <p:cNvSpPr/>
          <p:nvPr/>
        </p:nvSpPr>
        <p:spPr>
          <a:xfrm>
            <a:off x="4389120" y="1271016"/>
            <a:ext cx="4526280" cy="182880"/>
          </a:xfrm>
          <a:prstGeom prst="rect">
            <a:avLst/>
          </a:prstGeom>
          <a:noFill/>
          <a:ln/>
        </p:spPr>
        <p:txBody>
          <a:bodyPr wrap="square" lIns="0" tIns="0" rIns="0" bIns="0" rtlCol="0" anchor="ctr"/>
          <a:lstStyle/>
          <a:p>
            <a:pPr algn="l" indent="0" marL="0">
              <a:buNone/>
            </a:pPr>
            <a:r>
              <a:rPr lang="en-US" sz="750" b="1" dirty="0">
                <a:solidFill>
                  <a:srgbClr val="C0392B"/>
                </a:solidFill>
                <a:latin typeface="Calibri" pitchFamily="34" charset="0"/>
                <a:ea typeface="Calibri" pitchFamily="34" charset="-122"/>
                <a:cs typeface="Calibri" pitchFamily="34" charset="-120"/>
              </a:rPr>
              <a:t xml:space="preserve">Now:  </a:t>
            </a:r>
            <a:pPr algn="l" indent="0" marL="0">
              <a:buNone/>
            </a:pPr>
            <a:r>
              <a:rPr lang="en-US" sz="750" dirty="0">
                <a:solidFill>
                  <a:srgbClr val="6B7E94"/>
                </a:solidFill>
                <a:latin typeface="Calibri" pitchFamily="34" charset="0"/>
                <a:ea typeface="Calibri" pitchFamily="34" charset="-122"/>
                <a:cs typeface="Calibri" pitchFamily="34" charset="-120"/>
              </a:rPr>
              <a:t>Every Action, Portlet, and Layout receives RunData directly — carrying the full HTTP context, session, user, and banking context.</a:t>
            </a:r>
            <a:endParaRPr lang="en-US" sz="750" dirty="0"/>
          </a:p>
        </p:txBody>
      </p:sp>
      <p:sp>
        <p:nvSpPr>
          <p:cNvPr id="34" name="Text 32"/>
          <p:cNvSpPr/>
          <p:nvPr/>
        </p:nvSpPr>
        <p:spPr>
          <a:xfrm>
            <a:off x="4389120" y="1463040"/>
            <a:ext cx="4526280" cy="182880"/>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xml:space="preserve">Turbine 7:  </a:t>
            </a:r>
            <a:pPr algn="l" indent="0" marL="0">
              <a:buNone/>
            </a:pPr>
            <a:r>
              <a:rPr lang="en-US" sz="750" dirty="0">
                <a:solidFill>
                  <a:srgbClr val="6B7E94"/>
                </a:solidFill>
                <a:latin typeface="Calibri" pitchFamily="34" charset="0"/>
                <a:ea typeface="Calibri" pitchFamily="34" charset="-122"/>
                <a:cs typeface="Calibri" pitchFamily="34" charset="-120"/>
              </a:rPr>
              <a:t>Turbine 7 wraps RunData inside PipelineData, a generic container. Every class extracts RunData with a single cast. Business logic after that cast is unchanged.</a:t>
            </a:r>
            <a:endParaRPr lang="en-US" sz="750" dirty="0"/>
          </a:p>
        </p:txBody>
      </p:sp>
      <p:sp>
        <p:nvSpPr>
          <p:cNvPr id="35" name="Text 33"/>
          <p:cNvSpPr/>
          <p:nvPr/>
        </p:nvSpPr>
        <p:spPr>
          <a:xfrm>
            <a:off x="4389120" y="1664208"/>
            <a:ext cx="4526280" cy="164592"/>
          </a:xfrm>
          <a:prstGeom prst="rect">
            <a:avLst/>
          </a:prstGeom>
          <a:noFill/>
          <a:ln/>
        </p:spPr>
        <p:txBody>
          <a:bodyPr wrap="square" lIns="0" tIns="0" rIns="0" bIns="0" rtlCol="0" anchor="ctr"/>
          <a:lstStyle/>
          <a:p>
            <a:pPr algn="l" indent="0" marL="0">
              <a:buNone/>
            </a:pPr>
            <a:r>
              <a:rPr lang="en-US" sz="750" b="1" dirty="0">
                <a:solidFill>
                  <a:srgbClr val="0072BC"/>
                </a:solidFill>
                <a:latin typeface="Calibri" pitchFamily="34" charset="0"/>
                <a:ea typeface="Calibri" pitchFamily="34" charset="-122"/>
                <a:cs typeface="Calibri" pitchFamily="34" charset="-120"/>
              </a:rPr>
              <a:t>⚑  Impacts every Action, Layout, and Portlet class across GEB.</a:t>
            </a:r>
            <a:endParaRPr lang="en-US" sz="750" dirty="0"/>
          </a:p>
        </p:txBody>
      </p:sp>
      <p:sp>
        <p:nvSpPr>
          <p:cNvPr id="36" name="Shape 34"/>
          <p:cNvSpPr/>
          <p:nvPr/>
        </p:nvSpPr>
        <p:spPr>
          <a:xfrm>
            <a:off x="4279392" y="1901952"/>
            <a:ext cx="4709160" cy="886968"/>
          </a:xfrm>
          <a:prstGeom prst="rect">
            <a:avLst/>
          </a:prstGeom>
          <a:solidFill>
            <a:srgbClr val="FFFFFF"/>
          </a:solidFill>
          <a:ln w="12700">
            <a:solidFill>
              <a:srgbClr val="D8E6F0"/>
            </a:solidFill>
            <a:prstDash val="solid"/>
          </a:ln>
          <a:effectLst>
            <a:outerShdw sx="100000" sy="100000" kx="0" ky="0" algn="bl" rotWithShape="0" blurRad="50800" dist="25400" dir="8100000">
              <a:srgbClr val="000000">
                <a:alpha val="5000"/>
              </a:srgbClr>
            </a:outerShdw>
          </a:effectLst>
        </p:spPr>
      </p:sp>
      <p:sp>
        <p:nvSpPr>
          <p:cNvPr id="37" name="Shape 35"/>
          <p:cNvSpPr/>
          <p:nvPr/>
        </p:nvSpPr>
        <p:spPr>
          <a:xfrm>
            <a:off x="4279392" y="1901952"/>
            <a:ext cx="45720" cy="886968"/>
          </a:xfrm>
          <a:prstGeom prst="rect">
            <a:avLst/>
          </a:prstGeom>
          <a:solidFill>
            <a:srgbClr val="0072BC"/>
          </a:solidFill>
          <a:ln w="12700">
            <a:solidFill>
              <a:srgbClr val="0072BC"/>
            </a:solidFill>
            <a:prstDash val="solid"/>
          </a:ln>
        </p:spPr>
      </p:sp>
      <p:sp>
        <p:nvSpPr>
          <p:cNvPr id="38" name="Text 36"/>
          <p:cNvSpPr/>
          <p:nvPr/>
        </p:nvSpPr>
        <p:spPr>
          <a:xfrm>
            <a:off x="4389120" y="1938528"/>
            <a:ext cx="320040" cy="237744"/>
          </a:xfrm>
          <a:prstGeom prst="rect">
            <a:avLst/>
          </a:prstGeom>
          <a:noFill/>
          <a:ln/>
        </p:spPr>
        <p:txBody>
          <a:bodyPr wrap="square" lIns="0" tIns="0" rIns="0" bIns="0" rtlCol="0" anchor="ctr"/>
          <a:lstStyle/>
          <a:p>
            <a:pPr algn="l" indent="0" marL="0">
              <a:buNone/>
            </a:pPr>
            <a:r>
              <a:rPr lang="en-US" sz="1300" b="1" dirty="0">
                <a:solidFill>
                  <a:srgbClr val="D0DCE8"/>
                </a:solidFill>
                <a:latin typeface="Calibri" pitchFamily="34" charset="0"/>
                <a:ea typeface="Calibri" pitchFamily="34" charset="-122"/>
                <a:cs typeface="Calibri" pitchFamily="34" charset="-120"/>
              </a:rPr>
              <a:t>02</a:t>
            </a:r>
            <a:endParaRPr lang="en-US" sz="1300" dirty="0"/>
          </a:p>
        </p:txBody>
      </p:sp>
      <p:sp>
        <p:nvSpPr>
          <p:cNvPr id="39" name="Text 37"/>
          <p:cNvSpPr/>
          <p:nvPr/>
        </p:nvSpPr>
        <p:spPr>
          <a:xfrm>
            <a:off x="4736592" y="1947672"/>
            <a:ext cx="416052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Abstract Classes → Interfaces (Action, Layout, Screen)</a:t>
            </a:r>
            <a:endParaRPr lang="en-US" sz="950" dirty="0"/>
          </a:p>
        </p:txBody>
      </p:sp>
      <p:sp>
        <p:nvSpPr>
          <p:cNvPr id="40" name="Text 38"/>
          <p:cNvSpPr/>
          <p:nvPr/>
        </p:nvSpPr>
        <p:spPr>
          <a:xfrm>
            <a:off x="4389120" y="2203704"/>
            <a:ext cx="4526280" cy="182880"/>
          </a:xfrm>
          <a:prstGeom prst="rect">
            <a:avLst/>
          </a:prstGeom>
          <a:noFill/>
          <a:ln/>
        </p:spPr>
        <p:txBody>
          <a:bodyPr wrap="square" lIns="0" tIns="0" rIns="0" bIns="0" rtlCol="0" anchor="ctr"/>
          <a:lstStyle/>
          <a:p>
            <a:pPr algn="l" indent="0" marL="0">
              <a:buNone/>
            </a:pPr>
            <a:r>
              <a:rPr lang="en-US" sz="750" b="1" dirty="0">
                <a:solidFill>
                  <a:srgbClr val="C0392B"/>
                </a:solidFill>
                <a:latin typeface="Calibri" pitchFamily="34" charset="0"/>
                <a:ea typeface="Calibri" pitchFamily="34" charset="-122"/>
                <a:cs typeface="Calibri" pitchFamily="34" charset="-120"/>
              </a:rPr>
              <a:t xml:space="preserve">Now:  </a:t>
            </a:r>
            <a:pPr algn="l" indent="0" marL="0">
              <a:buNone/>
            </a:pPr>
            <a:r>
              <a:rPr lang="en-US" sz="750" dirty="0">
                <a:solidFill>
                  <a:srgbClr val="6B7E94"/>
                </a:solidFill>
                <a:latin typeface="Calibri" pitchFamily="34" charset="0"/>
                <a:ea typeface="Calibri" pitchFamily="34" charset="-122"/>
                <a:cs typeface="Calibri" pitchFamily="34" charset="-120"/>
              </a:rPr>
              <a:t>Action and Layout were abstract classes. GEB subclasses freely inherited helper methods — getConfiguration(), setTemplate() and others.</a:t>
            </a:r>
            <a:endParaRPr lang="en-US" sz="750" dirty="0"/>
          </a:p>
        </p:txBody>
      </p:sp>
      <p:sp>
        <p:nvSpPr>
          <p:cNvPr id="41" name="Text 39"/>
          <p:cNvSpPr/>
          <p:nvPr/>
        </p:nvSpPr>
        <p:spPr>
          <a:xfrm>
            <a:off x="4389120" y="2395728"/>
            <a:ext cx="4526280" cy="182880"/>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xml:space="preserve">Turbine 7:  </a:t>
            </a:r>
            <a:pPr algn="l" indent="0" marL="0">
              <a:buNone/>
            </a:pPr>
            <a:r>
              <a:rPr lang="en-US" sz="750" dirty="0">
                <a:solidFill>
                  <a:srgbClr val="6B7E94"/>
                </a:solidFill>
                <a:latin typeface="Calibri" pitchFamily="34" charset="0"/>
                <a:ea typeface="Calibri" pitchFamily="34" charset="-122"/>
                <a:cs typeface="Calibri" pitchFamily="34" charset="-120"/>
              </a:rPr>
              <a:t>Both are now interfaces. All inherited helper methods are removed. Every subclass must independently implement or source these methods.</a:t>
            </a:r>
            <a:endParaRPr lang="en-US" sz="750" dirty="0"/>
          </a:p>
        </p:txBody>
      </p:sp>
      <p:sp>
        <p:nvSpPr>
          <p:cNvPr id="42" name="Text 40"/>
          <p:cNvSpPr/>
          <p:nvPr/>
        </p:nvSpPr>
        <p:spPr>
          <a:xfrm>
            <a:off x="4389120" y="2596896"/>
            <a:ext cx="4526280" cy="164592"/>
          </a:xfrm>
          <a:prstGeom prst="rect">
            <a:avLst/>
          </a:prstGeom>
          <a:noFill/>
          <a:ln/>
        </p:spPr>
        <p:txBody>
          <a:bodyPr wrap="square" lIns="0" tIns="0" rIns="0" bIns="0" rtlCol="0" anchor="ctr"/>
          <a:lstStyle/>
          <a:p>
            <a:pPr algn="l" indent="0" marL="0">
              <a:buNone/>
            </a:pPr>
            <a:r>
              <a:rPr lang="en-US" sz="750" b="1" dirty="0">
                <a:solidFill>
                  <a:srgbClr val="0072BC"/>
                </a:solidFill>
                <a:latin typeface="Calibri" pitchFamily="34" charset="0"/>
                <a:ea typeface="Calibri" pitchFamily="34" charset="-122"/>
                <a:cs typeface="Calibri" pitchFamily="34" charset="-120"/>
              </a:rPr>
              <a:t>⚑  200+ GEB classes require method signature changes.</a:t>
            </a:r>
            <a:endParaRPr lang="en-US" sz="750" dirty="0"/>
          </a:p>
        </p:txBody>
      </p:sp>
      <p:sp>
        <p:nvSpPr>
          <p:cNvPr id="43" name="Shape 41"/>
          <p:cNvSpPr/>
          <p:nvPr/>
        </p:nvSpPr>
        <p:spPr>
          <a:xfrm>
            <a:off x="4279392" y="2834640"/>
            <a:ext cx="4709160" cy="886968"/>
          </a:xfrm>
          <a:prstGeom prst="rect">
            <a:avLst/>
          </a:prstGeom>
          <a:solidFill>
            <a:srgbClr val="FFFFFF"/>
          </a:solidFill>
          <a:ln w="12700">
            <a:solidFill>
              <a:srgbClr val="D8E6F0"/>
            </a:solidFill>
            <a:prstDash val="solid"/>
          </a:ln>
          <a:effectLst>
            <a:outerShdw sx="100000" sy="100000" kx="0" ky="0" algn="bl" rotWithShape="0" blurRad="50800" dist="25400" dir="8100000">
              <a:srgbClr val="000000">
                <a:alpha val="5000"/>
              </a:srgbClr>
            </a:outerShdw>
          </a:effectLst>
        </p:spPr>
      </p:sp>
      <p:sp>
        <p:nvSpPr>
          <p:cNvPr id="44" name="Shape 42"/>
          <p:cNvSpPr/>
          <p:nvPr/>
        </p:nvSpPr>
        <p:spPr>
          <a:xfrm>
            <a:off x="4279392" y="2834640"/>
            <a:ext cx="45720" cy="886968"/>
          </a:xfrm>
          <a:prstGeom prst="rect">
            <a:avLst/>
          </a:prstGeom>
          <a:solidFill>
            <a:srgbClr val="0072BC"/>
          </a:solidFill>
          <a:ln w="12700">
            <a:solidFill>
              <a:srgbClr val="0072BC"/>
            </a:solidFill>
            <a:prstDash val="solid"/>
          </a:ln>
        </p:spPr>
      </p:sp>
      <p:sp>
        <p:nvSpPr>
          <p:cNvPr id="45" name="Text 43"/>
          <p:cNvSpPr/>
          <p:nvPr/>
        </p:nvSpPr>
        <p:spPr>
          <a:xfrm>
            <a:off x="4389120" y="2871216"/>
            <a:ext cx="320040" cy="237744"/>
          </a:xfrm>
          <a:prstGeom prst="rect">
            <a:avLst/>
          </a:prstGeom>
          <a:noFill/>
          <a:ln/>
        </p:spPr>
        <p:txBody>
          <a:bodyPr wrap="square" lIns="0" tIns="0" rIns="0" bIns="0" rtlCol="0" anchor="ctr"/>
          <a:lstStyle/>
          <a:p>
            <a:pPr algn="l" indent="0" marL="0">
              <a:buNone/>
            </a:pPr>
            <a:r>
              <a:rPr lang="en-US" sz="1300" b="1" dirty="0">
                <a:solidFill>
                  <a:srgbClr val="D0DCE8"/>
                </a:solidFill>
                <a:latin typeface="Calibri" pitchFamily="34" charset="0"/>
                <a:ea typeface="Calibri" pitchFamily="34" charset="-122"/>
                <a:cs typeface="Calibri" pitchFamily="34" charset="-120"/>
              </a:rPr>
              <a:t>03</a:t>
            </a:r>
            <a:endParaRPr lang="en-US" sz="1300" dirty="0"/>
          </a:p>
        </p:txBody>
      </p:sp>
      <p:sp>
        <p:nvSpPr>
          <p:cNvPr id="46" name="Text 44"/>
          <p:cNvSpPr/>
          <p:nvPr/>
        </p:nvSpPr>
        <p:spPr>
          <a:xfrm>
            <a:off x="4736592" y="2880360"/>
            <a:ext cx="416052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One Service Container → Two  (Turbine + YAAFI / Fulcrum)</a:t>
            </a:r>
            <a:endParaRPr lang="en-US" sz="950" dirty="0"/>
          </a:p>
        </p:txBody>
      </p:sp>
      <p:sp>
        <p:nvSpPr>
          <p:cNvPr id="47" name="Text 45"/>
          <p:cNvSpPr/>
          <p:nvPr/>
        </p:nvSpPr>
        <p:spPr>
          <a:xfrm>
            <a:off x="4389120" y="3136392"/>
            <a:ext cx="4526280" cy="182880"/>
          </a:xfrm>
          <a:prstGeom prst="rect">
            <a:avLst/>
          </a:prstGeom>
          <a:noFill/>
          <a:ln/>
        </p:spPr>
        <p:txBody>
          <a:bodyPr wrap="square" lIns="0" tIns="0" rIns="0" bIns="0" rtlCol="0" anchor="ctr"/>
          <a:lstStyle/>
          <a:p>
            <a:pPr algn="l" indent="0" marL="0">
              <a:buNone/>
            </a:pPr>
            <a:r>
              <a:rPr lang="en-US" sz="750" b="1" dirty="0">
                <a:solidFill>
                  <a:srgbClr val="C0392B"/>
                </a:solidFill>
                <a:latin typeface="Calibri" pitchFamily="34" charset="0"/>
                <a:ea typeface="Calibri" pitchFamily="34" charset="-122"/>
                <a:cs typeface="Calibri" pitchFamily="34" charset="-120"/>
              </a:rPr>
              <a:t xml:space="preserve">Now:  </a:t>
            </a:r>
            <a:pPr algn="l" indent="0" marL="0">
              <a:buNone/>
            </a:pPr>
            <a:r>
              <a:rPr lang="en-US" sz="750" dirty="0">
                <a:solidFill>
                  <a:srgbClr val="6B7E94"/>
                </a:solidFill>
                <a:latin typeface="Calibri" pitchFamily="34" charset="0"/>
                <a:ea typeface="Calibri" pitchFamily="34" charset="-122"/>
                <a:cs typeface="Calibri" pitchFamily="34" charset="-120"/>
              </a:rPr>
              <a:t>All 33 services live in a single Turbine container. One config file — turbine.properties — registers everything. GTPComponentService bootstraps Torque.</a:t>
            </a:r>
            <a:endParaRPr lang="en-US" sz="750" dirty="0"/>
          </a:p>
        </p:txBody>
      </p:sp>
      <p:sp>
        <p:nvSpPr>
          <p:cNvPr id="48" name="Text 46"/>
          <p:cNvSpPr/>
          <p:nvPr/>
        </p:nvSpPr>
        <p:spPr>
          <a:xfrm>
            <a:off x="4389120" y="3328416"/>
            <a:ext cx="4526280" cy="182880"/>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xml:space="preserve">Turbine 7:  </a:t>
            </a:r>
            <a:pPr algn="l" indent="0" marL="0">
              <a:buNone/>
            </a:pPr>
            <a:r>
              <a:rPr lang="en-US" sz="750" dirty="0">
                <a:solidFill>
                  <a:srgbClr val="6B7E94"/>
                </a:solidFill>
                <a:latin typeface="Calibri" pitchFamily="34" charset="0"/>
                <a:ea typeface="Calibri" pitchFamily="34" charset="-122"/>
                <a:cs typeface="Calibri" pitchFamily="34" charset="-120"/>
              </a:rPr>
              <a:t>Infrastructure services (Pool, Factory, Parser) move to Fulcrum via YAAFI. Three new XML config files required. GTPComponentService is removed.</a:t>
            </a:r>
            <a:endParaRPr lang="en-US" sz="750" dirty="0"/>
          </a:p>
        </p:txBody>
      </p:sp>
      <p:sp>
        <p:nvSpPr>
          <p:cNvPr id="49" name="Text 47"/>
          <p:cNvSpPr/>
          <p:nvPr/>
        </p:nvSpPr>
        <p:spPr>
          <a:xfrm>
            <a:off x="4389120" y="3529584"/>
            <a:ext cx="4526280" cy="164592"/>
          </a:xfrm>
          <a:prstGeom prst="rect">
            <a:avLst/>
          </a:prstGeom>
          <a:noFill/>
          <a:ln/>
        </p:spPr>
        <p:txBody>
          <a:bodyPr wrap="square" lIns="0" tIns="0" rIns="0" bIns="0" rtlCol="0" anchor="ctr"/>
          <a:lstStyle/>
          <a:p>
            <a:pPr algn="l" indent="0" marL="0">
              <a:buNone/>
            </a:pPr>
            <a:r>
              <a:rPr lang="en-US" sz="750" b="1" dirty="0">
                <a:solidFill>
                  <a:srgbClr val="0072BC"/>
                </a:solidFill>
                <a:latin typeface="Calibri" pitchFamily="34" charset="0"/>
                <a:ea typeface="Calibri" pitchFamily="34" charset="-122"/>
                <a:cs typeface="Calibri" pitchFamily="34" charset="-120"/>
              </a:rPr>
              <a:t>⚑  Torque bootstrap and parser registration need full reconfiguration.</a:t>
            </a:r>
            <a:endParaRPr lang="en-US" sz="750" dirty="0"/>
          </a:p>
        </p:txBody>
      </p:sp>
      <p:sp>
        <p:nvSpPr>
          <p:cNvPr id="50" name="Shape 48"/>
          <p:cNvSpPr/>
          <p:nvPr/>
        </p:nvSpPr>
        <p:spPr>
          <a:xfrm>
            <a:off x="4279392" y="3767328"/>
            <a:ext cx="4709160" cy="886968"/>
          </a:xfrm>
          <a:prstGeom prst="rect">
            <a:avLst/>
          </a:prstGeom>
          <a:solidFill>
            <a:srgbClr val="FFFFFF"/>
          </a:solidFill>
          <a:ln w="12700">
            <a:solidFill>
              <a:srgbClr val="D8E6F0"/>
            </a:solidFill>
            <a:prstDash val="solid"/>
          </a:ln>
          <a:effectLst>
            <a:outerShdw sx="100000" sy="100000" kx="0" ky="0" algn="bl" rotWithShape="0" blurRad="50800" dist="25400" dir="8100000">
              <a:srgbClr val="000000">
                <a:alpha val="5000"/>
              </a:srgbClr>
            </a:outerShdw>
          </a:effectLst>
        </p:spPr>
      </p:sp>
      <p:sp>
        <p:nvSpPr>
          <p:cNvPr id="51" name="Shape 49"/>
          <p:cNvSpPr/>
          <p:nvPr/>
        </p:nvSpPr>
        <p:spPr>
          <a:xfrm>
            <a:off x="4279392" y="3767328"/>
            <a:ext cx="45720" cy="886968"/>
          </a:xfrm>
          <a:prstGeom prst="rect">
            <a:avLst/>
          </a:prstGeom>
          <a:solidFill>
            <a:srgbClr val="0072BC"/>
          </a:solidFill>
          <a:ln w="12700">
            <a:solidFill>
              <a:srgbClr val="0072BC"/>
            </a:solidFill>
            <a:prstDash val="solid"/>
          </a:ln>
        </p:spPr>
      </p:sp>
      <p:sp>
        <p:nvSpPr>
          <p:cNvPr id="52" name="Text 50"/>
          <p:cNvSpPr/>
          <p:nvPr/>
        </p:nvSpPr>
        <p:spPr>
          <a:xfrm>
            <a:off x="4389120" y="3803904"/>
            <a:ext cx="320040" cy="237744"/>
          </a:xfrm>
          <a:prstGeom prst="rect">
            <a:avLst/>
          </a:prstGeom>
          <a:noFill/>
          <a:ln/>
        </p:spPr>
        <p:txBody>
          <a:bodyPr wrap="square" lIns="0" tIns="0" rIns="0" bIns="0" rtlCol="0" anchor="ctr"/>
          <a:lstStyle/>
          <a:p>
            <a:pPr algn="l" indent="0" marL="0">
              <a:buNone/>
            </a:pPr>
            <a:r>
              <a:rPr lang="en-US" sz="1300" b="1" dirty="0">
                <a:solidFill>
                  <a:srgbClr val="D0DCE8"/>
                </a:solidFill>
                <a:latin typeface="Calibri" pitchFamily="34" charset="0"/>
                <a:ea typeface="Calibri" pitchFamily="34" charset="-122"/>
                <a:cs typeface="Calibri" pitchFamily="34" charset="-120"/>
              </a:rPr>
              <a:t>04</a:t>
            </a:r>
            <a:endParaRPr lang="en-US" sz="1300" dirty="0"/>
          </a:p>
        </p:txBody>
      </p:sp>
      <p:sp>
        <p:nvSpPr>
          <p:cNvPr id="53" name="Text 51"/>
          <p:cNvSpPr/>
          <p:nvPr/>
        </p:nvSpPr>
        <p:spPr>
          <a:xfrm>
            <a:off x="4736592" y="3813048"/>
            <a:ext cx="416052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Hardcoded Request Flow → Configurable Pipeline (pipeline.xml)</a:t>
            </a:r>
            <a:endParaRPr lang="en-US" sz="950" dirty="0"/>
          </a:p>
        </p:txBody>
      </p:sp>
      <p:sp>
        <p:nvSpPr>
          <p:cNvPr id="54" name="Text 52"/>
          <p:cNvSpPr/>
          <p:nvPr/>
        </p:nvSpPr>
        <p:spPr>
          <a:xfrm>
            <a:off x="4389120" y="4069080"/>
            <a:ext cx="4526280" cy="182880"/>
          </a:xfrm>
          <a:prstGeom prst="rect">
            <a:avLst/>
          </a:prstGeom>
          <a:noFill/>
          <a:ln/>
        </p:spPr>
        <p:txBody>
          <a:bodyPr wrap="square" lIns="0" tIns="0" rIns="0" bIns="0" rtlCol="0" anchor="ctr"/>
          <a:lstStyle/>
          <a:p>
            <a:pPr algn="l" indent="0" marL="0">
              <a:buNone/>
            </a:pPr>
            <a:r>
              <a:rPr lang="en-US" sz="750" b="1" dirty="0">
                <a:solidFill>
                  <a:srgbClr val="C0392B"/>
                </a:solidFill>
                <a:latin typeface="Calibri" pitchFamily="34" charset="0"/>
                <a:ea typeface="Calibri" pitchFamily="34" charset="-122"/>
                <a:cs typeface="Calibri" pitchFamily="34" charset="-120"/>
              </a:rPr>
              <a:t xml:space="preserve">Now:  </a:t>
            </a:r>
            <a:pPr algn="l" indent="0" marL="0">
              <a:buNone/>
            </a:pPr>
            <a:r>
              <a:rPr lang="en-US" sz="750" dirty="0">
                <a:solidFill>
                  <a:srgbClr val="6B7E94"/>
                </a:solidFill>
                <a:latin typeface="Calibri" pitchFamily="34" charset="0"/>
                <a:ea typeface="Calibri" pitchFamily="34" charset="-122"/>
                <a:cs typeface="Calibri" pitchFamily="34" charset="-120"/>
              </a:rPr>
              <a:t>Request processing was fixed inside Turbine.doGet() — session check, access control, action, page — in a sequence GEB could not modify.</a:t>
            </a:r>
            <a:endParaRPr lang="en-US" sz="750" dirty="0"/>
          </a:p>
        </p:txBody>
      </p:sp>
      <p:sp>
        <p:nvSpPr>
          <p:cNvPr id="55" name="Text 53"/>
          <p:cNvSpPr/>
          <p:nvPr/>
        </p:nvSpPr>
        <p:spPr>
          <a:xfrm>
            <a:off x="4389120" y="4261104"/>
            <a:ext cx="4526280" cy="182880"/>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xml:space="preserve">Turbine 7:  </a:t>
            </a:r>
            <a:pPr algn="l" indent="0" marL="0">
              <a:buNone/>
            </a:pPr>
            <a:r>
              <a:rPr lang="en-US" sz="750" dirty="0">
                <a:solidFill>
                  <a:srgbClr val="6B7E94"/>
                </a:solidFill>
                <a:latin typeface="Calibri" pitchFamily="34" charset="0"/>
                <a:ea typeface="Calibri" pitchFamily="34" charset="-122"/>
                <a:cs typeface="Calibri" pitchFamily="34" charset="-120"/>
              </a:rPr>
              <a:t>Processing is now declared in pipeline.xml as configurable valves. GEB needs one custom valve (GTPExecuteValve) because it bypasses Turbine's Page mechanism.</a:t>
            </a:r>
            <a:endParaRPr lang="en-US" sz="750" dirty="0"/>
          </a:p>
        </p:txBody>
      </p:sp>
      <p:sp>
        <p:nvSpPr>
          <p:cNvPr id="56" name="Text 54"/>
          <p:cNvSpPr/>
          <p:nvPr/>
        </p:nvSpPr>
        <p:spPr>
          <a:xfrm>
            <a:off x="4389120" y="4462272"/>
            <a:ext cx="4526280" cy="164592"/>
          </a:xfrm>
          <a:prstGeom prst="rect">
            <a:avLst/>
          </a:prstGeom>
          <a:noFill/>
          <a:ln/>
        </p:spPr>
        <p:txBody>
          <a:bodyPr wrap="square" lIns="0" tIns="0" rIns="0" bIns="0" rtlCol="0" anchor="ctr"/>
          <a:lstStyle/>
          <a:p>
            <a:pPr algn="l" indent="0" marL="0">
              <a:buNone/>
            </a:pPr>
            <a:r>
              <a:rPr lang="en-US" sz="750" b="1" dirty="0">
                <a:solidFill>
                  <a:srgbClr val="0072BC"/>
                </a:solidFill>
                <a:latin typeface="Calibri" pitchFamily="34" charset="0"/>
                <a:ea typeface="Calibri" pitchFamily="34" charset="-122"/>
                <a:cs typeface="Calibri" pitchFamily="34" charset="-120"/>
              </a:rPr>
              <a:t>⚑  One new config file and one custom valve class required.</a:t>
            </a:r>
            <a:endParaRPr lang="en-US" sz="750" dirty="0"/>
          </a:p>
        </p:txBody>
      </p:sp>
      <p:sp>
        <p:nvSpPr>
          <p:cNvPr id="57" name="Shape 55"/>
          <p:cNvSpPr/>
          <p:nvPr/>
        </p:nvSpPr>
        <p:spPr>
          <a:xfrm>
            <a:off x="0" y="4764024"/>
            <a:ext cx="9144000" cy="283464"/>
          </a:xfrm>
          <a:prstGeom prst="rect">
            <a:avLst/>
          </a:prstGeom>
          <a:solidFill>
            <a:srgbClr val="1A3A5C"/>
          </a:solidFill>
          <a:ln w="12700">
            <a:solidFill>
              <a:srgbClr val="1A3A5C"/>
            </a:solidFill>
            <a:prstDash val="solid"/>
          </a:ln>
        </p:spPr>
      </p:sp>
      <p:sp>
        <p:nvSpPr>
          <p:cNvPr id="58" name="Text 56"/>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Turbine 2.3.3 → Turbine 7 is not a version bump  ·  It is a framework redesign  ·  Every layer of GEB's service model is affected</a:t>
            </a:r>
            <a:endParaRPr lang="en-US" sz="850" dirty="0"/>
          </a:p>
        </p:txBody>
      </p:sp>
      <p:sp>
        <p:nvSpPr>
          <p:cNvPr id="59" name="Shape 57"/>
          <p:cNvSpPr/>
          <p:nvPr/>
        </p:nvSpPr>
        <p:spPr>
          <a:xfrm>
            <a:off x="0" y="5047488"/>
            <a:ext cx="9144000" cy="96012"/>
          </a:xfrm>
          <a:prstGeom prst="rect">
            <a:avLst/>
          </a:prstGeom>
          <a:solidFill>
            <a:srgbClr val="091525"/>
          </a:solidFill>
          <a:ln w="12700">
            <a:solidFill>
              <a:srgbClr val="091525"/>
            </a:solidFill>
            <a:prstDash val="solid"/>
          </a:ln>
        </p:spPr>
      </p:sp>
      <p:sp>
        <p:nvSpPr>
          <p:cNvPr id="60" name="Text 58"/>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3152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View Layer  —  Assessment &amp; Migration Impact</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Jetspeed-based portal abstraction  ·  Source fully owned  ·  No third-party portlet API dependency</a:t>
            </a:r>
            <a:endParaRPr lang="en-US" sz="900" dirty="0"/>
          </a:p>
        </p:txBody>
      </p:sp>
      <p:sp>
        <p:nvSpPr>
          <p:cNvPr id="5" name="Shape 3"/>
          <p:cNvSpPr/>
          <p:nvPr/>
        </p:nvSpPr>
        <p:spPr>
          <a:xfrm>
            <a:off x="5212080" y="713232"/>
            <a:ext cx="27432" cy="4050792"/>
          </a:xfrm>
          <a:prstGeom prst="rect">
            <a:avLst/>
          </a:prstGeom>
          <a:solidFill>
            <a:srgbClr val="D0DCE8"/>
          </a:solidFill>
          <a:ln w="12700">
            <a:solidFill>
              <a:srgbClr val="D0DCE8"/>
            </a:solidFill>
            <a:prstDash val="solid"/>
          </a:ln>
        </p:spPr>
      </p:sp>
      <p:sp>
        <p:nvSpPr>
          <p:cNvPr id="6" name="Text 4"/>
          <p:cNvSpPr/>
          <p:nvPr/>
        </p:nvSpPr>
        <p:spPr>
          <a:xfrm>
            <a:off x="182880" y="749808"/>
            <a:ext cx="484632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COMPONENT ASSESSMENT</a:t>
            </a:r>
            <a:endParaRPr lang="en-US" sz="750" dirty="0"/>
          </a:p>
        </p:txBody>
      </p:sp>
      <p:sp>
        <p:nvSpPr>
          <p:cNvPr id="7" name="Shape 5"/>
          <p:cNvSpPr/>
          <p:nvPr/>
        </p:nvSpPr>
        <p:spPr>
          <a:xfrm>
            <a:off x="137160" y="1005840"/>
            <a:ext cx="4937760" cy="749808"/>
          </a:xfrm>
          <a:prstGeom prst="rect">
            <a:avLst/>
          </a:prstGeom>
          <a:solidFill>
            <a:srgbClr val="F0FAF4"/>
          </a:solidFill>
          <a:ln w="12700">
            <a:solidFill>
              <a:srgbClr val="E0EAF5"/>
            </a:solidFill>
            <a:prstDash val="solid"/>
          </a:ln>
        </p:spPr>
      </p:sp>
      <p:sp>
        <p:nvSpPr>
          <p:cNvPr id="8" name="Shape 6"/>
          <p:cNvSpPr/>
          <p:nvPr/>
        </p:nvSpPr>
        <p:spPr>
          <a:xfrm>
            <a:off x="137160" y="1005840"/>
            <a:ext cx="45720" cy="749808"/>
          </a:xfrm>
          <a:prstGeom prst="rect">
            <a:avLst/>
          </a:prstGeom>
          <a:solidFill>
            <a:srgbClr val="1A7A3E"/>
          </a:solidFill>
          <a:ln w="12700">
            <a:solidFill>
              <a:srgbClr val="1A7A3E"/>
            </a:solidFill>
            <a:prstDash val="solid"/>
          </a:ln>
        </p:spPr>
      </p:sp>
      <p:sp>
        <p:nvSpPr>
          <p:cNvPr id="9" name="Text 7"/>
          <p:cNvSpPr/>
          <p:nvPr/>
        </p:nvSpPr>
        <p:spPr>
          <a:xfrm>
            <a:off x="246888" y="1060704"/>
            <a:ext cx="324612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Jetspeed  (Portal Abstraction)</a:t>
            </a:r>
            <a:endParaRPr lang="en-US" sz="900" dirty="0"/>
          </a:p>
        </p:txBody>
      </p:sp>
      <p:sp>
        <p:nvSpPr>
          <p:cNvPr id="10" name="Shape 8"/>
          <p:cNvSpPr/>
          <p:nvPr/>
        </p:nvSpPr>
        <p:spPr>
          <a:xfrm>
            <a:off x="3538728" y="1069848"/>
            <a:ext cx="1124712" cy="182880"/>
          </a:xfrm>
          <a:prstGeom prst="roundRect">
            <a:avLst>
              <a:gd name="adj" fmla="val 20000"/>
            </a:avLst>
          </a:prstGeom>
          <a:solidFill>
            <a:srgbClr val="1A7A3E"/>
          </a:solidFill>
          <a:ln w="12700">
            <a:solidFill>
              <a:srgbClr val="1A7A3E"/>
            </a:solidFill>
            <a:prstDash val="solid"/>
          </a:ln>
        </p:spPr>
      </p:sp>
      <p:sp>
        <p:nvSpPr>
          <p:cNvPr id="11" name="Text 9"/>
          <p:cNvSpPr/>
          <p:nvPr/>
        </p:nvSpPr>
        <p:spPr>
          <a:xfrm>
            <a:off x="3538728" y="1069848"/>
            <a:ext cx="1124712"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SOURCE OWNED</a:t>
            </a:r>
            <a:endParaRPr lang="en-US" sz="650" dirty="0"/>
          </a:p>
        </p:txBody>
      </p:sp>
      <p:sp>
        <p:nvSpPr>
          <p:cNvPr id="12" name="Text 10"/>
          <p:cNvSpPr/>
          <p:nvPr/>
        </p:nvSpPr>
        <p:spPr>
          <a:xfrm>
            <a:off x="246888" y="1280160"/>
            <a:ext cx="4416552"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Custom Finastra build of Apache Jetspeed 1 — owns the Portlet interface, AbstractPortlet, and the entire portal aggregation engine. Full source is in the codebase.</a:t>
            </a:r>
            <a:endParaRPr lang="en-US" sz="780" dirty="0"/>
          </a:p>
        </p:txBody>
      </p:sp>
      <p:sp>
        <p:nvSpPr>
          <p:cNvPr id="13" name="Text 11"/>
          <p:cNvSpPr/>
          <p:nvPr/>
        </p:nvSpPr>
        <p:spPr>
          <a:xfrm>
            <a:off x="246888" y="1572768"/>
            <a:ext cx="4416552" cy="155448"/>
          </a:xfrm>
          <a:prstGeom prst="rect">
            <a:avLst/>
          </a:prstGeom>
          <a:noFill/>
          <a:ln/>
        </p:spPr>
        <p:txBody>
          <a:bodyPr wrap="square" lIns="0" tIns="0" rIns="0" bIns="0" rtlCol="0" anchor="ctr"/>
          <a:lstStyle/>
          <a:p>
            <a:pPr algn="l" indent="0" marL="0">
              <a:buNone/>
            </a:pPr>
            <a:r>
              <a:rPr lang="en-US" sz="750" i="1" dirty="0">
                <a:solidFill>
                  <a:srgbClr val="1A7A3E"/>
                </a:solidFill>
                <a:latin typeface="Calibri" pitchFamily="34" charset="0"/>
                <a:ea typeface="Calibri" pitchFamily="34" charset="-122"/>
                <a:cs typeface="Calibri" pitchFamily="34" charset="-120"/>
              </a:rPr>
              <a:t>→  No black-box dependency — changes are fully in our control.</a:t>
            </a:r>
            <a:endParaRPr lang="en-US" sz="750" dirty="0"/>
          </a:p>
        </p:txBody>
      </p:sp>
      <p:sp>
        <p:nvSpPr>
          <p:cNvPr id="14" name="Shape 12"/>
          <p:cNvSpPr/>
          <p:nvPr/>
        </p:nvSpPr>
        <p:spPr>
          <a:xfrm>
            <a:off x="137160" y="1810512"/>
            <a:ext cx="4937760" cy="749808"/>
          </a:xfrm>
          <a:prstGeom prst="rect">
            <a:avLst/>
          </a:prstGeom>
          <a:solidFill>
            <a:srgbClr val="F0FAF4"/>
          </a:solidFill>
          <a:ln w="12700">
            <a:solidFill>
              <a:srgbClr val="E0EAF5"/>
            </a:solidFill>
            <a:prstDash val="solid"/>
          </a:ln>
        </p:spPr>
      </p:sp>
      <p:sp>
        <p:nvSpPr>
          <p:cNvPr id="15" name="Shape 13"/>
          <p:cNvSpPr/>
          <p:nvPr/>
        </p:nvSpPr>
        <p:spPr>
          <a:xfrm>
            <a:off x="137160" y="1810512"/>
            <a:ext cx="45720" cy="749808"/>
          </a:xfrm>
          <a:prstGeom prst="rect">
            <a:avLst/>
          </a:prstGeom>
          <a:solidFill>
            <a:srgbClr val="1A7A3E"/>
          </a:solidFill>
          <a:ln w="12700">
            <a:solidFill>
              <a:srgbClr val="1A7A3E"/>
            </a:solidFill>
            <a:prstDash val="solid"/>
          </a:ln>
        </p:spPr>
      </p:sp>
      <p:sp>
        <p:nvSpPr>
          <p:cNvPr id="16" name="Text 14"/>
          <p:cNvSpPr/>
          <p:nvPr/>
        </p:nvSpPr>
        <p:spPr>
          <a:xfrm>
            <a:off x="246888" y="1865376"/>
            <a:ext cx="324612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javax.portlet.*  (Portlet API)</a:t>
            </a:r>
            <a:endParaRPr lang="en-US" sz="900" dirty="0"/>
          </a:p>
        </p:txBody>
      </p:sp>
      <p:sp>
        <p:nvSpPr>
          <p:cNvPr id="17" name="Shape 15"/>
          <p:cNvSpPr/>
          <p:nvPr/>
        </p:nvSpPr>
        <p:spPr>
          <a:xfrm>
            <a:off x="3538728" y="1874520"/>
            <a:ext cx="1124712" cy="182880"/>
          </a:xfrm>
          <a:prstGeom prst="roundRect">
            <a:avLst>
              <a:gd name="adj" fmla="val 20000"/>
            </a:avLst>
          </a:prstGeom>
          <a:solidFill>
            <a:srgbClr val="1A7A3E"/>
          </a:solidFill>
          <a:ln w="12700">
            <a:solidFill>
              <a:srgbClr val="1A7A3E"/>
            </a:solidFill>
            <a:prstDash val="solid"/>
          </a:ln>
        </p:spPr>
      </p:sp>
      <p:sp>
        <p:nvSpPr>
          <p:cNvPr id="18" name="Text 16"/>
          <p:cNvSpPr/>
          <p:nvPr/>
        </p:nvSpPr>
        <p:spPr>
          <a:xfrm>
            <a:off x="3538728" y="1874520"/>
            <a:ext cx="1124712"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NOT USED</a:t>
            </a:r>
            <a:endParaRPr lang="en-US" sz="650" dirty="0"/>
          </a:p>
        </p:txBody>
      </p:sp>
      <p:sp>
        <p:nvSpPr>
          <p:cNvPr id="19" name="Text 17"/>
          <p:cNvSpPr/>
          <p:nvPr/>
        </p:nvSpPr>
        <p:spPr>
          <a:xfrm>
            <a:off x="246888" y="2084832"/>
            <a:ext cx="4416552"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Searched across entire codebase. Zero imports found. Finastra abstracted the portlet API in 1998 through their own Portlet interface — JSR-168 was never introduced.</a:t>
            </a:r>
            <a:endParaRPr lang="en-US" sz="780" dirty="0"/>
          </a:p>
        </p:txBody>
      </p:sp>
      <p:sp>
        <p:nvSpPr>
          <p:cNvPr id="20" name="Text 18"/>
          <p:cNvSpPr/>
          <p:nvPr/>
        </p:nvSpPr>
        <p:spPr>
          <a:xfrm>
            <a:off x="246888" y="2377440"/>
            <a:ext cx="4416552" cy="155448"/>
          </a:xfrm>
          <a:prstGeom prst="rect">
            <a:avLst/>
          </a:prstGeom>
          <a:noFill/>
          <a:ln/>
        </p:spPr>
        <p:txBody>
          <a:bodyPr wrap="square" lIns="0" tIns="0" rIns="0" bIns="0" rtlCol="0" anchor="ctr"/>
          <a:lstStyle/>
          <a:p>
            <a:pPr algn="l" indent="0" marL="0">
              <a:buNone/>
            </a:pPr>
            <a:r>
              <a:rPr lang="en-US" sz="750" i="1" dirty="0">
                <a:solidFill>
                  <a:srgbClr val="1A7A3E"/>
                </a:solidFill>
                <a:latin typeface="Calibri" pitchFamily="34" charset="0"/>
                <a:ea typeface="Calibri" pitchFamily="34" charset="-122"/>
                <a:cs typeface="Calibri" pitchFamily="34" charset="-120"/>
              </a:rPr>
              <a:t>→  No portlet API rewrite required — a significant scope reduction.</a:t>
            </a:r>
            <a:endParaRPr lang="en-US" sz="750" dirty="0"/>
          </a:p>
        </p:txBody>
      </p:sp>
      <p:sp>
        <p:nvSpPr>
          <p:cNvPr id="21" name="Shape 19"/>
          <p:cNvSpPr/>
          <p:nvPr/>
        </p:nvSpPr>
        <p:spPr>
          <a:xfrm>
            <a:off x="137160" y="2615184"/>
            <a:ext cx="4937760" cy="749808"/>
          </a:xfrm>
          <a:prstGeom prst="rect">
            <a:avLst/>
          </a:prstGeom>
          <a:solidFill>
            <a:srgbClr val="FFFBEB"/>
          </a:solidFill>
          <a:ln w="12700">
            <a:solidFill>
              <a:srgbClr val="E0EAF5"/>
            </a:solidFill>
            <a:prstDash val="solid"/>
          </a:ln>
        </p:spPr>
      </p:sp>
      <p:sp>
        <p:nvSpPr>
          <p:cNvPr id="22" name="Shape 20"/>
          <p:cNvSpPr/>
          <p:nvPr/>
        </p:nvSpPr>
        <p:spPr>
          <a:xfrm>
            <a:off x="137160" y="2615184"/>
            <a:ext cx="45720" cy="749808"/>
          </a:xfrm>
          <a:prstGeom prst="rect">
            <a:avLst/>
          </a:prstGeom>
          <a:solidFill>
            <a:srgbClr val="D97706"/>
          </a:solidFill>
          <a:ln w="12700">
            <a:solidFill>
              <a:srgbClr val="D97706"/>
            </a:solidFill>
            <a:prstDash val="solid"/>
          </a:ln>
        </p:spPr>
      </p:sp>
      <p:sp>
        <p:nvSpPr>
          <p:cNvPr id="23" name="Text 21"/>
          <p:cNvSpPr/>
          <p:nvPr/>
        </p:nvSpPr>
        <p:spPr>
          <a:xfrm>
            <a:off x="246888" y="2670048"/>
            <a:ext cx="324612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PSML  (Page Registry via Castor XML)</a:t>
            </a:r>
            <a:endParaRPr lang="en-US" sz="900" dirty="0"/>
          </a:p>
        </p:txBody>
      </p:sp>
      <p:sp>
        <p:nvSpPr>
          <p:cNvPr id="24" name="Shape 22"/>
          <p:cNvSpPr/>
          <p:nvPr/>
        </p:nvSpPr>
        <p:spPr>
          <a:xfrm>
            <a:off x="3538728" y="2679192"/>
            <a:ext cx="1124712" cy="182880"/>
          </a:xfrm>
          <a:prstGeom prst="roundRect">
            <a:avLst>
              <a:gd name="adj" fmla="val 20000"/>
            </a:avLst>
          </a:prstGeom>
          <a:solidFill>
            <a:srgbClr val="D97706"/>
          </a:solidFill>
          <a:ln w="12700">
            <a:solidFill>
              <a:srgbClr val="D97706"/>
            </a:solidFill>
            <a:prstDash val="solid"/>
          </a:ln>
        </p:spPr>
      </p:sp>
      <p:sp>
        <p:nvSpPr>
          <p:cNvPr id="25" name="Text 23"/>
          <p:cNvSpPr/>
          <p:nvPr/>
        </p:nvSpPr>
        <p:spPr>
          <a:xfrm>
            <a:off x="3538728" y="2679192"/>
            <a:ext cx="1124712"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NEEDS REPLACE</a:t>
            </a:r>
            <a:endParaRPr lang="en-US" sz="650" dirty="0"/>
          </a:p>
        </p:txBody>
      </p:sp>
      <p:sp>
        <p:nvSpPr>
          <p:cNvPr id="26" name="Text 24"/>
          <p:cNvSpPr/>
          <p:nvPr/>
        </p:nvSpPr>
        <p:spPr>
          <a:xfrm>
            <a:off x="246888" y="2889504"/>
            <a:ext cx="4416552"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Portal Structure Markup Language defines which portlets appear on each page. Parsed by Castor XML — which relies on reflection that Java 17 strong encapsulation blocks.</a:t>
            </a:r>
            <a:endParaRPr lang="en-US" sz="780" dirty="0"/>
          </a:p>
        </p:txBody>
      </p:sp>
      <p:sp>
        <p:nvSpPr>
          <p:cNvPr id="27" name="Text 25"/>
          <p:cNvSpPr/>
          <p:nvPr/>
        </p:nvSpPr>
        <p:spPr>
          <a:xfrm>
            <a:off x="246888" y="3182112"/>
            <a:ext cx="4416552" cy="155448"/>
          </a:xfrm>
          <a:prstGeom prst="rect">
            <a:avLst/>
          </a:prstGeom>
          <a:noFill/>
          <a:ln/>
        </p:spPr>
        <p:txBody>
          <a:bodyPr wrap="square" lIns="0" tIns="0" rIns="0" bIns="0" rtlCol="0" anchor="ctr"/>
          <a:lstStyle/>
          <a:p>
            <a:pPr algn="l" indent="0" marL="0">
              <a:buNone/>
            </a:pPr>
            <a:r>
              <a:rPr lang="en-US" sz="750" i="1" dirty="0">
                <a:solidFill>
                  <a:srgbClr val="92400E"/>
                </a:solidFill>
                <a:latin typeface="Calibri" pitchFamily="34" charset="0"/>
                <a:ea typeface="Calibri" pitchFamily="34" charset="-122"/>
                <a:cs typeface="Calibri" pitchFamily="34" charset="-120"/>
              </a:rPr>
              <a:t>→  Parser replaced with dom4j. Page definitions and structure are unchanged.</a:t>
            </a:r>
            <a:endParaRPr lang="en-US" sz="750" dirty="0"/>
          </a:p>
        </p:txBody>
      </p:sp>
      <p:sp>
        <p:nvSpPr>
          <p:cNvPr id="28" name="Shape 26"/>
          <p:cNvSpPr/>
          <p:nvPr/>
        </p:nvSpPr>
        <p:spPr>
          <a:xfrm>
            <a:off x="137160" y="3419856"/>
            <a:ext cx="4937760" cy="749808"/>
          </a:xfrm>
          <a:prstGeom prst="rect">
            <a:avLst/>
          </a:prstGeom>
          <a:solidFill>
            <a:srgbClr val="F0FAF4"/>
          </a:solidFill>
          <a:ln w="12700">
            <a:solidFill>
              <a:srgbClr val="E0EAF5"/>
            </a:solidFill>
            <a:prstDash val="solid"/>
          </a:ln>
        </p:spPr>
      </p:sp>
      <p:sp>
        <p:nvSpPr>
          <p:cNvPr id="29" name="Shape 27"/>
          <p:cNvSpPr/>
          <p:nvPr/>
        </p:nvSpPr>
        <p:spPr>
          <a:xfrm>
            <a:off x="137160" y="3419856"/>
            <a:ext cx="45720" cy="749808"/>
          </a:xfrm>
          <a:prstGeom prst="rect">
            <a:avLst/>
          </a:prstGeom>
          <a:solidFill>
            <a:srgbClr val="1A7A3E"/>
          </a:solidFill>
          <a:ln w="12700">
            <a:solidFill>
              <a:srgbClr val="1A7A3E"/>
            </a:solidFill>
            <a:prstDash val="solid"/>
          </a:ln>
        </p:spPr>
      </p:sp>
      <p:sp>
        <p:nvSpPr>
          <p:cNvPr id="30" name="Text 28"/>
          <p:cNvSpPr/>
          <p:nvPr/>
        </p:nvSpPr>
        <p:spPr>
          <a:xfrm>
            <a:off x="246888" y="3474720"/>
            <a:ext cx="324612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ECS 1.4.2  (HTML Construction)</a:t>
            </a:r>
            <a:endParaRPr lang="en-US" sz="900" dirty="0"/>
          </a:p>
        </p:txBody>
      </p:sp>
      <p:sp>
        <p:nvSpPr>
          <p:cNvPr id="31" name="Shape 29"/>
          <p:cNvSpPr/>
          <p:nvPr/>
        </p:nvSpPr>
        <p:spPr>
          <a:xfrm>
            <a:off x="3538728" y="3483864"/>
            <a:ext cx="1124712" cy="182880"/>
          </a:xfrm>
          <a:prstGeom prst="roundRect">
            <a:avLst>
              <a:gd name="adj" fmla="val 20000"/>
            </a:avLst>
          </a:prstGeom>
          <a:solidFill>
            <a:srgbClr val="1A7A3E"/>
          </a:solidFill>
          <a:ln w="12700">
            <a:solidFill>
              <a:srgbClr val="1A7A3E"/>
            </a:solidFill>
            <a:prstDash val="solid"/>
          </a:ln>
        </p:spPr>
      </p:sp>
      <p:sp>
        <p:nvSpPr>
          <p:cNvPr id="32" name="Text 30"/>
          <p:cNvSpPr/>
          <p:nvPr/>
        </p:nvSpPr>
        <p:spPr>
          <a:xfrm>
            <a:off x="3538728" y="3483864"/>
            <a:ext cx="1124712"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VALIDATED</a:t>
            </a:r>
            <a:endParaRPr lang="en-US" sz="650" dirty="0"/>
          </a:p>
        </p:txBody>
      </p:sp>
      <p:sp>
        <p:nvSpPr>
          <p:cNvPr id="33" name="Text 31"/>
          <p:cNvSpPr/>
          <p:nvPr/>
        </p:nvSpPr>
        <p:spPr>
          <a:xfrm>
            <a:off x="246888" y="3694176"/>
            <a:ext cx="4416552"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Element Construction Set builds HTML elements (Table, TR, TD) programmatically inside each portlet before XSL transformation. Pure Java — no servlet dependency.</a:t>
            </a:r>
            <a:endParaRPr lang="en-US" sz="780" dirty="0"/>
          </a:p>
        </p:txBody>
      </p:sp>
      <p:sp>
        <p:nvSpPr>
          <p:cNvPr id="34" name="Text 32"/>
          <p:cNvSpPr/>
          <p:nvPr/>
        </p:nvSpPr>
        <p:spPr>
          <a:xfrm>
            <a:off x="246888" y="3986784"/>
            <a:ext cx="4416552" cy="155448"/>
          </a:xfrm>
          <a:prstGeom prst="rect">
            <a:avLst/>
          </a:prstGeom>
          <a:noFill/>
          <a:ln/>
        </p:spPr>
        <p:txBody>
          <a:bodyPr wrap="square" lIns="0" tIns="0" rIns="0" bIns="0" rtlCol="0" anchor="ctr"/>
          <a:lstStyle/>
          <a:p>
            <a:pPr algn="l" indent="0" marL="0">
              <a:buNone/>
            </a:pPr>
            <a:r>
              <a:rPr lang="en-US" sz="750" i="1" dirty="0">
                <a:solidFill>
                  <a:srgbClr val="1A7A3E"/>
                </a:solidFill>
                <a:latin typeface="Calibri" pitchFamily="34" charset="0"/>
                <a:ea typeface="Calibri" pitchFamily="34" charset="-122"/>
                <a:cs typeface="Calibri" pitchFamily="34" charset="-120"/>
              </a:rPr>
              <a:t>→  Confirmed compatible with Java 17. No changes required.</a:t>
            </a:r>
            <a:endParaRPr lang="en-US" sz="750" dirty="0"/>
          </a:p>
        </p:txBody>
      </p:sp>
      <p:sp>
        <p:nvSpPr>
          <p:cNvPr id="35" name="Shape 33"/>
          <p:cNvSpPr/>
          <p:nvPr/>
        </p:nvSpPr>
        <p:spPr>
          <a:xfrm>
            <a:off x="137160" y="4224528"/>
            <a:ext cx="4937760" cy="749808"/>
          </a:xfrm>
          <a:prstGeom prst="rect">
            <a:avLst/>
          </a:prstGeom>
          <a:solidFill>
            <a:srgbClr val="F0FAF4"/>
          </a:solidFill>
          <a:ln w="12700">
            <a:solidFill>
              <a:srgbClr val="E0EAF5"/>
            </a:solidFill>
            <a:prstDash val="solid"/>
          </a:ln>
        </p:spPr>
      </p:sp>
      <p:sp>
        <p:nvSpPr>
          <p:cNvPr id="36" name="Shape 34"/>
          <p:cNvSpPr/>
          <p:nvPr/>
        </p:nvSpPr>
        <p:spPr>
          <a:xfrm>
            <a:off x="137160" y="4224528"/>
            <a:ext cx="45720" cy="749808"/>
          </a:xfrm>
          <a:prstGeom prst="rect">
            <a:avLst/>
          </a:prstGeom>
          <a:solidFill>
            <a:srgbClr val="1A7A3E"/>
          </a:solidFill>
          <a:ln w="12700">
            <a:solidFill>
              <a:srgbClr val="1A7A3E"/>
            </a:solidFill>
            <a:prstDash val="solid"/>
          </a:ln>
        </p:spPr>
      </p:sp>
      <p:sp>
        <p:nvSpPr>
          <p:cNvPr id="37" name="Text 35"/>
          <p:cNvSpPr/>
          <p:nvPr/>
        </p:nvSpPr>
        <p:spPr>
          <a:xfrm>
            <a:off x="246888" y="4279392"/>
            <a:ext cx="324612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Xalan + XSL  /  Dojo  (Rendering &amp; UI)</a:t>
            </a:r>
            <a:endParaRPr lang="en-US" sz="900" dirty="0"/>
          </a:p>
        </p:txBody>
      </p:sp>
      <p:sp>
        <p:nvSpPr>
          <p:cNvPr id="38" name="Shape 36"/>
          <p:cNvSpPr/>
          <p:nvPr/>
        </p:nvSpPr>
        <p:spPr>
          <a:xfrm>
            <a:off x="3538728" y="4288536"/>
            <a:ext cx="1124712" cy="182880"/>
          </a:xfrm>
          <a:prstGeom prst="roundRect">
            <a:avLst>
              <a:gd name="adj" fmla="val 20000"/>
            </a:avLst>
          </a:prstGeom>
          <a:solidFill>
            <a:srgbClr val="1A7A3E"/>
          </a:solidFill>
          <a:ln w="12700">
            <a:solidFill>
              <a:srgbClr val="1A7A3E"/>
            </a:solidFill>
            <a:prstDash val="solid"/>
          </a:ln>
        </p:spPr>
      </p:sp>
      <p:sp>
        <p:nvSpPr>
          <p:cNvPr id="39" name="Text 37"/>
          <p:cNvSpPr/>
          <p:nvPr/>
        </p:nvSpPr>
        <p:spPr>
          <a:xfrm>
            <a:off x="3538728" y="4288536"/>
            <a:ext cx="1124712"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MINOR PATCH</a:t>
            </a:r>
            <a:endParaRPr lang="en-US" sz="650" dirty="0"/>
          </a:p>
        </p:txBody>
      </p:sp>
      <p:sp>
        <p:nvSpPr>
          <p:cNvPr id="40" name="Text 38"/>
          <p:cNvSpPr/>
          <p:nvPr/>
        </p:nvSpPr>
        <p:spPr>
          <a:xfrm>
            <a:off x="246888" y="4498848"/>
            <a:ext cx="4416552"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Xalan transforms portlet output via XSL stylesheets. Dojo handles client-side UI. Both operate independently of the server-side Java version.</a:t>
            </a:r>
            <a:endParaRPr lang="en-US" sz="780" dirty="0"/>
          </a:p>
        </p:txBody>
      </p:sp>
      <p:sp>
        <p:nvSpPr>
          <p:cNvPr id="41" name="Text 39"/>
          <p:cNvSpPr/>
          <p:nvPr/>
        </p:nvSpPr>
        <p:spPr>
          <a:xfrm>
            <a:off x="246888" y="4791456"/>
            <a:ext cx="4416552" cy="155448"/>
          </a:xfrm>
          <a:prstGeom prst="rect">
            <a:avLst/>
          </a:prstGeom>
          <a:noFill/>
          <a:ln/>
        </p:spPr>
        <p:txBody>
          <a:bodyPr wrap="square" lIns="0" tIns="0" rIns="0" bIns="0" rtlCol="0" anchor="ctr"/>
          <a:lstStyle/>
          <a:p>
            <a:pPr algn="l" indent="0" marL="0">
              <a:buNone/>
            </a:pPr>
            <a:r>
              <a:rPr lang="en-US" sz="750" i="1" dirty="0">
                <a:solidFill>
                  <a:srgbClr val="1A7A3E"/>
                </a:solidFill>
                <a:latin typeface="Calibri" pitchFamily="34" charset="0"/>
                <a:ea typeface="Calibri" pitchFamily="34" charset="-122"/>
                <a:cs typeface="Calibri" pitchFamily="34" charset="-120"/>
              </a:rPr>
              <a:t>→  Xalan 2.7.2 → 2.7.3 (CVE fix only). Dojo is untouched.</a:t>
            </a:r>
            <a:endParaRPr lang="en-US" sz="750" dirty="0"/>
          </a:p>
        </p:txBody>
      </p:sp>
      <p:sp>
        <p:nvSpPr>
          <p:cNvPr id="42" name="Text 40"/>
          <p:cNvSpPr/>
          <p:nvPr/>
        </p:nvSpPr>
        <p:spPr>
          <a:xfrm>
            <a:off x="5376672" y="749808"/>
            <a:ext cx="356616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KEY FINDINGS</a:t>
            </a:r>
            <a:endParaRPr lang="en-US" sz="750" dirty="0"/>
          </a:p>
        </p:txBody>
      </p:sp>
      <p:sp>
        <p:nvSpPr>
          <p:cNvPr id="43" name="Shape 41"/>
          <p:cNvSpPr/>
          <p:nvPr/>
        </p:nvSpPr>
        <p:spPr>
          <a:xfrm>
            <a:off x="5349240" y="1005840"/>
            <a:ext cx="3611880" cy="1719072"/>
          </a:xfrm>
          <a:prstGeom prst="rect">
            <a:avLst/>
          </a:prstGeom>
          <a:solidFill>
            <a:srgbClr val="F0FAF4"/>
          </a:solidFill>
          <a:ln w="12700">
            <a:solidFill>
              <a:srgbClr val="B7E4C7"/>
            </a:solidFill>
            <a:prstDash val="solid"/>
          </a:ln>
        </p:spPr>
      </p:sp>
      <p:sp>
        <p:nvSpPr>
          <p:cNvPr id="44" name="Shape 42"/>
          <p:cNvSpPr/>
          <p:nvPr/>
        </p:nvSpPr>
        <p:spPr>
          <a:xfrm>
            <a:off x="5349240" y="1005840"/>
            <a:ext cx="45720" cy="1719072"/>
          </a:xfrm>
          <a:prstGeom prst="rect">
            <a:avLst/>
          </a:prstGeom>
          <a:solidFill>
            <a:srgbClr val="1A7A3E"/>
          </a:solidFill>
          <a:ln w="12700">
            <a:solidFill>
              <a:srgbClr val="1A7A3E"/>
            </a:solidFill>
            <a:prstDash val="solid"/>
          </a:ln>
        </p:spPr>
      </p:sp>
      <p:sp>
        <p:nvSpPr>
          <p:cNvPr id="45" name="Text 43"/>
          <p:cNvSpPr/>
          <p:nvPr/>
        </p:nvSpPr>
        <p:spPr>
          <a:xfrm>
            <a:off x="5440680" y="1033272"/>
            <a:ext cx="3474720" cy="621792"/>
          </a:xfrm>
          <a:prstGeom prst="rect">
            <a:avLst/>
          </a:prstGeom>
          <a:noFill/>
          <a:ln/>
        </p:spPr>
        <p:txBody>
          <a:bodyPr wrap="square" lIns="0" tIns="0" rIns="0" bIns="0" rtlCol="0" anchor="ctr"/>
          <a:lstStyle/>
          <a:p>
            <a:pPr algn="l" indent="0" marL="0">
              <a:buNone/>
            </a:pPr>
            <a:r>
              <a:rPr lang="en-US" sz="5400" b="1" dirty="0">
                <a:solidFill>
                  <a:srgbClr val="C8EFD4"/>
                </a:solidFill>
                <a:latin typeface="Calibri" pitchFamily="34" charset="0"/>
                <a:ea typeface="Calibri" pitchFamily="34" charset="-122"/>
                <a:cs typeface="Calibri" pitchFamily="34" charset="-120"/>
              </a:rPr>
              <a:t>0</a:t>
            </a:r>
            <a:endParaRPr lang="en-US" sz="5400" dirty="0"/>
          </a:p>
        </p:txBody>
      </p:sp>
      <p:sp>
        <p:nvSpPr>
          <p:cNvPr id="46" name="Text 44"/>
          <p:cNvSpPr/>
          <p:nvPr/>
        </p:nvSpPr>
        <p:spPr>
          <a:xfrm>
            <a:off x="5440680" y="1609344"/>
            <a:ext cx="3474720" cy="219456"/>
          </a:xfrm>
          <a:prstGeom prst="rect">
            <a:avLst/>
          </a:prstGeom>
          <a:noFill/>
          <a:ln/>
        </p:spPr>
        <p:txBody>
          <a:bodyPr wrap="square" lIns="0" tIns="0" rIns="0" bIns="0" rtlCol="0" anchor="ctr"/>
          <a:lstStyle/>
          <a:p>
            <a:pPr algn="l" indent="0" marL="0">
              <a:buNone/>
            </a:pPr>
            <a:r>
              <a:rPr lang="en-US" sz="1200" b="1" dirty="0">
                <a:solidFill>
                  <a:srgbClr val="1A7A3E"/>
                </a:solidFill>
                <a:latin typeface="Calibri" pitchFamily="34" charset="0"/>
                <a:ea typeface="Calibri" pitchFamily="34" charset="-122"/>
                <a:cs typeface="Calibri" pitchFamily="34" charset="-120"/>
              </a:rPr>
              <a:t>javax.portlet.* imports</a:t>
            </a:r>
            <a:endParaRPr lang="en-US" sz="1200" dirty="0"/>
          </a:p>
        </p:txBody>
      </p:sp>
      <p:sp>
        <p:nvSpPr>
          <p:cNvPr id="47" name="Text 45"/>
          <p:cNvSpPr/>
          <p:nvPr/>
        </p:nvSpPr>
        <p:spPr>
          <a:xfrm>
            <a:off x="5440680" y="1819656"/>
            <a:ext cx="3474720" cy="182880"/>
          </a:xfrm>
          <a:prstGeom prst="rect">
            <a:avLst/>
          </a:prstGeom>
          <a:noFill/>
          <a:ln/>
        </p:spPr>
        <p:txBody>
          <a:bodyPr wrap="square" lIns="0" tIns="0" rIns="0" bIns="0" rtlCol="0" anchor="ctr"/>
          <a:lstStyle/>
          <a:p>
            <a:pPr algn="l" indent="0" marL="0">
              <a:buNone/>
            </a:pPr>
            <a:r>
              <a:rPr lang="en-US" sz="900" dirty="0">
                <a:solidFill>
                  <a:srgbClr val="6B7E94"/>
                </a:solidFill>
                <a:latin typeface="Calibri" pitchFamily="34" charset="0"/>
                <a:ea typeface="Calibri" pitchFamily="34" charset="-122"/>
                <a:cs typeface="Calibri" pitchFamily="34" charset="-120"/>
              </a:rPr>
              <a:t>found across the entire codebase</a:t>
            </a:r>
            <a:endParaRPr lang="en-US" sz="900" dirty="0"/>
          </a:p>
        </p:txBody>
      </p:sp>
      <p:sp>
        <p:nvSpPr>
          <p:cNvPr id="48" name="Text 46"/>
          <p:cNvSpPr/>
          <p:nvPr/>
        </p:nvSpPr>
        <p:spPr>
          <a:xfrm>
            <a:off x="5440680" y="2048256"/>
            <a:ext cx="3474720" cy="621792"/>
          </a:xfrm>
          <a:prstGeom prst="rect">
            <a:avLst/>
          </a:prstGeom>
          <a:noFill/>
          <a:ln/>
        </p:spPr>
        <p:txBody>
          <a:bodyPr wrap="square" lIns="0" tIns="0" rIns="0" bIns="0" rtlCol="0" anchor="ctr"/>
          <a:lstStyle/>
          <a:p>
            <a:pPr algn="l" indent="0" marL="0">
              <a:buNone/>
            </a:pPr>
            <a:r>
              <a:rPr lang="en-US" sz="850" dirty="0">
                <a:solidFill>
                  <a:srgbClr val="2D6A4F"/>
                </a:solidFill>
                <a:latin typeface="Calibri" pitchFamily="34" charset="0"/>
                <a:ea typeface="Calibri" pitchFamily="34" charset="-122"/>
                <a:cs typeface="Calibri" pitchFamily="34" charset="-120"/>
              </a:rPr>
              <a:t>Finastra built their own portlet abstraction in 1998 — before JSR-168 existed. The view layer needs no portlet API rewrite. This is one of the most significant scope reductions in the entire assessment.</a:t>
            </a:r>
            <a:endParaRPr lang="en-US" sz="850" dirty="0"/>
          </a:p>
        </p:txBody>
      </p:sp>
      <p:sp>
        <p:nvSpPr>
          <p:cNvPr id="49" name="Shape 47"/>
          <p:cNvSpPr/>
          <p:nvPr/>
        </p:nvSpPr>
        <p:spPr>
          <a:xfrm>
            <a:off x="5349240" y="2834640"/>
            <a:ext cx="3611880" cy="1901952"/>
          </a:xfrm>
          <a:prstGeom prst="rect">
            <a:avLst/>
          </a:prstGeom>
          <a:solidFill>
            <a:srgbClr val="EFF6FF"/>
          </a:solidFill>
          <a:ln w="12700">
            <a:solidFill>
              <a:srgbClr val="BFDBFE"/>
            </a:solidFill>
            <a:prstDash val="solid"/>
          </a:ln>
        </p:spPr>
      </p:sp>
      <p:sp>
        <p:nvSpPr>
          <p:cNvPr id="50" name="Shape 48"/>
          <p:cNvSpPr/>
          <p:nvPr/>
        </p:nvSpPr>
        <p:spPr>
          <a:xfrm>
            <a:off x="5349240" y="2834640"/>
            <a:ext cx="45720" cy="1901952"/>
          </a:xfrm>
          <a:prstGeom prst="rect">
            <a:avLst/>
          </a:prstGeom>
          <a:solidFill>
            <a:srgbClr val="0072BC"/>
          </a:solidFill>
          <a:ln w="12700">
            <a:solidFill>
              <a:srgbClr val="0072BC"/>
            </a:solidFill>
            <a:prstDash val="solid"/>
          </a:ln>
        </p:spPr>
      </p:sp>
      <p:sp>
        <p:nvSpPr>
          <p:cNvPr id="51" name="Text 49"/>
          <p:cNvSpPr/>
          <p:nvPr/>
        </p:nvSpPr>
        <p:spPr>
          <a:xfrm>
            <a:off x="5440680" y="2889504"/>
            <a:ext cx="3474720" cy="237744"/>
          </a:xfrm>
          <a:prstGeom prst="rect">
            <a:avLst/>
          </a:prstGeom>
          <a:noFill/>
          <a:ln/>
        </p:spPr>
        <p:txBody>
          <a:bodyPr wrap="square" lIns="0" tIns="0" rIns="0" bIns="0" rtlCol="0" anchor="ctr"/>
          <a:lstStyle/>
          <a:p>
            <a:pPr algn="l" indent="0" marL="0">
              <a:buNone/>
            </a:pPr>
            <a:r>
              <a:rPr lang="en-US" sz="1100" b="1" dirty="0">
                <a:solidFill>
                  <a:srgbClr val="0072BC"/>
                </a:solidFill>
                <a:latin typeface="Calibri" pitchFamily="34" charset="0"/>
                <a:ea typeface="Calibri" pitchFamily="34" charset="-122"/>
                <a:cs typeface="Calibri" pitchFamily="34" charset="-120"/>
              </a:rPr>
              <a:t>Migration approach — view layer</a:t>
            </a:r>
            <a:endParaRPr lang="en-US" sz="1100" dirty="0"/>
          </a:p>
        </p:txBody>
      </p:sp>
      <p:sp>
        <p:nvSpPr>
          <p:cNvPr id="52" name="Text 50"/>
          <p:cNvSpPr/>
          <p:nvPr/>
        </p:nvSpPr>
        <p:spPr>
          <a:xfrm>
            <a:off x="5440680" y="3145536"/>
            <a:ext cx="3474720" cy="292608"/>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Because we own the abstraction source, migration is applied at the base class level — not portlet by portlet.</a:t>
            </a:r>
            <a:endParaRPr lang="en-US" sz="850" dirty="0"/>
          </a:p>
        </p:txBody>
      </p:sp>
      <p:sp>
        <p:nvSpPr>
          <p:cNvPr id="53" name="Shape 51"/>
          <p:cNvSpPr/>
          <p:nvPr/>
        </p:nvSpPr>
        <p:spPr>
          <a:xfrm>
            <a:off x="5440680" y="3474720"/>
            <a:ext cx="3456432" cy="237744"/>
          </a:xfrm>
          <a:prstGeom prst="rect">
            <a:avLst/>
          </a:prstGeom>
          <a:solidFill>
            <a:srgbClr val="DBEAFE"/>
          </a:solidFill>
          <a:ln w="12700">
            <a:solidFill>
              <a:srgbClr val="93C5FD"/>
            </a:solidFill>
            <a:prstDash val="solid"/>
          </a:ln>
        </p:spPr>
      </p:sp>
      <p:sp>
        <p:nvSpPr>
          <p:cNvPr id="54" name="Text 52"/>
          <p:cNvSpPr/>
          <p:nvPr/>
        </p:nvSpPr>
        <p:spPr>
          <a:xfrm>
            <a:off x="5440680" y="3474720"/>
            <a:ext cx="3456432" cy="237744"/>
          </a:xfrm>
          <a:prstGeom prst="rect">
            <a:avLst/>
          </a:prstGeom>
          <a:noFill/>
          <a:ln/>
        </p:spPr>
        <p:txBody>
          <a:bodyPr wrap="square" lIns="0" tIns="0" rIns="0" bIns="0" rtlCol="0" anchor="ctr"/>
          <a:lstStyle/>
          <a:p>
            <a:pPr algn="ctr" indent="0" marL="0">
              <a:buNone/>
            </a:pPr>
            <a:r>
              <a:rPr lang="en-US" sz="800" b="1" dirty="0">
                <a:solidFill>
                  <a:srgbClr val="0D2B4E"/>
                </a:solidFill>
                <a:latin typeface="Calibri" pitchFamily="34" charset="0"/>
                <a:ea typeface="Calibri" pitchFamily="34" charset="-122"/>
                <a:cs typeface="Calibri" pitchFamily="34" charset="-120"/>
              </a:rPr>
              <a:t>ActionPortlet  →  GTPRootPortlet  →  AbstractPortlet  →  Portlet</a:t>
            </a:r>
            <a:endParaRPr lang="en-US" sz="800" dirty="0"/>
          </a:p>
        </p:txBody>
      </p:sp>
      <p:sp>
        <p:nvSpPr>
          <p:cNvPr id="55" name="Text 53"/>
          <p:cNvSpPr/>
          <p:nvPr/>
        </p:nvSpPr>
        <p:spPr>
          <a:xfrm>
            <a:off x="5440680" y="3840480"/>
            <a:ext cx="3474720" cy="420624"/>
          </a:xfrm>
          <a:prstGeom prst="rect">
            <a:avLst/>
          </a:prstGeom>
          <a:noFill/>
          <a:ln/>
        </p:spPr>
        <p:txBody>
          <a:bodyPr wrap="square" lIns="0" tIns="0" rIns="0" bIns="0" rtlCol="0" anchor="ctr"/>
          <a:lstStyle/>
          <a:p>
            <a:pPr algn="l" indent="0" marL="0">
              <a:buNone/>
            </a:pPr>
            <a:r>
              <a:rPr lang="en-US" sz="850" dirty="0">
                <a:solidFill>
                  <a:srgbClr val="1E40AF"/>
                </a:solidFill>
                <a:latin typeface="Calibri" pitchFamily="34" charset="0"/>
                <a:ea typeface="Calibri" pitchFamily="34" charset="-122"/>
                <a:cs typeface="Calibri" pitchFamily="34" charset="-120"/>
              </a:rPr>
              <a:t>Updating these base classes propagates through inheritance — individual portlet business logic is not touched. However, deprecated methods and interface changes in the base chain require careful analysis and rework at each level.</a:t>
            </a:r>
            <a:endParaRPr lang="en-US" sz="850" dirty="0"/>
          </a:p>
        </p:txBody>
      </p:sp>
      <p:sp>
        <p:nvSpPr>
          <p:cNvPr id="56" name="Text 54"/>
          <p:cNvSpPr/>
          <p:nvPr/>
        </p:nvSpPr>
        <p:spPr>
          <a:xfrm>
            <a:off x="5440680" y="4297680"/>
            <a:ext cx="3474720" cy="182880"/>
          </a:xfrm>
          <a:prstGeom prst="rect">
            <a:avLst/>
          </a:prstGeom>
          <a:noFill/>
          <a:ln/>
        </p:spPr>
        <p:txBody>
          <a:bodyPr wrap="square" lIns="0" tIns="0" rIns="0" bIns="0" rtlCol="0" anchor="ctr"/>
          <a:lstStyle/>
          <a:p>
            <a:pPr algn="l" indent="0" marL="0">
              <a:buNone/>
            </a:pPr>
            <a:r>
              <a:rPr lang="en-US" sz="850" b="1" dirty="0">
                <a:solidFill>
                  <a:srgbClr val="D97706"/>
                </a:solidFill>
                <a:latin typeface="Calibri" pitchFamily="34" charset="0"/>
                <a:ea typeface="Calibri" pitchFamily="34" charset="-122"/>
                <a:cs typeface="Calibri" pitchFamily="34" charset="-120"/>
              </a:rPr>
              <a:t>→  Base class changes cascade to all portlets — a dedicated, structured effort.</a:t>
            </a:r>
            <a:endParaRPr lang="en-US" sz="850" dirty="0"/>
          </a:p>
        </p:txBody>
      </p:sp>
      <p:sp>
        <p:nvSpPr>
          <p:cNvPr id="57" name="Text 55"/>
          <p:cNvSpPr/>
          <p:nvPr/>
        </p:nvSpPr>
        <p:spPr>
          <a:xfrm>
            <a:off x="5440680" y="4498848"/>
            <a:ext cx="3474720" cy="182880"/>
          </a:xfrm>
          <a:prstGeom prst="rect">
            <a:avLst/>
          </a:prstGeom>
          <a:noFill/>
          <a:ln/>
        </p:spPr>
        <p:txBody>
          <a:bodyPr wrap="square" lIns="0" tIns="0" rIns="0" bIns="0" rtlCol="0" anchor="ctr"/>
          <a:lstStyle/>
          <a:p>
            <a:pPr algn="l" indent="0" marL="0">
              <a:buNone/>
            </a:pPr>
            <a:r>
              <a:rPr lang="en-US" sz="850" b="1" dirty="0">
                <a:solidFill>
                  <a:srgbClr val="0072BC"/>
                </a:solidFill>
                <a:latin typeface="Calibri" pitchFamily="34" charset="0"/>
                <a:ea typeface="Calibri" pitchFamily="34" charset="-122"/>
                <a:cs typeface="Calibri" pitchFamily="34" charset="-120"/>
              </a:rPr>
              <a:t>→  Scope is bounded at the abstraction layer — not a full portlet rewrite.</a:t>
            </a:r>
            <a:endParaRPr lang="en-US" sz="850" dirty="0"/>
          </a:p>
        </p:txBody>
      </p:sp>
      <p:sp>
        <p:nvSpPr>
          <p:cNvPr id="58" name="Shape 56"/>
          <p:cNvSpPr/>
          <p:nvPr/>
        </p:nvSpPr>
        <p:spPr>
          <a:xfrm>
            <a:off x="0" y="4764024"/>
            <a:ext cx="9144000" cy="283464"/>
          </a:xfrm>
          <a:prstGeom prst="rect">
            <a:avLst/>
          </a:prstGeom>
          <a:solidFill>
            <a:srgbClr val="1A3A5C"/>
          </a:solidFill>
          <a:ln w="12700">
            <a:solidFill>
              <a:srgbClr val="1A3A5C"/>
            </a:solidFill>
            <a:prstDash val="solid"/>
          </a:ln>
        </p:spPr>
      </p:sp>
      <p:sp>
        <p:nvSpPr>
          <p:cNvPr id="59" name="Text 57"/>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View layer source is fully owned  ·  Migration is targeted at the abstraction layer  ·  Not a rewrite</a:t>
            </a:r>
            <a:endParaRPr lang="en-US" sz="850" dirty="0"/>
          </a:p>
        </p:txBody>
      </p:sp>
      <p:sp>
        <p:nvSpPr>
          <p:cNvPr id="60" name="Shape 58"/>
          <p:cNvSpPr/>
          <p:nvPr/>
        </p:nvSpPr>
        <p:spPr>
          <a:xfrm>
            <a:off x="0" y="5047488"/>
            <a:ext cx="9144000" cy="96012"/>
          </a:xfrm>
          <a:prstGeom prst="rect">
            <a:avLst/>
          </a:prstGeom>
          <a:solidFill>
            <a:srgbClr val="091525"/>
          </a:solidFill>
          <a:ln w="12700">
            <a:solidFill>
              <a:srgbClr val="091525"/>
            </a:solidFill>
            <a:prstDash val="solid"/>
          </a:ln>
        </p:spPr>
      </p:sp>
      <p:sp>
        <p:nvSpPr>
          <p:cNvPr id="61" name="Text 59"/>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3152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Data Layer  —  Torque ORM  &amp;  Database Interaction</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ORM layer for core GEB entities  ·  Sensitive area — directly tied to GEB's core data tables</a:t>
            </a:r>
            <a:endParaRPr lang="en-US" sz="900" dirty="0"/>
          </a:p>
        </p:txBody>
      </p:sp>
      <p:sp>
        <p:nvSpPr>
          <p:cNvPr id="5" name="Shape 3"/>
          <p:cNvSpPr/>
          <p:nvPr/>
        </p:nvSpPr>
        <p:spPr>
          <a:xfrm>
            <a:off x="5074920" y="713232"/>
            <a:ext cx="27432" cy="4050792"/>
          </a:xfrm>
          <a:prstGeom prst="rect">
            <a:avLst/>
          </a:prstGeom>
          <a:solidFill>
            <a:srgbClr val="D0DCE8"/>
          </a:solidFill>
          <a:ln w="12700">
            <a:solidFill>
              <a:srgbClr val="D0DCE8"/>
            </a:solidFill>
            <a:prstDash val="solid"/>
          </a:ln>
        </p:spPr>
      </p:sp>
      <p:sp>
        <p:nvSpPr>
          <p:cNvPr id="6" name="Shape 4"/>
          <p:cNvSpPr/>
          <p:nvPr/>
        </p:nvSpPr>
        <p:spPr>
          <a:xfrm>
            <a:off x="137160" y="777240"/>
            <a:ext cx="4800600" cy="566928"/>
          </a:xfrm>
          <a:prstGeom prst="rect">
            <a:avLst/>
          </a:prstGeom>
          <a:solidFill>
            <a:srgbClr val="1A3A5C"/>
          </a:solidFill>
          <a:ln w="12700">
            <a:solidFill>
              <a:srgbClr val="1A3A5C"/>
            </a:solidFill>
            <a:prstDash val="solid"/>
          </a:ln>
        </p:spPr>
      </p:sp>
      <p:sp>
        <p:nvSpPr>
          <p:cNvPr id="7" name="Text 5"/>
          <p:cNvSpPr/>
          <p:nvPr/>
        </p:nvSpPr>
        <p:spPr>
          <a:xfrm>
            <a:off x="228600" y="777240"/>
            <a:ext cx="1005840" cy="566928"/>
          </a:xfrm>
          <a:prstGeom prst="rect">
            <a:avLst/>
          </a:prstGeom>
          <a:noFill/>
          <a:ln/>
        </p:spPr>
        <p:txBody>
          <a:bodyPr wrap="square" lIns="0" tIns="0" rIns="0" bIns="0" rtlCol="0" anchor="ctr"/>
          <a:lstStyle/>
          <a:p>
            <a:pPr algn="l" indent="0" marL="0">
              <a:buNone/>
            </a:pPr>
            <a:r>
              <a:rPr lang="en-US" sz="3600" b="1" dirty="0">
                <a:solidFill>
                  <a:srgbClr val="0072BC"/>
                </a:solidFill>
                <a:latin typeface="Calibri" pitchFamily="34" charset="0"/>
                <a:ea typeface="Calibri" pitchFamily="34" charset="-122"/>
                <a:cs typeface="Calibri" pitchFamily="34" charset="-120"/>
              </a:rPr>
              <a:t>472</a:t>
            </a:r>
            <a:endParaRPr lang="en-US" sz="3600" dirty="0"/>
          </a:p>
        </p:txBody>
      </p:sp>
      <p:sp>
        <p:nvSpPr>
          <p:cNvPr id="8" name="Text 6"/>
          <p:cNvSpPr/>
          <p:nvPr/>
        </p:nvSpPr>
        <p:spPr>
          <a:xfrm>
            <a:off x="1234440" y="777240"/>
            <a:ext cx="3566160" cy="292608"/>
          </a:xfrm>
          <a:prstGeom prst="rect">
            <a:avLst/>
          </a:prstGeom>
          <a:noFill/>
          <a:ln/>
        </p:spPr>
        <p:txBody>
          <a:bodyPr wrap="square" lIns="0" tIns="0" rIns="0" bIns="0" rtlCol="0" anchor="b"/>
          <a:lstStyle/>
          <a:p>
            <a:pPr algn="l" indent="0" marL="0">
              <a:buNone/>
            </a:pPr>
            <a:r>
              <a:rPr lang="en-US" sz="1000" b="1" dirty="0">
                <a:solidFill>
                  <a:srgbClr val="FFFFFF"/>
                </a:solidFill>
                <a:latin typeface="Calibri" pitchFamily="34" charset="0"/>
                <a:ea typeface="Calibri" pitchFamily="34" charset="-122"/>
                <a:cs typeface="Calibri" pitchFamily="34" charset="-120"/>
              </a:rPr>
              <a:t>Torque API references found across GEB source code</a:t>
            </a:r>
            <a:endParaRPr lang="en-US" sz="1000" dirty="0"/>
          </a:p>
        </p:txBody>
      </p:sp>
      <p:sp>
        <p:nvSpPr>
          <p:cNvPr id="9" name="Text 7"/>
          <p:cNvSpPr/>
          <p:nvPr/>
        </p:nvSpPr>
        <p:spPr>
          <a:xfrm>
            <a:off x="1234440" y="1069848"/>
            <a:ext cx="3566160" cy="219456"/>
          </a:xfrm>
          <a:prstGeom prst="rect">
            <a:avLst/>
          </a:prstGeom>
          <a:noFill/>
          <a:ln/>
        </p:spPr>
        <p:txBody>
          <a:bodyPr wrap="square" lIns="0" tIns="0" rIns="0" bIns="0" rtlCol="0" anchor="t"/>
          <a:lstStyle/>
          <a:p>
            <a:pPr algn="l" indent="0" marL="0">
              <a:buNone/>
            </a:pPr>
            <a:r>
              <a:rPr lang="en-US" sz="800" dirty="0">
                <a:solidFill>
                  <a:srgbClr val="6B7E94"/>
                </a:solidFill>
                <a:latin typeface="Calibri" pitchFamily="34" charset="0"/>
                <a:ea typeface="Calibri" pitchFamily="34" charset="-122"/>
                <a:cs typeface="Calibri" pitchFamily="34" charset="-120"/>
              </a:rPr>
              <a:t>Identified from codebase scan — used selectively for ORM operations on core GEB entities</a:t>
            </a:r>
            <a:endParaRPr lang="en-US" sz="800" dirty="0"/>
          </a:p>
        </p:txBody>
      </p:sp>
      <p:sp>
        <p:nvSpPr>
          <p:cNvPr id="10" name="Text 8"/>
          <p:cNvSpPr/>
          <p:nvPr/>
        </p:nvSpPr>
        <p:spPr>
          <a:xfrm>
            <a:off x="182880" y="1444752"/>
            <a:ext cx="475488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TORQUE API CLASSES IDENTIFIED IN CODEBASE</a:t>
            </a:r>
            <a:endParaRPr lang="en-US" sz="750" dirty="0"/>
          </a:p>
        </p:txBody>
      </p:sp>
      <p:sp>
        <p:nvSpPr>
          <p:cNvPr id="11" name="Shape 9"/>
          <p:cNvSpPr/>
          <p:nvPr/>
        </p:nvSpPr>
        <p:spPr>
          <a:xfrm>
            <a:off x="137160" y="1682496"/>
            <a:ext cx="4800600" cy="384048"/>
          </a:xfrm>
          <a:prstGeom prst="rect">
            <a:avLst/>
          </a:prstGeom>
          <a:solidFill>
            <a:srgbClr val="FFFFFF"/>
          </a:solidFill>
          <a:ln w="12700">
            <a:solidFill>
              <a:srgbClr val="E0EAF5"/>
            </a:solidFill>
            <a:prstDash val="solid"/>
          </a:ln>
        </p:spPr>
      </p:sp>
      <p:sp>
        <p:nvSpPr>
          <p:cNvPr id="12" name="Shape 10"/>
          <p:cNvSpPr/>
          <p:nvPr/>
        </p:nvSpPr>
        <p:spPr>
          <a:xfrm>
            <a:off x="137160" y="1682496"/>
            <a:ext cx="45720" cy="384048"/>
          </a:xfrm>
          <a:prstGeom prst="rect">
            <a:avLst/>
          </a:prstGeom>
          <a:solidFill>
            <a:srgbClr val="1A7A3E"/>
          </a:solidFill>
          <a:ln w="12700">
            <a:solidFill>
              <a:srgbClr val="1A7A3E"/>
            </a:solidFill>
            <a:prstDash val="solid"/>
          </a:ln>
        </p:spPr>
      </p:sp>
      <p:sp>
        <p:nvSpPr>
          <p:cNvPr id="13" name="Text 11"/>
          <p:cNvSpPr/>
          <p:nvPr/>
        </p:nvSpPr>
        <p:spPr>
          <a:xfrm>
            <a:off x="246888" y="1719072"/>
            <a:ext cx="1737360" cy="182880"/>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Persistent</a:t>
            </a:r>
            <a:endParaRPr lang="en-US" sz="850" dirty="0"/>
          </a:p>
        </p:txBody>
      </p:sp>
      <p:sp>
        <p:nvSpPr>
          <p:cNvPr id="14" name="Text 12"/>
          <p:cNvSpPr/>
          <p:nvPr/>
        </p:nvSpPr>
        <p:spPr>
          <a:xfrm>
            <a:off x="246888" y="1883664"/>
            <a:ext cx="4572000" cy="16459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AVAILABLE in Torque 5.x — interface retained, minor signature updates only</a:t>
            </a:r>
            <a:endParaRPr lang="en-US" sz="750" dirty="0"/>
          </a:p>
        </p:txBody>
      </p:sp>
      <p:sp>
        <p:nvSpPr>
          <p:cNvPr id="15" name="Shape 13"/>
          <p:cNvSpPr/>
          <p:nvPr/>
        </p:nvSpPr>
        <p:spPr>
          <a:xfrm>
            <a:off x="137160" y="2103120"/>
            <a:ext cx="4800600" cy="384048"/>
          </a:xfrm>
          <a:prstGeom prst="rect">
            <a:avLst/>
          </a:prstGeom>
          <a:solidFill>
            <a:srgbClr val="FFFFFF"/>
          </a:solidFill>
          <a:ln w="12700">
            <a:solidFill>
              <a:srgbClr val="E0EAF5"/>
            </a:solidFill>
            <a:prstDash val="solid"/>
          </a:ln>
        </p:spPr>
      </p:sp>
      <p:sp>
        <p:nvSpPr>
          <p:cNvPr id="16" name="Shape 14"/>
          <p:cNvSpPr/>
          <p:nvPr/>
        </p:nvSpPr>
        <p:spPr>
          <a:xfrm>
            <a:off x="137160" y="2103120"/>
            <a:ext cx="45720" cy="384048"/>
          </a:xfrm>
          <a:prstGeom prst="rect">
            <a:avLst/>
          </a:prstGeom>
          <a:solidFill>
            <a:srgbClr val="1A7A3E"/>
          </a:solidFill>
          <a:ln w="12700">
            <a:solidFill>
              <a:srgbClr val="1A7A3E"/>
            </a:solidFill>
            <a:prstDash val="solid"/>
          </a:ln>
        </p:spPr>
      </p:sp>
      <p:sp>
        <p:nvSpPr>
          <p:cNvPr id="17" name="Text 15"/>
          <p:cNvSpPr/>
          <p:nvPr/>
        </p:nvSpPr>
        <p:spPr>
          <a:xfrm>
            <a:off x="246888" y="2139696"/>
            <a:ext cx="1737360" cy="182880"/>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BasePeer</a:t>
            </a:r>
            <a:endParaRPr lang="en-US" sz="850" dirty="0"/>
          </a:p>
        </p:txBody>
      </p:sp>
      <p:sp>
        <p:nvSpPr>
          <p:cNvPr id="18" name="Text 16"/>
          <p:cNvSpPr/>
          <p:nvPr/>
        </p:nvSpPr>
        <p:spPr>
          <a:xfrm>
            <a:off x="246888" y="2304288"/>
            <a:ext cx="4572000" cy="16459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AVAILABLE in Torque 5.x — method signatures changed, Peer classes must be regenerated</a:t>
            </a:r>
            <a:endParaRPr lang="en-US" sz="750" dirty="0"/>
          </a:p>
        </p:txBody>
      </p:sp>
      <p:sp>
        <p:nvSpPr>
          <p:cNvPr id="19" name="Shape 17"/>
          <p:cNvSpPr/>
          <p:nvPr/>
        </p:nvSpPr>
        <p:spPr>
          <a:xfrm>
            <a:off x="137160" y="2523744"/>
            <a:ext cx="4800600" cy="384048"/>
          </a:xfrm>
          <a:prstGeom prst="rect">
            <a:avLst/>
          </a:prstGeom>
          <a:solidFill>
            <a:srgbClr val="FFFFFF"/>
          </a:solidFill>
          <a:ln w="12700">
            <a:solidFill>
              <a:srgbClr val="E0EAF5"/>
            </a:solidFill>
            <a:prstDash val="solid"/>
          </a:ln>
        </p:spPr>
      </p:sp>
      <p:sp>
        <p:nvSpPr>
          <p:cNvPr id="20" name="Shape 18"/>
          <p:cNvSpPr/>
          <p:nvPr/>
        </p:nvSpPr>
        <p:spPr>
          <a:xfrm>
            <a:off x="137160" y="2523744"/>
            <a:ext cx="45720" cy="384048"/>
          </a:xfrm>
          <a:prstGeom prst="rect">
            <a:avLst/>
          </a:prstGeom>
          <a:solidFill>
            <a:srgbClr val="B91C1C"/>
          </a:solidFill>
          <a:ln w="12700">
            <a:solidFill>
              <a:srgbClr val="B91C1C"/>
            </a:solidFill>
            <a:prstDash val="solid"/>
          </a:ln>
        </p:spPr>
      </p:sp>
      <p:sp>
        <p:nvSpPr>
          <p:cNvPr id="21" name="Text 19"/>
          <p:cNvSpPr/>
          <p:nvPr/>
        </p:nvSpPr>
        <p:spPr>
          <a:xfrm>
            <a:off x="246888" y="2560320"/>
            <a:ext cx="1737360" cy="182880"/>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Criteria</a:t>
            </a:r>
            <a:endParaRPr lang="en-US" sz="850" dirty="0"/>
          </a:p>
        </p:txBody>
      </p:sp>
      <p:sp>
        <p:nvSpPr>
          <p:cNvPr id="22" name="Text 20"/>
          <p:cNvSpPr/>
          <p:nvPr/>
        </p:nvSpPr>
        <p:spPr>
          <a:xfrm>
            <a:off x="246888" y="2724912"/>
            <a:ext cx="4572000" cy="16459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BREAKING — Criteria.add() removed in Torque 5.x, replaced by Criteria.where()</a:t>
            </a:r>
            <a:endParaRPr lang="en-US" sz="750" dirty="0"/>
          </a:p>
        </p:txBody>
      </p:sp>
      <p:sp>
        <p:nvSpPr>
          <p:cNvPr id="23" name="Shape 21"/>
          <p:cNvSpPr/>
          <p:nvPr/>
        </p:nvSpPr>
        <p:spPr>
          <a:xfrm>
            <a:off x="137160" y="2944368"/>
            <a:ext cx="4800600" cy="384048"/>
          </a:xfrm>
          <a:prstGeom prst="rect">
            <a:avLst/>
          </a:prstGeom>
          <a:solidFill>
            <a:srgbClr val="FFFFFF"/>
          </a:solidFill>
          <a:ln w="12700">
            <a:solidFill>
              <a:srgbClr val="E0EAF5"/>
            </a:solidFill>
            <a:prstDash val="solid"/>
          </a:ln>
        </p:spPr>
      </p:sp>
      <p:sp>
        <p:nvSpPr>
          <p:cNvPr id="24" name="Shape 22"/>
          <p:cNvSpPr/>
          <p:nvPr/>
        </p:nvSpPr>
        <p:spPr>
          <a:xfrm>
            <a:off x="137160" y="2944368"/>
            <a:ext cx="45720" cy="384048"/>
          </a:xfrm>
          <a:prstGeom prst="rect">
            <a:avLst/>
          </a:prstGeom>
          <a:solidFill>
            <a:srgbClr val="1A7A3E"/>
          </a:solidFill>
          <a:ln w="12700">
            <a:solidFill>
              <a:srgbClr val="1A7A3E"/>
            </a:solidFill>
            <a:prstDash val="solid"/>
          </a:ln>
        </p:spPr>
      </p:sp>
      <p:sp>
        <p:nvSpPr>
          <p:cNvPr id="25" name="Text 23"/>
          <p:cNvSpPr/>
          <p:nvPr/>
        </p:nvSpPr>
        <p:spPr>
          <a:xfrm>
            <a:off x="246888" y="2980944"/>
            <a:ext cx="1737360" cy="182880"/>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ObjectKey / SimpleKey</a:t>
            </a:r>
            <a:endParaRPr lang="en-US" sz="850" dirty="0"/>
          </a:p>
        </p:txBody>
      </p:sp>
      <p:sp>
        <p:nvSpPr>
          <p:cNvPr id="26" name="Text 24"/>
          <p:cNvSpPr/>
          <p:nvPr/>
        </p:nvSpPr>
        <p:spPr>
          <a:xfrm>
            <a:off x="246888" y="3145536"/>
            <a:ext cx="4572000" cy="16459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AVAILABLE in Torque 5.x — no major breaking change identified</a:t>
            </a:r>
            <a:endParaRPr lang="en-US" sz="750" dirty="0"/>
          </a:p>
        </p:txBody>
      </p:sp>
      <p:sp>
        <p:nvSpPr>
          <p:cNvPr id="27" name="Shape 25"/>
          <p:cNvSpPr/>
          <p:nvPr/>
        </p:nvSpPr>
        <p:spPr>
          <a:xfrm>
            <a:off x="137160" y="3364992"/>
            <a:ext cx="4800600" cy="384048"/>
          </a:xfrm>
          <a:prstGeom prst="rect">
            <a:avLst/>
          </a:prstGeom>
          <a:solidFill>
            <a:srgbClr val="FFFFFF"/>
          </a:solidFill>
          <a:ln w="12700">
            <a:solidFill>
              <a:srgbClr val="E0EAF5"/>
            </a:solidFill>
            <a:prstDash val="solid"/>
          </a:ln>
        </p:spPr>
      </p:sp>
      <p:sp>
        <p:nvSpPr>
          <p:cNvPr id="28" name="Shape 26"/>
          <p:cNvSpPr/>
          <p:nvPr/>
        </p:nvSpPr>
        <p:spPr>
          <a:xfrm>
            <a:off x="137160" y="3364992"/>
            <a:ext cx="45720" cy="384048"/>
          </a:xfrm>
          <a:prstGeom prst="rect">
            <a:avLst/>
          </a:prstGeom>
          <a:solidFill>
            <a:srgbClr val="D97706"/>
          </a:solidFill>
          <a:ln w="12700">
            <a:solidFill>
              <a:srgbClr val="D97706"/>
            </a:solidFill>
            <a:prstDash val="solid"/>
          </a:ln>
        </p:spPr>
      </p:sp>
      <p:sp>
        <p:nvSpPr>
          <p:cNvPr id="29" name="Text 27"/>
          <p:cNvSpPr/>
          <p:nvPr/>
        </p:nvSpPr>
        <p:spPr>
          <a:xfrm>
            <a:off x="246888" y="3401568"/>
            <a:ext cx="1737360" cy="182880"/>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AbstractBaseManager</a:t>
            </a:r>
            <a:endParaRPr lang="en-US" sz="850" dirty="0"/>
          </a:p>
        </p:txBody>
      </p:sp>
      <p:sp>
        <p:nvSpPr>
          <p:cNvPr id="30" name="Text 28"/>
          <p:cNvSpPr/>
          <p:nvPr/>
        </p:nvSpPr>
        <p:spPr>
          <a:xfrm>
            <a:off x="246888" y="3566160"/>
            <a:ext cx="4572000" cy="16459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UNDER VERIFICATION — Torque 5.x redesigned the manager layer, class may differ</a:t>
            </a:r>
            <a:endParaRPr lang="en-US" sz="750" dirty="0"/>
          </a:p>
        </p:txBody>
      </p:sp>
      <p:sp>
        <p:nvSpPr>
          <p:cNvPr id="31" name="Shape 29"/>
          <p:cNvSpPr/>
          <p:nvPr/>
        </p:nvSpPr>
        <p:spPr>
          <a:xfrm>
            <a:off x="137160" y="3785616"/>
            <a:ext cx="4800600" cy="384048"/>
          </a:xfrm>
          <a:prstGeom prst="rect">
            <a:avLst/>
          </a:prstGeom>
          <a:solidFill>
            <a:srgbClr val="FFFFFF"/>
          </a:solidFill>
          <a:ln w="12700">
            <a:solidFill>
              <a:srgbClr val="E0EAF5"/>
            </a:solidFill>
            <a:prstDash val="solid"/>
          </a:ln>
        </p:spPr>
      </p:sp>
      <p:sp>
        <p:nvSpPr>
          <p:cNvPr id="32" name="Shape 30"/>
          <p:cNvSpPr/>
          <p:nvPr/>
        </p:nvSpPr>
        <p:spPr>
          <a:xfrm>
            <a:off x="137160" y="3785616"/>
            <a:ext cx="45720" cy="384048"/>
          </a:xfrm>
          <a:prstGeom prst="rect">
            <a:avLst/>
          </a:prstGeom>
          <a:solidFill>
            <a:srgbClr val="D97706"/>
          </a:solidFill>
          <a:ln w="12700">
            <a:solidFill>
              <a:srgbClr val="D97706"/>
            </a:solidFill>
            <a:prstDash val="solid"/>
          </a:ln>
        </p:spPr>
      </p:sp>
      <p:sp>
        <p:nvSpPr>
          <p:cNvPr id="33" name="Text 31"/>
          <p:cNvSpPr/>
          <p:nvPr/>
        </p:nvSpPr>
        <p:spPr>
          <a:xfrm>
            <a:off x="246888" y="3822192"/>
            <a:ext cx="1737360" cy="182880"/>
          </a:xfrm>
          <a:prstGeom prst="rect">
            <a:avLst/>
          </a:prstGeom>
          <a:noFill/>
          <a:ln/>
        </p:spPr>
        <p:txBody>
          <a:bodyPr wrap="square" lIns="0" tIns="0" rIns="0" bIns="0" rtlCol="0" anchor="ctr"/>
          <a:lstStyle/>
          <a:p>
            <a:pPr algn="l" indent="0" marL="0">
              <a:buNone/>
            </a:pPr>
            <a:r>
              <a:rPr lang="en-US" sz="850" b="1" dirty="0">
                <a:solidFill>
                  <a:srgbClr val="0D2B4E"/>
                </a:solidFill>
                <a:latin typeface="Calibri" pitchFamily="34" charset="0"/>
                <a:ea typeface="Calibri" pitchFamily="34" charset="-122"/>
                <a:cs typeface="Calibri" pitchFamily="34" charset="-120"/>
              </a:rPr>
              <a:t>MapBuilder / TableMap / DatabaseMap</a:t>
            </a:r>
            <a:endParaRPr lang="en-US" sz="850" dirty="0"/>
          </a:p>
        </p:txBody>
      </p:sp>
      <p:sp>
        <p:nvSpPr>
          <p:cNvPr id="34" name="Text 32"/>
          <p:cNvSpPr/>
          <p:nvPr/>
        </p:nvSpPr>
        <p:spPr>
          <a:xfrm>
            <a:off x="246888" y="3986784"/>
            <a:ext cx="4572000" cy="16459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UNDER VERIFICATION — internal mapping may have been restructured in Torque 5.x</a:t>
            </a:r>
            <a:endParaRPr lang="en-US" sz="750" dirty="0"/>
          </a:p>
        </p:txBody>
      </p:sp>
      <p:sp>
        <p:nvSpPr>
          <p:cNvPr id="35" name="Text 33"/>
          <p:cNvSpPr/>
          <p:nvPr/>
        </p:nvSpPr>
        <p:spPr>
          <a:xfrm>
            <a:off x="182880" y="4206240"/>
            <a:ext cx="475488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USED ON CORE GEB TABLES</a:t>
            </a:r>
            <a:endParaRPr lang="en-US" sz="750" dirty="0"/>
          </a:p>
        </p:txBody>
      </p:sp>
      <p:sp>
        <p:nvSpPr>
          <p:cNvPr id="36" name="Shape 34"/>
          <p:cNvSpPr/>
          <p:nvPr/>
        </p:nvSpPr>
        <p:spPr>
          <a:xfrm>
            <a:off x="137160" y="4407408"/>
            <a:ext cx="4800600" cy="256032"/>
          </a:xfrm>
          <a:prstGeom prst="roundRect">
            <a:avLst>
              <a:gd name="adj" fmla="val 14286"/>
            </a:avLst>
          </a:prstGeom>
          <a:solidFill>
            <a:srgbClr val="EFF6FF"/>
          </a:solidFill>
          <a:ln w="12700">
            <a:solidFill>
              <a:srgbClr val="BFDBFE"/>
            </a:solidFill>
            <a:prstDash val="solid"/>
          </a:ln>
        </p:spPr>
      </p:sp>
      <p:sp>
        <p:nvSpPr>
          <p:cNvPr id="37" name="Text 35"/>
          <p:cNvSpPr/>
          <p:nvPr/>
        </p:nvSpPr>
        <p:spPr>
          <a:xfrm>
            <a:off x="137160" y="4407408"/>
            <a:ext cx="4800600" cy="256032"/>
          </a:xfrm>
          <a:prstGeom prst="rect">
            <a:avLst/>
          </a:prstGeom>
          <a:noFill/>
          <a:ln/>
        </p:spPr>
        <p:txBody>
          <a:bodyPr wrap="square" lIns="0" tIns="0" rIns="0" bIns="0" rtlCol="0" anchor="ctr"/>
          <a:lstStyle/>
          <a:p>
            <a:pPr algn="ctr" indent="0" marL="0">
              <a:buNone/>
            </a:pPr>
            <a:r>
              <a:rPr lang="en-US" sz="800" b="1" dirty="0">
                <a:solidFill>
                  <a:srgbClr val="0D2B4E"/>
                </a:solidFill>
                <a:latin typeface="Calibri" pitchFamily="34" charset="0"/>
                <a:ea typeface="Calibri" pitchFamily="34" charset="-122"/>
                <a:cs typeface="Calibri" pitchFamily="34" charset="-120"/>
              </a:rPr>
              <a:t>GTPCompany  ·  Company  ·  User  ·  Role  ·  Permission  ·  Transaction (tnx)  ·  Role-Table mappings</a:t>
            </a:r>
            <a:endParaRPr lang="en-US" sz="800" dirty="0"/>
          </a:p>
        </p:txBody>
      </p:sp>
      <p:sp>
        <p:nvSpPr>
          <p:cNvPr id="38" name="Text 36"/>
          <p:cNvSpPr/>
          <p:nvPr/>
        </p:nvSpPr>
        <p:spPr>
          <a:xfrm>
            <a:off x="5239512" y="749808"/>
            <a:ext cx="370332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ASSESSMENT</a:t>
            </a:r>
            <a:endParaRPr lang="en-US" sz="750" dirty="0"/>
          </a:p>
        </p:txBody>
      </p:sp>
      <p:sp>
        <p:nvSpPr>
          <p:cNvPr id="39" name="Shape 37"/>
          <p:cNvSpPr/>
          <p:nvPr/>
        </p:nvSpPr>
        <p:spPr>
          <a:xfrm>
            <a:off x="5212080" y="987552"/>
            <a:ext cx="3730752" cy="1719072"/>
          </a:xfrm>
          <a:prstGeom prst="rect">
            <a:avLst/>
          </a:prstGeom>
          <a:solidFill>
            <a:srgbClr val="F0FAF4"/>
          </a:solidFill>
          <a:ln w="12700">
            <a:solidFill>
              <a:srgbClr val="B7E4C7"/>
            </a:solidFill>
            <a:prstDash val="solid"/>
          </a:ln>
        </p:spPr>
      </p:sp>
      <p:sp>
        <p:nvSpPr>
          <p:cNvPr id="40" name="Shape 38"/>
          <p:cNvSpPr/>
          <p:nvPr/>
        </p:nvSpPr>
        <p:spPr>
          <a:xfrm>
            <a:off x="5212080" y="987552"/>
            <a:ext cx="45720" cy="1719072"/>
          </a:xfrm>
          <a:prstGeom prst="rect">
            <a:avLst/>
          </a:prstGeom>
          <a:solidFill>
            <a:srgbClr val="1A7A3E"/>
          </a:solidFill>
          <a:ln w="12700">
            <a:solidFill>
              <a:srgbClr val="1A7A3E"/>
            </a:solidFill>
            <a:prstDash val="solid"/>
          </a:ln>
        </p:spPr>
      </p:sp>
      <p:sp>
        <p:nvSpPr>
          <p:cNvPr id="41" name="Text 39"/>
          <p:cNvSpPr/>
          <p:nvPr/>
        </p:nvSpPr>
        <p:spPr>
          <a:xfrm>
            <a:off x="5321808" y="1042416"/>
            <a:ext cx="3547872" cy="237744"/>
          </a:xfrm>
          <a:prstGeom prst="rect">
            <a:avLst/>
          </a:prstGeom>
          <a:noFill/>
          <a:ln/>
        </p:spPr>
        <p:txBody>
          <a:bodyPr wrap="square" lIns="0" tIns="0" rIns="0" bIns="0" rtlCol="0" anchor="ctr"/>
          <a:lstStyle/>
          <a:p>
            <a:pPr algn="l" indent="0" marL="0">
              <a:buNone/>
            </a:pPr>
            <a:r>
              <a:rPr lang="en-US" sz="1050" b="1" dirty="0">
                <a:solidFill>
                  <a:srgbClr val="1A7A3E"/>
                </a:solidFill>
                <a:latin typeface="Calibri" pitchFamily="34" charset="0"/>
                <a:ea typeface="Calibri" pitchFamily="34" charset="-122"/>
                <a:cs typeface="Calibri" pitchFamily="34" charset="-120"/>
              </a:rPr>
              <a:t>Primary DB Pattern  —  PoolBrokerService</a:t>
            </a:r>
            <a:endParaRPr lang="en-US" sz="1050" dirty="0"/>
          </a:p>
        </p:txBody>
      </p:sp>
      <p:sp>
        <p:nvSpPr>
          <p:cNvPr id="42" name="Text 40"/>
          <p:cNvSpPr/>
          <p:nvPr/>
        </p:nvSpPr>
        <p:spPr>
          <a:xfrm>
            <a:off x="5321808" y="1316736"/>
            <a:ext cx="3547872" cy="384048"/>
          </a:xfrm>
          <a:prstGeom prst="rect">
            <a:avLst/>
          </a:prstGeom>
          <a:noFill/>
          <a:ln/>
        </p:spPr>
        <p:txBody>
          <a:bodyPr wrap="square" lIns="0" tIns="0" rIns="0" bIns="0" rtlCol="0" anchor="ctr"/>
          <a:lstStyle/>
          <a:p>
            <a:pPr algn="l" indent="0" marL="0">
              <a:buNone/>
            </a:pPr>
            <a:r>
              <a:rPr lang="en-US" sz="850" dirty="0">
                <a:solidFill>
                  <a:srgbClr val="2D6A4F"/>
                </a:solidFill>
                <a:latin typeface="Calibri" pitchFamily="34" charset="0"/>
                <a:ea typeface="Calibri" pitchFamily="34" charset="-122"/>
                <a:cs typeface="Calibri" pitchFamily="34" charset="-120"/>
              </a:rPr>
              <a:t>The dominant database interaction across GEB portlets is NOT Torque. It is GTPPoolBrokerService — a connection pool facade backed by DBCP.</a:t>
            </a:r>
            <a:endParaRPr lang="en-US" sz="850" dirty="0"/>
          </a:p>
        </p:txBody>
      </p:sp>
      <p:sp>
        <p:nvSpPr>
          <p:cNvPr id="43" name="Text 41"/>
          <p:cNvSpPr/>
          <p:nvPr/>
        </p:nvSpPr>
        <p:spPr>
          <a:xfrm>
            <a:off x="5321808" y="1737360"/>
            <a:ext cx="3547872" cy="384048"/>
          </a:xfrm>
          <a:prstGeom prst="rect">
            <a:avLst/>
          </a:prstGeom>
          <a:noFill/>
          <a:ln/>
        </p:spPr>
        <p:txBody>
          <a:bodyPr wrap="square" lIns="0" tIns="0" rIns="0" bIns="0" rtlCol="0" anchor="ctr"/>
          <a:lstStyle/>
          <a:p>
            <a:pPr algn="l" indent="0" marL="0">
              <a:buNone/>
            </a:pPr>
            <a:r>
              <a:rPr lang="en-US" sz="850" dirty="0">
                <a:solidFill>
                  <a:srgbClr val="6B7E94"/>
                </a:solidFill>
                <a:latin typeface="Calibri" pitchFamily="34" charset="0"/>
                <a:ea typeface="Calibri" pitchFamily="34" charset="-122"/>
                <a:cs typeface="Calibri" pitchFamily="34" charset="-120"/>
              </a:rPr>
              <a:t>Portlets obtain a connection from the pool, execute SQL directly via PreparedStatement, and release the connection back to the pool. This pattern has no Torque dependency.</a:t>
            </a:r>
            <a:endParaRPr lang="en-US" sz="850" dirty="0"/>
          </a:p>
        </p:txBody>
      </p:sp>
      <p:sp>
        <p:nvSpPr>
          <p:cNvPr id="44" name="Text 42"/>
          <p:cNvSpPr/>
          <p:nvPr/>
        </p:nvSpPr>
        <p:spPr>
          <a:xfrm>
            <a:off x="5321808" y="2157984"/>
            <a:ext cx="3547872" cy="182880"/>
          </a:xfrm>
          <a:prstGeom prst="rect">
            <a:avLst/>
          </a:prstGeom>
          <a:noFill/>
          <a:ln/>
        </p:spPr>
        <p:txBody>
          <a:bodyPr wrap="square" lIns="0" tIns="0" rIns="0" bIns="0" rtlCol="0" anchor="ctr"/>
          <a:lstStyle/>
          <a:p>
            <a:pPr algn="l" indent="0" marL="0">
              <a:buNone/>
            </a:pPr>
            <a:r>
              <a:rPr lang="en-US" sz="850" b="1" dirty="0">
                <a:solidFill>
                  <a:srgbClr val="1A7A3E"/>
                </a:solidFill>
                <a:latin typeface="Calibri" pitchFamily="34" charset="0"/>
                <a:ea typeface="Calibri" pitchFamily="34" charset="-122"/>
                <a:cs typeface="Calibri" pitchFamily="34" charset="-120"/>
              </a:rPr>
              <a:t>→  Java 17 compatible. No migration changes required for this pattern.</a:t>
            </a:r>
            <a:endParaRPr lang="en-US" sz="850" dirty="0"/>
          </a:p>
        </p:txBody>
      </p:sp>
      <p:sp>
        <p:nvSpPr>
          <p:cNvPr id="45" name="Shape 43"/>
          <p:cNvSpPr/>
          <p:nvPr/>
        </p:nvSpPr>
        <p:spPr>
          <a:xfrm>
            <a:off x="7882128" y="1005840"/>
            <a:ext cx="1005840" cy="201168"/>
          </a:xfrm>
          <a:prstGeom prst="roundRect">
            <a:avLst>
              <a:gd name="adj" fmla="val 18182"/>
            </a:avLst>
          </a:prstGeom>
          <a:solidFill>
            <a:srgbClr val="1A7A3E"/>
          </a:solidFill>
          <a:ln w="12700">
            <a:solidFill>
              <a:srgbClr val="1A7A3E"/>
            </a:solidFill>
            <a:prstDash val="solid"/>
          </a:ln>
        </p:spPr>
      </p:sp>
      <p:sp>
        <p:nvSpPr>
          <p:cNvPr id="46" name="Text 44"/>
          <p:cNvSpPr/>
          <p:nvPr/>
        </p:nvSpPr>
        <p:spPr>
          <a:xfrm>
            <a:off x="7882128" y="1005840"/>
            <a:ext cx="10058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VALIDATED</a:t>
            </a:r>
            <a:endParaRPr lang="en-US" sz="700" dirty="0"/>
          </a:p>
        </p:txBody>
      </p:sp>
      <p:sp>
        <p:nvSpPr>
          <p:cNvPr id="47" name="Shape 45"/>
          <p:cNvSpPr/>
          <p:nvPr/>
        </p:nvSpPr>
        <p:spPr>
          <a:xfrm>
            <a:off x="5212080" y="2816352"/>
            <a:ext cx="3730752" cy="1920240"/>
          </a:xfrm>
          <a:prstGeom prst="rect">
            <a:avLst/>
          </a:prstGeom>
          <a:solidFill>
            <a:srgbClr val="FFFBEB"/>
          </a:solidFill>
          <a:ln w="12700">
            <a:solidFill>
              <a:srgbClr val="FCD34D"/>
            </a:solidFill>
            <a:prstDash val="solid"/>
          </a:ln>
        </p:spPr>
      </p:sp>
      <p:sp>
        <p:nvSpPr>
          <p:cNvPr id="48" name="Shape 46"/>
          <p:cNvSpPr/>
          <p:nvPr/>
        </p:nvSpPr>
        <p:spPr>
          <a:xfrm>
            <a:off x="5212080" y="2816352"/>
            <a:ext cx="45720" cy="1920240"/>
          </a:xfrm>
          <a:prstGeom prst="rect">
            <a:avLst/>
          </a:prstGeom>
          <a:solidFill>
            <a:srgbClr val="D97706"/>
          </a:solidFill>
          <a:ln w="12700">
            <a:solidFill>
              <a:srgbClr val="D97706"/>
            </a:solidFill>
            <a:prstDash val="solid"/>
          </a:ln>
        </p:spPr>
      </p:sp>
      <p:sp>
        <p:nvSpPr>
          <p:cNvPr id="49" name="Text 47"/>
          <p:cNvSpPr/>
          <p:nvPr/>
        </p:nvSpPr>
        <p:spPr>
          <a:xfrm>
            <a:off x="5321808" y="2871216"/>
            <a:ext cx="3547872" cy="237744"/>
          </a:xfrm>
          <a:prstGeom prst="rect">
            <a:avLst/>
          </a:prstGeom>
          <a:noFill/>
          <a:ln/>
        </p:spPr>
        <p:txBody>
          <a:bodyPr wrap="square" lIns="0" tIns="0" rIns="0" bIns="0" rtlCol="0" anchor="ctr"/>
          <a:lstStyle/>
          <a:p>
            <a:pPr algn="l" indent="0" marL="0">
              <a:buNone/>
            </a:pPr>
            <a:r>
              <a:rPr lang="en-US" sz="1050" b="1" dirty="0">
                <a:solidFill>
                  <a:srgbClr val="D97706"/>
                </a:solidFill>
                <a:latin typeface="Calibri" pitchFamily="34" charset="0"/>
                <a:ea typeface="Calibri" pitchFamily="34" charset="-122"/>
                <a:cs typeface="Calibri" pitchFamily="34" charset="-120"/>
              </a:rPr>
              <a:t>Torque 3.1.1  →  5.1+  —  Migration Items</a:t>
            </a:r>
            <a:endParaRPr lang="en-US" sz="1050" dirty="0"/>
          </a:p>
        </p:txBody>
      </p:sp>
      <p:sp>
        <p:nvSpPr>
          <p:cNvPr id="50" name="Shape 48"/>
          <p:cNvSpPr/>
          <p:nvPr/>
        </p:nvSpPr>
        <p:spPr>
          <a:xfrm>
            <a:off x="7882128" y="2834640"/>
            <a:ext cx="1005840" cy="201168"/>
          </a:xfrm>
          <a:prstGeom prst="roundRect">
            <a:avLst>
              <a:gd name="adj" fmla="val 18182"/>
            </a:avLst>
          </a:prstGeom>
          <a:solidFill>
            <a:srgbClr val="D97706"/>
          </a:solidFill>
          <a:ln w="12700">
            <a:solidFill>
              <a:srgbClr val="D97706"/>
            </a:solidFill>
            <a:prstDash val="solid"/>
          </a:ln>
        </p:spPr>
      </p:sp>
      <p:sp>
        <p:nvSpPr>
          <p:cNvPr id="51" name="Text 49"/>
          <p:cNvSpPr/>
          <p:nvPr/>
        </p:nvSpPr>
        <p:spPr>
          <a:xfrm>
            <a:off x="7882128" y="2834640"/>
            <a:ext cx="100584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IN PROGRESS</a:t>
            </a:r>
            <a:endParaRPr lang="en-US" sz="700" dirty="0"/>
          </a:p>
        </p:txBody>
      </p:sp>
      <p:sp>
        <p:nvSpPr>
          <p:cNvPr id="52" name="Text 50"/>
          <p:cNvSpPr/>
          <p:nvPr/>
        </p:nvSpPr>
        <p:spPr>
          <a:xfrm>
            <a:off x="5321808" y="3145536"/>
            <a:ext cx="3547872" cy="310896"/>
          </a:xfrm>
          <a:prstGeom prst="rect">
            <a:avLst/>
          </a:prstGeom>
          <a:noFill/>
          <a:ln/>
        </p:spPr>
        <p:txBody>
          <a:bodyPr wrap="square" lIns="0" tIns="0" rIns="0" bIns="0" rtlCol="0" anchor="t"/>
          <a:lstStyle/>
          <a:p>
            <a:pPr algn="l" indent="0" marL="0">
              <a:buNone/>
            </a:pPr>
            <a:r>
              <a:rPr lang="en-US" sz="800" b="1" dirty="0">
                <a:solidFill>
                  <a:srgbClr val="D97706"/>
                </a:solidFill>
                <a:latin typeface="Calibri" pitchFamily="34" charset="0"/>
                <a:ea typeface="Calibri" pitchFamily="34" charset="-122"/>
                <a:cs typeface="Calibri" pitchFamily="34" charset="-120"/>
              </a:rPr>
              <a:t xml:space="preserve">Criteria API  —  </a:t>
            </a:r>
            <a:pPr algn="l" indent="0" marL="0">
              <a:buNone/>
            </a:pPr>
            <a:r>
              <a:rPr lang="en-US" sz="800" dirty="0">
                <a:solidFill>
                  <a:srgbClr val="92400E"/>
                </a:solidFill>
                <a:latin typeface="Calibri" pitchFamily="34" charset="0"/>
                <a:ea typeface="Calibri" pitchFamily="34" charset="-122"/>
                <a:cs typeface="Calibri" pitchFamily="34" charset="-120"/>
              </a:rPr>
              <a:t>Criteria.add() removed — replaced by Criteria.where(). All ORM queries must be updated.</a:t>
            </a:r>
            <a:endParaRPr lang="en-US" sz="800" dirty="0"/>
          </a:p>
        </p:txBody>
      </p:sp>
      <p:sp>
        <p:nvSpPr>
          <p:cNvPr id="53" name="Text 51"/>
          <p:cNvSpPr/>
          <p:nvPr/>
        </p:nvSpPr>
        <p:spPr>
          <a:xfrm>
            <a:off x="5321808" y="3493008"/>
            <a:ext cx="3547872" cy="310896"/>
          </a:xfrm>
          <a:prstGeom prst="rect">
            <a:avLst/>
          </a:prstGeom>
          <a:noFill/>
          <a:ln/>
        </p:spPr>
        <p:txBody>
          <a:bodyPr wrap="square" lIns="0" tIns="0" rIns="0" bIns="0" rtlCol="0" anchor="t"/>
          <a:lstStyle/>
          <a:p>
            <a:pPr algn="l" indent="0" marL="0">
              <a:buNone/>
            </a:pPr>
            <a:r>
              <a:rPr lang="en-US" sz="800" b="1" dirty="0">
                <a:solidFill>
                  <a:srgbClr val="D97706"/>
                </a:solidFill>
                <a:latin typeface="Calibri" pitchFamily="34" charset="0"/>
                <a:ea typeface="Calibri" pitchFamily="34" charset="-122"/>
                <a:cs typeface="Calibri" pitchFamily="34" charset="-120"/>
              </a:rPr>
              <a:t xml:space="preserve">Village library  —  </a:t>
            </a:r>
            <a:pPr algn="l" indent="0" marL="0">
              <a:buNone/>
            </a:pPr>
            <a:r>
              <a:rPr lang="en-US" sz="800" dirty="0">
                <a:solidFill>
                  <a:srgbClr val="92400E"/>
                </a:solidFill>
                <a:latin typeface="Calibri" pitchFamily="34" charset="0"/>
                <a:ea typeface="Calibri" pitchFamily="34" charset="-122"/>
                <a:cs typeface="Calibri" pitchFamily="34" charset="-120"/>
              </a:rPr>
              <a:t>com.workingdogs.village (Record, Value) completely removed in Torque 5.x. Any direct Village usage requires rewrite.</a:t>
            </a:r>
            <a:endParaRPr lang="en-US" sz="800" dirty="0"/>
          </a:p>
        </p:txBody>
      </p:sp>
      <p:sp>
        <p:nvSpPr>
          <p:cNvPr id="54" name="Text 52"/>
          <p:cNvSpPr/>
          <p:nvPr/>
        </p:nvSpPr>
        <p:spPr>
          <a:xfrm>
            <a:off x="5321808" y="3840480"/>
            <a:ext cx="3547872" cy="310896"/>
          </a:xfrm>
          <a:prstGeom prst="rect">
            <a:avLst/>
          </a:prstGeom>
          <a:noFill/>
          <a:ln/>
        </p:spPr>
        <p:txBody>
          <a:bodyPr wrap="square" lIns="0" tIns="0" rIns="0" bIns="0" rtlCol="0" anchor="t"/>
          <a:lstStyle/>
          <a:p>
            <a:pPr algn="l" indent="0" marL="0">
              <a:buNone/>
            </a:pPr>
            <a:r>
              <a:rPr lang="en-US" sz="800" b="1" dirty="0">
                <a:solidFill>
                  <a:srgbClr val="D97706"/>
                </a:solidFill>
                <a:latin typeface="Calibri" pitchFamily="34" charset="0"/>
                <a:ea typeface="Calibri" pitchFamily="34" charset="-122"/>
                <a:cs typeface="Calibri" pitchFamily="34" charset="-120"/>
              </a:rPr>
              <a:t xml:space="preserve">Generated Peer classes  —  </a:t>
            </a:r>
            <a:pPr algn="l" indent="0" marL="0">
              <a:buNone/>
            </a:pPr>
            <a:r>
              <a:rPr lang="en-US" sz="800" dirty="0">
                <a:solidFill>
                  <a:srgbClr val="92400E"/>
                </a:solidFill>
                <a:latin typeface="Calibri" pitchFamily="34" charset="0"/>
                <a:ea typeface="Calibri" pitchFamily="34" charset="-122"/>
                <a:cs typeface="Calibri" pitchFamily="34" charset="-120"/>
              </a:rPr>
              <a:t>Peer classes generated from schema.xml must be regenerated for Torque 5.1. Schema file location under verification.</a:t>
            </a:r>
            <a:endParaRPr lang="en-US" sz="800" dirty="0"/>
          </a:p>
        </p:txBody>
      </p:sp>
      <p:sp>
        <p:nvSpPr>
          <p:cNvPr id="55" name="Text 53"/>
          <p:cNvSpPr/>
          <p:nvPr/>
        </p:nvSpPr>
        <p:spPr>
          <a:xfrm>
            <a:off x="5321808" y="4187952"/>
            <a:ext cx="3547872" cy="310896"/>
          </a:xfrm>
          <a:prstGeom prst="rect">
            <a:avLst/>
          </a:prstGeom>
          <a:noFill/>
          <a:ln/>
        </p:spPr>
        <p:txBody>
          <a:bodyPr wrap="square" lIns="0" tIns="0" rIns="0" bIns="0" rtlCol="0" anchor="t"/>
          <a:lstStyle/>
          <a:p>
            <a:pPr algn="l" indent="0" marL="0">
              <a:buNone/>
            </a:pPr>
            <a:r>
              <a:rPr lang="en-US" sz="800" b="1" dirty="0">
                <a:solidFill>
                  <a:srgbClr val="D97706"/>
                </a:solidFill>
                <a:latin typeface="Calibri" pitchFamily="34" charset="0"/>
                <a:ea typeface="Calibri" pitchFamily="34" charset="-122"/>
                <a:cs typeface="Calibri" pitchFamily="34" charset="-120"/>
              </a:rPr>
              <a:t xml:space="preserve">Bootstrap path  —  </a:t>
            </a:r>
            <a:pPr algn="l" indent="0" marL="0">
              <a:buNone/>
            </a:pPr>
            <a:r>
              <a:rPr lang="en-US" sz="800" dirty="0">
                <a:solidFill>
                  <a:srgbClr val="92400E"/>
                </a:solidFill>
                <a:latin typeface="Calibri" pitchFamily="34" charset="0"/>
                <a:ea typeface="Calibri" pitchFamily="34" charset="-122"/>
                <a:cs typeface="Calibri" pitchFamily="34" charset="-120"/>
              </a:rPr>
              <a:t>GTPComponentService (used to initialise Torque) is removed in Turbine 7. Torque must be bootstrapped via YAAFI.</a:t>
            </a:r>
            <a:endParaRPr lang="en-US" sz="800" dirty="0"/>
          </a:p>
        </p:txBody>
      </p:sp>
      <p:sp>
        <p:nvSpPr>
          <p:cNvPr id="56" name="Text 54"/>
          <p:cNvSpPr/>
          <p:nvPr/>
        </p:nvSpPr>
        <p:spPr>
          <a:xfrm>
            <a:off x="5321808" y="4535424"/>
            <a:ext cx="3547872" cy="182880"/>
          </a:xfrm>
          <a:prstGeom prst="rect">
            <a:avLst/>
          </a:prstGeom>
          <a:noFill/>
          <a:ln/>
        </p:spPr>
        <p:txBody>
          <a:bodyPr wrap="square" lIns="0" tIns="0" rIns="0" bIns="0" rtlCol="0" anchor="ctr"/>
          <a:lstStyle/>
          <a:p>
            <a:pPr algn="l" indent="0" marL="0">
              <a:buNone/>
            </a:pPr>
            <a:r>
              <a:rPr lang="en-US" sz="800" b="1" dirty="0">
                <a:solidFill>
                  <a:srgbClr val="D97706"/>
                </a:solidFill>
                <a:latin typeface="Calibri" pitchFamily="34" charset="0"/>
                <a:ea typeface="Calibri" pitchFamily="34" charset="-122"/>
                <a:cs typeface="Calibri" pitchFamily="34" charset="-120"/>
              </a:rPr>
              <a:t>→  Torque is used on core GEB data tables — migration requires careful validation at every step.</a:t>
            </a:r>
            <a:endParaRPr lang="en-US" sz="800" dirty="0"/>
          </a:p>
        </p:txBody>
      </p:sp>
      <p:sp>
        <p:nvSpPr>
          <p:cNvPr id="57" name="Shape 55"/>
          <p:cNvSpPr/>
          <p:nvPr/>
        </p:nvSpPr>
        <p:spPr>
          <a:xfrm>
            <a:off x="0" y="4764024"/>
            <a:ext cx="9144000" cy="283464"/>
          </a:xfrm>
          <a:prstGeom prst="rect">
            <a:avLst/>
          </a:prstGeom>
          <a:solidFill>
            <a:srgbClr val="1A3A5C"/>
          </a:solidFill>
          <a:ln w="12700">
            <a:solidFill>
              <a:srgbClr val="1A3A5C"/>
            </a:solidFill>
            <a:prstDash val="solid"/>
          </a:ln>
        </p:spPr>
      </p:sp>
      <p:sp>
        <p:nvSpPr>
          <p:cNvPr id="58" name="Text 56"/>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Most DB interaction is via PoolBrokerService — Java 17 safe  ·  Torque is scoped to core entities — migration is sensitive and requires dedicated validation</a:t>
            </a:r>
            <a:endParaRPr lang="en-US" sz="850" dirty="0"/>
          </a:p>
        </p:txBody>
      </p:sp>
      <p:sp>
        <p:nvSpPr>
          <p:cNvPr id="59" name="Shape 57"/>
          <p:cNvSpPr/>
          <p:nvPr/>
        </p:nvSpPr>
        <p:spPr>
          <a:xfrm>
            <a:off x="0" y="5047488"/>
            <a:ext cx="9144000" cy="96012"/>
          </a:xfrm>
          <a:prstGeom prst="rect">
            <a:avLst/>
          </a:prstGeom>
          <a:solidFill>
            <a:srgbClr val="091525"/>
          </a:solidFill>
          <a:ln w="12700">
            <a:solidFill>
              <a:srgbClr val="091525"/>
            </a:solidFill>
            <a:prstDash val="solid"/>
          </a:ln>
        </p:spPr>
      </p:sp>
      <p:sp>
        <p:nvSpPr>
          <p:cNvPr id="60" name="Text 58"/>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3152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JAR Dependency Analysis  —  138 JARs Categorised</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Grouped by function and migration action required  ·  Counts are approximate from category analysis — exact usage verification ongoing</a:t>
            </a:r>
            <a:endParaRPr lang="en-US" sz="900" dirty="0"/>
          </a:p>
        </p:txBody>
      </p:sp>
      <p:sp>
        <p:nvSpPr>
          <p:cNvPr id="5" name="Shape 3"/>
          <p:cNvSpPr/>
          <p:nvPr/>
        </p:nvSpPr>
        <p:spPr>
          <a:xfrm>
            <a:off x="0" y="731520"/>
            <a:ext cx="9144000" cy="548640"/>
          </a:xfrm>
          <a:prstGeom prst="rect">
            <a:avLst/>
          </a:prstGeom>
          <a:solidFill>
            <a:srgbClr val="FEF2F2"/>
          </a:solidFill>
          <a:ln w="12700">
            <a:solidFill>
              <a:srgbClr val="E8EEF5"/>
            </a:solidFill>
            <a:prstDash val="solid"/>
          </a:ln>
        </p:spPr>
      </p:sp>
      <p:sp>
        <p:nvSpPr>
          <p:cNvPr id="6" name="Shape 4"/>
          <p:cNvSpPr/>
          <p:nvPr/>
        </p:nvSpPr>
        <p:spPr>
          <a:xfrm>
            <a:off x="0" y="731520"/>
            <a:ext cx="64008" cy="548640"/>
          </a:xfrm>
          <a:prstGeom prst="rect">
            <a:avLst/>
          </a:prstGeom>
          <a:solidFill>
            <a:srgbClr val="C0392B"/>
          </a:solidFill>
          <a:ln w="12700">
            <a:solidFill>
              <a:srgbClr val="C0392B"/>
            </a:solidFill>
            <a:prstDash val="solid"/>
          </a:ln>
        </p:spPr>
      </p:sp>
      <p:sp>
        <p:nvSpPr>
          <p:cNvPr id="7" name="Shape 5"/>
          <p:cNvSpPr/>
          <p:nvPr/>
        </p:nvSpPr>
        <p:spPr>
          <a:xfrm>
            <a:off x="118872" y="841248"/>
            <a:ext cx="914400" cy="201168"/>
          </a:xfrm>
          <a:prstGeom prst="roundRect">
            <a:avLst>
              <a:gd name="adj" fmla="val 18182"/>
            </a:avLst>
          </a:prstGeom>
          <a:solidFill>
            <a:srgbClr val="C0392B"/>
          </a:solidFill>
          <a:ln w="12700">
            <a:solidFill>
              <a:srgbClr val="C0392B"/>
            </a:solidFill>
            <a:prstDash val="solid"/>
          </a:ln>
        </p:spPr>
      </p:sp>
      <p:sp>
        <p:nvSpPr>
          <p:cNvPr id="8" name="Text 6"/>
          <p:cNvSpPr/>
          <p:nvPr/>
        </p:nvSpPr>
        <p:spPr>
          <a:xfrm>
            <a:off x="118872" y="841248"/>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BREAKING</a:t>
            </a:r>
            <a:endParaRPr lang="en-US" sz="650" dirty="0"/>
          </a:p>
        </p:txBody>
      </p:sp>
      <p:sp>
        <p:nvSpPr>
          <p:cNvPr id="9" name="Shape 7"/>
          <p:cNvSpPr/>
          <p:nvPr/>
        </p:nvSpPr>
        <p:spPr>
          <a:xfrm>
            <a:off x="1097280" y="822960"/>
            <a:ext cx="502920" cy="256032"/>
          </a:xfrm>
          <a:prstGeom prst="roundRect">
            <a:avLst>
              <a:gd name="adj" fmla="val 14286"/>
            </a:avLst>
          </a:prstGeom>
          <a:solidFill>
            <a:srgbClr val="E8EEF5"/>
          </a:solidFill>
          <a:ln w="12700">
            <a:solidFill>
              <a:srgbClr val="D0DCE8"/>
            </a:solidFill>
            <a:prstDash val="solid"/>
          </a:ln>
        </p:spPr>
      </p:sp>
      <p:sp>
        <p:nvSpPr>
          <p:cNvPr id="10" name="Text 8"/>
          <p:cNvSpPr/>
          <p:nvPr/>
        </p:nvSpPr>
        <p:spPr>
          <a:xfrm>
            <a:off x="1097280" y="822960"/>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~22</a:t>
            </a:r>
            <a:endParaRPr lang="en-US" sz="1100" dirty="0"/>
          </a:p>
        </p:txBody>
      </p:sp>
      <p:sp>
        <p:nvSpPr>
          <p:cNvPr id="11" name="Text 9"/>
          <p:cNvSpPr/>
          <p:nvPr/>
        </p:nvSpPr>
        <p:spPr>
          <a:xfrm>
            <a:off x="1673352" y="777240"/>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Spring  +  Swagger / Springfox</a:t>
            </a:r>
            <a:endParaRPr lang="en-US" sz="900" dirty="0"/>
          </a:p>
        </p:txBody>
      </p:sp>
      <p:sp>
        <p:nvSpPr>
          <p:cNvPr id="12" name="Text 10"/>
          <p:cNvSpPr/>
          <p:nvPr/>
        </p:nvSpPr>
        <p:spPr>
          <a:xfrm>
            <a:off x="1673352" y="1014984"/>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Spring 6 upgrade  +  replace Springfox with springdoc-openapi</a:t>
            </a:r>
            <a:endParaRPr lang="en-US" sz="750" dirty="0"/>
          </a:p>
        </p:txBody>
      </p:sp>
      <p:sp>
        <p:nvSpPr>
          <p:cNvPr id="13" name="Shape 11"/>
          <p:cNvSpPr/>
          <p:nvPr/>
        </p:nvSpPr>
        <p:spPr>
          <a:xfrm>
            <a:off x="5029200" y="932688"/>
            <a:ext cx="73152" cy="73152"/>
          </a:xfrm>
          <a:prstGeom prst="ellipse">
            <a:avLst/>
          </a:prstGeom>
          <a:solidFill>
            <a:srgbClr val="D0DCE8"/>
          </a:solidFill>
          <a:ln w="12700">
            <a:solidFill>
              <a:srgbClr val="D0DCE8"/>
            </a:solidFill>
            <a:prstDash val="solid"/>
          </a:ln>
        </p:spPr>
      </p:sp>
      <p:sp>
        <p:nvSpPr>
          <p:cNvPr id="14" name="Text 12"/>
          <p:cNvSpPr/>
          <p:nvPr/>
        </p:nvSpPr>
        <p:spPr>
          <a:xfrm>
            <a:off x="5166360" y="786384"/>
            <a:ext cx="3840480" cy="438912"/>
          </a:xfrm>
          <a:prstGeom prst="rect">
            <a:avLst/>
          </a:prstGeom>
          <a:noFill/>
          <a:ln/>
        </p:spPr>
        <p:txBody>
          <a:bodyPr wrap="square" lIns="0" tIns="0" rIns="0" bIns="0" rtlCol="0" anchor="ctr"/>
          <a:lstStyle/>
          <a:p>
            <a:pPr algn="l" indent="0" marL="0">
              <a:buNone/>
            </a:pPr>
            <a:r>
              <a:rPr lang="en-US" sz="780" dirty="0">
                <a:solidFill>
                  <a:srgbClr val="7B1E1E"/>
                </a:solidFill>
                <a:latin typeface="Calibri" pitchFamily="34" charset="0"/>
                <a:ea typeface="Calibri" pitchFamily="34" charset="-122"/>
                <a:cs typeface="Calibri" pitchFamily="34" charset="-120"/>
              </a:rPr>
              <a:t>Spring 4.x does not support Jakarta EE. Springfox has no Spring 6 release — complete replacement required. Impacts all REST endpoints and API documentation.</a:t>
            </a:r>
            <a:endParaRPr lang="en-US" sz="780" dirty="0"/>
          </a:p>
        </p:txBody>
      </p:sp>
      <p:sp>
        <p:nvSpPr>
          <p:cNvPr id="15" name="Shape 13"/>
          <p:cNvSpPr/>
          <p:nvPr/>
        </p:nvSpPr>
        <p:spPr>
          <a:xfrm>
            <a:off x="0" y="1316736"/>
            <a:ext cx="9144000" cy="548640"/>
          </a:xfrm>
          <a:prstGeom prst="rect">
            <a:avLst/>
          </a:prstGeom>
          <a:solidFill>
            <a:srgbClr val="FEF2F2"/>
          </a:solidFill>
          <a:ln w="12700">
            <a:solidFill>
              <a:srgbClr val="E8EEF5"/>
            </a:solidFill>
            <a:prstDash val="solid"/>
          </a:ln>
        </p:spPr>
      </p:sp>
      <p:sp>
        <p:nvSpPr>
          <p:cNvPr id="16" name="Shape 14"/>
          <p:cNvSpPr/>
          <p:nvPr/>
        </p:nvSpPr>
        <p:spPr>
          <a:xfrm>
            <a:off x="0" y="1316736"/>
            <a:ext cx="64008" cy="548640"/>
          </a:xfrm>
          <a:prstGeom prst="rect">
            <a:avLst/>
          </a:prstGeom>
          <a:solidFill>
            <a:srgbClr val="C0392B"/>
          </a:solidFill>
          <a:ln w="12700">
            <a:solidFill>
              <a:srgbClr val="C0392B"/>
            </a:solidFill>
            <a:prstDash val="solid"/>
          </a:ln>
        </p:spPr>
      </p:sp>
      <p:sp>
        <p:nvSpPr>
          <p:cNvPr id="17" name="Shape 15"/>
          <p:cNvSpPr/>
          <p:nvPr/>
        </p:nvSpPr>
        <p:spPr>
          <a:xfrm>
            <a:off x="118872" y="1426464"/>
            <a:ext cx="914400" cy="201168"/>
          </a:xfrm>
          <a:prstGeom prst="roundRect">
            <a:avLst>
              <a:gd name="adj" fmla="val 18182"/>
            </a:avLst>
          </a:prstGeom>
          <a:solidFill>
            <a:srgbClr val="C0392B"/>
          </a:solidFill>
          <a:ln w="12700">
            <a:solidFill>
              <a:srgbClr val="C0392B"/>
            </a:solidFill>
            <a:prstDash val="solid"/>
          </a:ln>
        </p:spPr>
      </p:sp>
      <p:sp>
        <p:nvSpPr>
          <p:cNvPr id="18" name="Text 16"/>
          <p:cNvSpPr/>
          <p:nvPr/>
        </p:nvSpPr>
        <p:spPr>
          <a:xfrm>
            <a:off x="118872" y="1426464"/>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BREAKING</a:t>
            </a:r>
            <a:endParaRPr lang="en-US" sz="650" dirty="0"/>
          </a:p>
        </p:txBody>
      </p:sp>
      <p:sp>
        <p:nvSpPr>
          <p:cNvPr id="19" name="Shape 17"/>
          <p:cNvSpPr/>
          <p:nvPr/>
        </p:nvSpPr>
        <p:spPr>
          <a:xfrm>
            <a:off x="1097280" y="1408176"/>
            <a:ext cx="502920" cy="256032"/>
          </a:xfrm>
          <a:prstGeom prst="roundRect">
            <a:avLst>
              <a:gd name="adj" fmla="val 14286"/>
            </a:avLst>
          </a:prstGeom>
          <a:solidFill>
            <a:srgbClr val="E8EEF5"/>
          </a:solidFill>
          <a:ln w="12700">
            <a:solidFill>
              <a:srgbClr val="D0DCE8"/>
            </a:solidFill>
            <a:prstDash val="solid"/>
          </a:ln>
        </p:spPr>
      </p:sp>
      <p:sp>
        <p:nvSpPr>
          <p:cNvPr id="20" name="Text 18"/>
          <p:cNvSpPr/>
          <p:nvPr/>
        </p:nvSpPr>
        <p:spPr>
          <a:xfrm>
            <a:off x="1097280" y="1408176"/>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~7</a:t>
            </a:r>
            <a:endParaRPr lang="en-US" sz="1100" dirty="0"/>
          </a:p>
        </p:txBody>
      </p:sp>
      <p:sp>
        <p:nvSpPr>
          <p:cNvPr id="21" name="Text 19"/>
          <p:cNvSpPr/>
          <p:nvPr/>
        </p:nvSpPr>
        <p:spPr>
          <a:xfrm>
            <a:off x="1673352" y="1362456"/>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Java EE  /  javax.*</a:t>
            </a:r>
            <a:endParaRPr lang="en-US" sz="900" dirty="0"/>
          </a:p>
        </p:txBody>
      </p:sp>
      <p:sp>
        <p:nvSpPr>
          <p:cNvPr id="22" name="Text 20"/>
          <p:cNvSpPr/>
          <p:nvPr/>
        </p:nvSpPr>
        <p:spPr>
          <a:xfrm>
            <a:off x="1673352" y="1600200"/>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Replace with Jakarta EE equivalents</a:t>
            </a:r>
            <a:endParaRPr lang="en-US" sz="750" dirty="0"/>
          </a:p>
        </p:txBody>
      </p:sp>
      <p:sp>
        <p:nvSpPr>
          <p:cNvPr id="23" name="Shape 21"/>
          <p:cNvSpPr/>
          <p:nvPr/>
        </p:nvSpPr>
        <p:spPr>
          <a:xfrm>
            <a:off x="5029200" y="1517904"/>
            <a:ext cx="73152" cy="73152"/>
          </a:xfrm>
          <a:prstGeom prst="ellipse">
            <a:avLst/>
          </a:prstGeom>
          <a:solidFill>
            <a:srgbClr val="D0DCE8"/>
          </a:solidFill>
          <a:ln w="12700">
            <a:solidFill>
              <a:srgbClr val="D0DCE8"/>
            </a:solidFill>
            <a:prstDash val="solid"/>
          </a:ln>
        </p:spPr>
      </p:sp>
      <p:sp>
        <p:nvSpPr>
          <p:cNvPr id="24" name="Text 22"/>
          <p:cNvSpPr/>
          <p:nvPr/>
        </p:nvSpPr>
        <p:spPr>
          <a:xfrm>
            <a:off x="5166360" y="1371600"/>
            <a:ext cx="3840480" cy="438912"/>
          </a:xfrm>
          <a:prstGeom prst="rect">
            <a:avLst/>
          </a:prstGeom>
          <a:noFill/>
          <a:ln/>
        </p:spPr>
        <p:txBody>
          <a:bodyPr wrap="square" lIns="0" tIns="0" rIns="0" bIns="0" rtlCol="0" anchor="ctr"/>
          <a:lstStyle/>
          <a:p>
            <a:pPr algn="l" indent="0" marL="0">
              <a:buNone/>
            </a:pPr>
            <a:r>
              <a:rPr lang="en-US" sz="780" dirty="0">
                <a:solidFill>
                  <a:srgbClr val="7B1E1E"/>
                </a:solidFill>
                <a:latin typeface="Calibri" pitchFamily="34" charset="0"/>
                <a:ea typeface="Calibri" pitchFamily="34" charset="-122"/>
                <a:cs typeface="Calibri" pitchFamily="34" charset="-120"/>
              </a:rPr>
              <a:t>JARs compiled against the javax.* namespace are incompatible with JBoss EAP 8. Must be replaced with their jakarta.* counterparts.</a:t>
            </a:r>
            <a:endParaRPr lang="en-US" sz="780" dirty="0"/>
          </a:p>
        </p:txBody>
      </p:sp>
      <p:sp>
        <p:nvSpPr>
          <p:cNvPr id="25" name="Shape 23"/>
          <p:cNvSpPr/>
          <p:nvPr/>
        </p:nvSpPr>
        <p:spPr>
          <a:xfrm>
            <a:off x="0" y="1901952"/>
            <a:ext cx="9144000" cy="548640"/>
          </a:xfrm>
          <a:prstGeom prst="rect">
            <a:avLst/>
          </a:prstGeom>
          <a:solidFill>
            <a:srgbClr val="FFF0F0"/>
          </a:solidFill>
          <a:ln w="12700">
            <a:solidFill>
              <a:srgbClr val="E8EEF5"/>
            </a:solidFill>
            <a:prstDash val="solid"/>
          </a:ln>
        </p:spPr>
      </p:sp>
      <p:sp>
        <p:nvSpPr>
          <p:cNvPr id="26" name="Shape 24"/>
          <p:cNvSpPr/>
          <p:nvPr/>
        </p:nvSpPr>
        <p:spPr>
          <a:xfrm>
            <a:off x="0" y="1901952"/>
            <a:ext cx="64008" cy="548640"/>
          </a:xfrm>
          <a:prstGeom prst="rect">
            <a:avLst/>
          </a:prstGeom>
          <a:solidFill>
            <a:srgbClr val="8B0000"/>
          </a:solidFill>
          <a:ln w="12700">
            <a:solidFill>
              <a:srgbClr val="8B0000"/>
            </a:solidFill>
            <a:prstDash val="solid"/>
          </a:ln>
        </p:spPr>
      </p:sp>
      <p:sp>
        <p:nvSpPr>
          <p:cNvPr id="27" name="Shape 25"/>
          <p:cNvSpPr/>
          <p:nvPr/>
        </p:nvSpPr>
        <p:spPr>
          <a:xfrm>
            <a:off x="118872" y="2011680"/>
            <a:ext cx="914400" cy="201168"/>
          </a:xfrm>
          <a:prstGeom prst="roundRect">
            <a:avLst>
              <a:gd name="adj" fmla="val 18182"/>
            </a:avLst>
          </a:prstGeom>
          <a:solidFill>
            <a:srgbClr val="8B0000"/>
          </a:solidFill>
          <a:ln w="12700">
            <a:solidFill>
              <a:srgbClr val="8B0000"/>
            </a:solidFill>
            <a:prstDash val="solid"/>
          </a:ln>
        </p:spPr>
      </p:sp>
      <p:sp>
        <p:nvSpPr>
          <p:cNvPr id="28" name="Text 26"/>
          <p:cNvSpPr/>
          <p:nvPr/>
        </p:nvSpPr>
        <p:spPr>
          <a:xfrm>
            <a:off x="118872" y="2011680"/>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CRITICAL CVE</a:t>
            </a:r>
            <a:endParaRPr lang="en-US" sz="650" dirty="0"/>
          </a:p>
        </p:txBody>
      </p:sp>
      <p:sp>
        <p:nvSpPr>
          <p:cNvPr id="29" name="Shape 27"/>
          <p:cNvSpPr/>
          <p:nvPr/>
        </p:nvSpPr>
        <p:spPr>
          <a:xfrm>
            <a:off x="1097280" y="1993392"/>
            <a:ext cx="502920" cy="256032"/>
          </a:xfrm>
          <a:prstGeom prst="roundRect">
            <a:avLst>
              <a:gd name="adj" fmla="val 14286"/>
            </a:avLst>
          </a:prstGeom>
          <a:solidFill>
            <a:srgbClr val="E8EEF5"/>
          </a:solidFill>
          <a:ln w="12700">
            <a:solidFill>
              <a:srgbClr val="D0DCE8"/>
            </a:solidFill>
            <a:prstDash val="solid"/>
          </a:ln>
        </p:spPr>
      </p:sp>
      <p:sp>
        <p:nvSpPr>
          <p:cNvPr id="30" name="Text 28"/>
          <p:cNvSpPr/>
          <p:nvPr/>
        </p:nvSpPr>
        <p:spPr>
          <a:xfrm>
            <a:off x="1097280" y="1993392"/>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1673352" y="1947672"/>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Logging  (log4j 1.x)</a:t>
            </a:r>
            <a:endParaRPr lang="en-US" sz="900" dirty="0"/>
          </a:p>
        </p:txBody>
      </p:sp>
      <p:sp>
        <p:nvSpPr>
          <p:cNvPr id="32" name="Text 30"/>
          <p:cNvSpPr/>
          <p:nvPr/>
        </p:nvSpPr>
        <p:spPr>
          <a:xfrm>
            <a:off x="1673352" y="2185416"/>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Upgrade to log4j2 — independent of migration timeline</a:t>
            </a:r>
            <a:endParaRPr lang="en-US" sz="750" dirty="0"/>
          </a:p>
        </p:txBody>
      </p:sp>
      <p:sp>
        <p:nvSpPr>
          <p:cNvPr id="33" name="Shape 31"/>
          <p:cNvSpPr/>
          <p:nvPr/>
        </p:nvSpPr>
        <p:spPr>
          <a:xfrm>
            <a:off x="5029200" y="2103120"/>
            <a:ext cx="73152" cy="73152"/>
          </a:xfrm>
          <a:prstGeom prst="ellipse">
            <a:avLst/>
          </a:prstGeom>
          <a:solidFill>
            <a:srgbClr val="D0DCE8"/>
          </a:solidFill>
          <a:ln w="12700">
            <a:solidFill>
              <a:srgbClr val="D0DCE8"/>
            </a:solidFill>
            <a:prstDash val="solid"/>
          </a:ln>
        </p:spPr>
      </p:sp>
      <p:sp>
        <p:nvSpPr>
          <p:cNvPr id="34" name="Text 32"/>
          <p:cNvSpPr/>
          <p:nvPr/>
        </p:nvSpPr>
        <p:spPr>
          <a:xfrm>
            <a:off x="5166360" y="1956816"/>
            <a:ext cx="3840480" cy="438912"/>
          </a:xfrm>
          <a:prstGeom prst="rect">
            <a:avLst/>
          </a:prstGeom>
          <a:noFill/>
          <a:ln/>
        </p:spPr>
        <p:txBody>
          <a:bodyPr wrap="square" lIns="0" tIns="0" rIns="0" bIns="0" rtlCol="0" anchor="ctr"/>
          <a:lstStyle/>
          <a:p>
            <a:pPr algn="l" indent="0" marL="0">
              <a:buNone/>
            </a:pPr>
            <a:r>
              <a:rPr lang="en-US" sz="780" dirty="0">
                <a:solidFill>
                  <a:srgbClr val="7B1E1E"/>
                </a:solidFill>
                <a:latin typeface="Calibri" pitchFamily="34" charset="0"/>
                <a:ea typeface="Calibri" pitchFamily="34" charset="-122"/>
                <a:cs typeface="Calibri" pitchFamily="34" charset="-120"/>
              </a:rPr>
              <a:t>log4j 1.2.17 carries active, known vulnerabilities. This must be addressed immediately — it is a live security exposure in the current production environment, not just a migration concern.</a:t>
            </a:r>
            <a:endParaRPr lang="en-US" sz="780" dirty="0"/>
          </a:p>
        </p:txBody>
      </p:sp>
      <p:sp>
        <p:nvSpPr>
          <p:cNvPr id="35" name="Shape 33"/>
          <p:cNvSpPr/>
          <p:nvPr/>
        </p:nvSpPr>
        <p:spPr>
          <a:xfrm>
            <a:off x="0" y="2487168"/>
            <a:ext cx="9144000" cy="548640"/>
          </a:xfrm>
          <a:prstGeom prst="rect">
            <a:avLst/>
          </a:prstGeom>
          <a:solidFill>
            <a:srgbClr val="FFFBEB"/>
          </a:solidFill>
          <a:ln w="12700">
            <a:solidFill>
              <a:srgbClr val="E8EEF5"/>
            </a:solidFill>
            <a:prstDash val="solid"/>
          </a:ln>
        </p:spPr>
      </p:sp>
      <p:sp>
        <p:nvSpPr>
          <p:cNvPr id="36" name="Shape 34"/>
          <p:cNvSpPr/>
          <p:nvPr/>
        </p:nvSpPr>
        <p:spPr>
          <a:xfrm>
            <a:off x="0" y="2487168"/>
            <a:ext cx="64008" cy="548640"/>
          </a:xfrm>
          <a:prstGeom prst="rect">
            <a:avLst/>
          </a:prstGeom>
          <a:solidFill>
            <a:srgbClr val="D97706"/>
          </a:solidFill>
          <a:ln w="12700">
            <a:solidFill>
              <a:srgbClr val="D97706"/>
            </a:solidFill>
            <a:prstDash val="solid"/>
          </a:ln>
        </p:spPr>
      </p:sp>
      <p:sp>
        <p:nvSpPr>
          <p:cNvPr id="37" name="Shape 35"/>
          <p:cNvSpPr/>
          <p:nvPr/>
        </p:nvSpPr>
        <p:spPr>
          <a:xfrm>
            <a:off x="118872" y="2596896"/>
            <a:ext cx="914400" cy="201168"/>
          </a:xfrm>
          <a:prstGeom prst="roundRect">
            <a:avLst>
              <a:gd name="adj" fmla="val 18182"/>
            </a:avLst>
          </a:prstGeom>
          <a:solidFill>
            <a:srgbClr val="D97706"/>
          </a:solidFill>
          <a:ln w="12700">
            <a:solidFill>
              <a:srgbClr val="D97706"/>
            </a:solidFill>
            <a:prstDash val="solid"/>
          </a:ln>
        </p:spPr>
      </p:sp>
      <p:sp>
        <p:nvSpPr>
          <p:cNvPr id="38" name="Text 36"/>
          <p:cNvSpPr/>
          <p:nvPr/>
        </p:nvSpPr>
        <p:spPr>
          <a:xfrm>
            <a:off x="118872" y="2596896"/>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RECOMPILE</a:t>
            </a:r>
            <a:endParaRPr lang="en-US" sz="650" dirty="0"/>
          </a:p>
        </p:txBody>
      </p:sp>
      <p:sp>
        <p:nvSpPr>
          <p:cNvPr id="39" name="Shape 37"/>
          <p:cNvSpPr/>
          <p:nvPr/>
        </p:nvSpPr>
        <p:spPr>
          <a:xfrm>
            <a:off x="1097280" y="2578608"/>
            <a:ext cx="502920" cy="256032"/>
          </a:xfrm>
          <a:prstGeom prst="roundRect">
            <a:avLst>
              <a:gd name="adj" fmla="val 14286"/>
            </a:avLst>
          </a:prstGeom>
          <a:solidFill>
            <a:srgbClr val="E8EEF5"/>
          </a:solidFill>
          <a:ln w="12700">
            <a:solidFill>
              <a:srgbClr val="D0DCE8"/>
            </a:solidFill>
            <a:prstDash val="solid"/>
          </a:ln>
        </p:spPr>
      </p:sp>
      <p:sp>
        <p:nvSpPr>
          <p:cNvPr id="40" name="Text 38"/>
          <p:cNvSpPr/>
          <p:nvPr/>
        </p:nvSpPr>
        <p:spPr>
          <a:xfrm>
            <a:off x="1097280" y="2578608"/>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~18</a:t>
            </a:r>
            <a:endParaRPr lang="en-US" sz="1100" dirty="0"/>
          </a:p>
        </p:txBody>
      </p:sp>
      <p:sp>
        <p:nvSpPr>
          <p:cNvPr id="41" name="Text 39"/>
          <p:cNvSpPr/>
          <p:nvPr/>
        </p:nvSpPr>
        <p:spPr>
          <a:xfrm>
            <a:off x="1673352" y="2532888"/>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Finastra Internal  +  UOB / Bank Internal</a:t>
            </a:r>
            <a:endParaRPr lang="en-US" sz="900" dirty="0"/>
          </a:p>
        </p:txBody>
      </p:sp>
      <p:sp>
        <p:nvSpPr>
          <p:cNvPr id="42" name="Text 40"/>
          <p:cNvSpPr/>
          <p:nvPr/>
        </p:nvSpPr>
        <p:spPr>
          <a:xfrm>
            <a:off x="1673352" y="2770632"/>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Locate source — recompile against Java 17 and Jakarta EE</a:t>
            </a:r>
            <a:endParaRPr lang="en-US" sz="750" dirty="0"/>
          </a:p>
        </p:txBody>
      </p:sp>
      <p:sp>
        <p:nvSpPr>
          <p:cNvPr id="43" name="Shape 41"/>
          <p:cNvSpPr/>
          <p:nvPr/>
        </p:nvSpPr>
        <p:spPr>
          <a:xfrm>
            <a:off x="5029200" y="2688336"/>
            <a:ext cx="73152" cy="73152"/>
          </a:xfrm>
          <a:prstGeom prst="ellipse">
            <a:avLst/>
          </a:prstGeom>
          <a:solidFill>
            <a:srgbClr val="D0DCE8"/>
          </a:solidFill>
          <a:ln w="12700">
            <a:solidFill>
              <a:srgbClr val="D0DCE8"/>
            </a:solidFill>
            <a:prstDash val="solid"/>
          </a:ln>
        </p:spPr>
      </p:sp>
      <p:sp>
        <p:nvSpPr>
          <p:cNvPr id="44" name="Text 42"/>
          <p:cNvSpPr/>
          <p:nvPr/>
        </p:nvSpPr>
        <p:spPr>
          <a:xfrm>
            <a:off x="5166360" y="2542032"/>
            <a:ext cx="3840480" cy="438912"/>
          </a:xfrm>
          <a:prstGeom prst="rect">
            <a:avLst/>
          </a:prstGeom>
          <a:noFill/>
          <a:ln/>
        </p:spPr>
        <p:txBody>
          <a:bodyPr wrap="square" lIns="0" tIns="0" rIns="0" bIns="0" rtlCol="0" anchor="ctr"/>
          <a:lstStyle/>
          <a:p>
            <a:pPr algn="l" indent="0" marL="0">
              <a:buNone/>
            </a:pPr>
            <a:r>
              <a:rPr lang="en-US" sz="780" dirty="0">
                <a:solidFill>
                  <a:srgbClr val="92400E"/>
                </a:solidFill>
                <a:latin typeface="Calibri" pitchFamily="34" charset="0"/>
                <a:ea typeface="Calibri" pitchFamily="34" charset="-122"/>
                <a:cs typeface="Calibri" pitchFamily="34" charset="-120"/>
              </a:rPr>
              <a:t>These JARs are proprietary builds — Finastra-provided and UOB-customised. Source must be located and confirmed available. Each must be recompiled against the target stack.</a:t>
            </a:r>
            <a:endParaRPr lang="en-US" sz="780" dirty="0"/>
          </a:p>
        </p:txBody>
      </p:sp>
      <p:sp>
        <p:nvSpPr>
          <p:cNvPr id="45" name="Shape 43"/>
          <p:cNvSpPr/>
          <p:nvPr/>
        </p:nvSpPr>
        <p:spPr>
          <a:xfrm>
            <a:off x="0" y="3072384"/>
            <a:ext cx="9144000" cy="548640"/>
          </a:xfrm>
          <a:prstGeom prst="rect">
            <a:avLst/>
          </a:prstGeom>
          <a:solidFill>
            <a:srgbClr val="FFFBEB"/>
          </a:solidFill>
          <a:ln w="12700">
            <a:solidFill>
              <a:srgbClr val="E8EEF5"/>
            </a:solidFill>
            <a:prstDash val="solid"/>
          </a:ln>
        </p:spPr>
      </p:sp>
      <p:sp>
        <p:nvSpPr>
          <p:cNvPr id="46" name="Shape 44"/>
          <p:cNvSpPr/>
          <p:nvPr/>
        </p:nvSpPr>
        <p:spPr>
          <a:xfrm>
            <a:off x="0" y="3072384"/>
            <a:ext cx="64008" cy="548640"/>
          </a:xfrm>
          <a:prstGeom prst="rect">
            <a:avLst/>
          </a:prstGeom>
          <a:solidFill>
            <a:srgbClr val="D97706"/>
          </a:solidFill>
          <a:ln w="12700">
            <a:solidFill>
              <a:srgbClr val="D97706"/>
            </a:solidFill>
            <a:prstDash val="solid"/>
          </a:ln>
        </p:spPr>
      </p:sp>
      <p:sp>
        <p:nvSpPr>
          <p:cNvPr id="47" name="Shape 45"/>
          <p:cNvSpPr/>
          <p:nvPr/>
        </p:nvSpPr>
        <p:spPr>
          <a:xfrm>
            <a:off x="118872" y="3182112"/>
            <a:ext cx="914400" cy="201168"/>
          </a:xfrm>
          <a:prstGeom prst="roundRect">
            <a:avLst>
              <a:gd name="adj" fmla="val 18182"/>
            </a:avLst>
          </a:prstGeom>
          <a:solidFill>
            <a:srgbClr val="D97706"/>
          </a:solidFill>
          <a:ln w="12700">
            <a:solidFill>
              <a:srgbClr val="D97706"/>
            </a:solidFill>
            <a:prstDash val="solid"/>
          </a:ln>
        </p:spPr>
      </p:sp>
      <p:sp>
        <p:nvSpPr>
          <p:cNvPr id="48" name="Text 46"/>
          <p:cNvSpPr/>
          <p:nvPr/>
        </p:nvSpPr>
        <p:spPr>
          <a:xfrm>
            <a:off x="118872" y="3182112"/>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VERIFY USAGE</a:t>
            </a:r>
            <a:endParaRPr lang="en-US" sz="650" dirty="0"/>
          </a:p>
        </p:txBody>
      </p:sp>
      <p:sp>
        <p:nvSpPr>
          <p:cNvPr id="49" name="Shape 47"/>
          <p:cNvSpPr/>
          <p:nvPr/>
        </p:nvSpPr>
        <p:spPr>
          <a:xfrm>
            <a:off x="1097280" y="3163824"/>
            <a:ext cx="502920" cy="256032"/>
          </a:xfrm>
          <a:prstGeom prst="roundRect">
            <a:avLst>
              <a:gd name="adj" fmla="val 14286"/>
            </a:avLst>
          </a:prstGeom>
          <a:solidFill>
            <a:srgbClr val="E8EEF5"/>
          </a:solidFill>
          <a:ln w="12700">
            <a:solidFill>
              <a:srgbClr val="D0DCE8"/>
            </a:solidFill>
            <a:prstDash val="solid"/>
          </a:ln>
        </p:spPr>
      </p:sp>
      <p:sp>
        <p:nvSpPr>
          <p:cNvPr id="50" name="Text 48"/>
          <p:cNvSpPr/>
          <p:nvPr/>
        </p:nvSpPr>
        <p:spPr>
          <a:xfrm>
            <a:off x="1097280" y="3163824"/>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~55</a:t>
            </a:r>
            <a:endParaRPr lang="en-US" sz="1100" dirty="0"/>
          </a:p>
        </p:txBody>
      </p:sp>
      <p:sp>
        <p:nvSpPr>
          <p:cNvPr id="51" name="Text 49"/>
          <p:cNvSpPr/>
          <p:nvPr/>
        </p:nvSpPr>
        <p:spPr>
          <a:xfrm>
            <a:off x="1673352" y="3118104"/>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Usage Verification Required  (JSON, PDF, Search, Image, Utility, HTTP, AOP, Cache, Scripting, Messaging, i18n, Legacy, Unknown...)</a:t>
            </a:r>
            <a:endParaRPr lang="en-US" sz="900" dirty="0"/>
          </a:p>
        </p:txBody>
      </p:sp>
      <p:sp>
        <p:nvSpPr>
          <p:cNvPr id="52" name="Text 50"/>
          <p:cNvSpPr/>
          <p:nvPr/>
        </p:nvSpPr>
        <p:spPr>
          <a:xfrm>
            <a:off x="1673352" y="3355848"/>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Confirm whether each JAR is actively called in code or dormant in WEB-INF/lib</a:t>
            </a:r>
            <a:endParaRPr lang="en-US" sz="750" dirty="0"/>
          </a:p>
        </p:txBody>
      </p:sp>
      <p:sp>
        <p:nvSpPr>
          <p:cNvPr id="53" name="Shape 51"/>
          <p:cNvSpPr/>
          <p:nvPr/>
        </p:nvSpPr>
        <p:spPr>
          <a:xfrm>
            <a:off x="5029200" y="3273552"/>
            <a:ext cx="73152" cy="73152"/>
          </a:xfrm>
          <a:prstGeom prst="ellipse">
            <a:avLst/>
          </a:prstGeom>
          <a:solidFill>
            <a:srgbClr val="D0DCE8"/>
          </a:solidFill>
          <a:ln w="12700">
            <a:solidFill>
              <a:srgbClr val="D0DCE8"/>
            </a:solidFill>
            <a:prstDash val="solid"/>
          </a:ln>
        </p:spPr>
      </p:sp>
      <p:sp>
        <p:nvSpPr>
          <p:cNvPr id="54" name="Text 52"/>
          <p:cNvSpPr/>
          <p:nvPr/>
        </p:nvSpPr>
        <p:spPr>
          <a:xfrm>
            <a:off x="5166360" y="3127248"/>
            <a:ext cx="3840480" cy="438912"/>
          </a:xfrm>
          <a:prstGeom prst="rect">
            <a:avLst/>
          </a:prstGeom>
          <a:noFill/>
          <a:ln/>
        </p:spPr>
        <p:txBody>
          <a:bodyPr wrap="square" lIns="0" tIns="0" rIns="0" bIns="0" rtlCol="0" anchor="ctr"/>
          <a:lstStyle/>
          <a:p>
            <a:pPr algn="l" indent="0" marL="0">
              <a:buNone/>
            </a:pPr>
            <a:r>
              <a:rPr lang="en-US" sz="780" dirty="0">
                <a:solidFill>
                  <a:srgbClr val="92400E"/>
                </a:solidFill>
                <a:latin typeface="Calibri" pitchFamily="34" charset="0"/>
                <a:ea typeface="Calibri" pitchFamily="34" charset="-122"/>
                <a:cs typeface="Calibri" pitchFamily="34" charset="-120"/>
              </a:rPr>
              <a:t>This is the most important honest gap in this assessment. A number of JARs exist in the deployment but their active usage in GEB code is unconfirmed. Dormant JARs may be removed; active ones need version assessment. This analysis is required before final migration effort can be sized.</a:t>
            </a:r>
            <a:endParaRPr lang="en-US" sz="780" dirty="0"/>
          </a:p>
        </p:txBody>
      </p:sp>
      <p:sp>
        <p:nvSpPr>
          <p:cNvPr id="55" name="Shape 53"/>
          <p:cNvSpPr/>
          <p:nvPr/>
        </p:nvSpPr>
        <p:spPr>
          <a:xfrm>
            <a:off x="0" y="3657600"/>
            <a:ext cx="9144000" cy="548640"/>
          </a:xfrm>
          <a:prstGeom prst="rect">
            <a:avLst/>
          </a:prstGeom>
          <a:solidFill>
            <a:srgbClr val="F0FAF4"/>
          </a:solidFill>
          <a:ln w="12700">
            <a:solidFill>
              <a:srgbClr val="E8EEF5"/>
            </a:solidFill>
            <a:prstDash val="solid"/>
          </a:ln>
        </p:spPr>
      </p:sp>
      <p:sp>
        <p:nvSpPr>
          <p:cNvPr id="56" name="Shape 54"/>
          <p:cNvSpPr/>
          <p:nvPr/>
        </p:nvSpPr>
        <p:spPr>
          <a:xfrm>
            <a:off x="0" y="3657600"/>
            <a:ext cx="64008" cy="548640"/>
          </a:xfrm>
          <a:prstGeom prst="rect">
            <a:avLst/>
          </a:prstGeom>
          <a:solidFill>
            <a:srgbClr val="1A7A3E"/>
          </a:solidFill>
          <a:ln w="12700">
            <a:solidFill>
              <a:srgbClr val="1A7A3E"/>
            </a:solidFill>
            <a:prstDash val="solid"/>
          </a:ln>
        </p:spPr>
      </p:sp>
      <p:sp>
        <p:nvSpPr>
          <p:cNvPr id="57" name="Shape 55"/>
          <p:cNvSpPr/>
          <p:nvPr/>
        </p:nvSpPr>
        <p:spPr>
          <a:xfrm>
            <a:off x="118872" y="3767328"/>
            <a:ext cx="914400" cy="201168"/>
          </a:xfrm>
          <a:prstGeom prst="roundRect">
            <a:avLst>
              <a:gd name="adj" fmla="val 18182"/>
            </a:avLst>
          </a:prstGeom>
          <a:solidFill>
            <a:srgbClr val="1A7A3E"/>
          </a:solidFill>
          <a:ln w="12700">
            <a:solidFill>
              <a:srgbClr val="1A7A3E"/>
            </a:solidFill>
            <a:prstDash val="solid"/>
          </a:ln>
        </p:spPr>
      </p:sp>
      <p:sp>
        <p:nvSpPr>
          <p:cNvPr id="58" name="Text 56"/>
          <p:cNvSpPr/>
          <p:nvPr/>
        </p:nvSpPr>
        <p:spPr>
          <a:xfrm>
            <a:off x="118872" y="3767328"/>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UPGRADE</a:t>
            </a:r>
            <a:endParaRPr lang="en-US" sz="650" dirty="0"/>
          </a:p>
        </p:txBody>
      </p:sp>
      <p:sp>
        <p:nvSpPr>
          <p:cNvPr id="59" name="Shape 57"/>
          <p:cNvSpPr/>
          <p:nvPr/>
        </p:nvSpPr>
        <p:spPr>
          <a:xfrm>
            <a:off x="1097280" y="3749040"/>
            <a:ext cx="502920" cy="256032"/>
          </a:xfrm>
          <a:prstGeom prst="roundRect">
            <a:avLst>
              <a:gd name="adj" fmla="val 14286"/>
            </a:avLst>
          </a:prstGeom>
          <a:solidFill>
            <a:srgbClr val="E8EEF5"/>
          </a:solidFill>
          <a:ln w="12700">
            <a:solidFill>
              <a:srgbClr val="D0DCE8"/>
            </a:solidFill>
            <a:prstDash val="solid"/>
          </a:ln>
        </p:spPr>
      </p:sp>
      <p:sp>
        <p:nvSpPr>
          <p:cNvPr id="60" name="Text 58"/>
          <p:cNvSpPr/>
          <p:nvPr/>
        </p:nvSpPr>
        <p:spPr>
          <a:xfrm>
            <a:off x="1097280" y="3749040"/>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~23</a:t>
            </a:r>
            <a:endParaRPr lang="en-US" sz="1100" dirty="0"/>
          </a:p>
        </p:txBody>
      </p:sp>
      <p:sp>
        <p:nvSpPr>
          <p:cNvPr id="61" name="Text 59"/>
          <p:cNvSpPr/>
          <p:nvPr/>
        </p:nvSpPr>
        <p:spPr>
          <a:xfrm>
            <a:off x="1673352" y="3703320"/>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Apache Commons  +  XML/XSLT  (Xalan, EXSLT...)</a:t>
            </a:r>
            <a:endParaRPr lang="en-US" sz="900" dirty="0"/>
          </a:p>
        </p:txBody>
      </p:sp>
      <p:sp>
        <p:nvSpPr>
          <p:cNvPr id="62" name="Text 60"/>
          <p:cNvSpPr/>
          <p:nvPr/>
        </p:nvSpPr>
        <p:spPr>
          <a:xfrm>
            <a:off x="1673352" y="3941064"/>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Version upgrades — well-maintained, clear upgrade path available</a:t>
            </a:r>
            <a:endParaRPr lang="en-US" sz="750" dirty="0"/>
          </a:p>
        </p:txBody>
      </p:sp>
      <p:sp>
        <p:nvSpPr>
          <p:cNvPr id="63" name="Shape 61"/>
          <p:cNvSpPr/>
          <p:nvPr/>
        </p:nvSpPr>
        <p:spPr>
          <a:xfrm>
            <a:off x="5029200" y="3858768"/>
            <a:ext cx="73152" cy="73152"/>
          </a:xfrm>
          <a:prstGeom prst="ellipse">
            <a:avLst/>
          </a:prstGeom>
          <a:solidFill>
            <a:srgbClr val="D0DCE8"/>
          </a:solidFill>
          <a:ln w="12700">
            <a:solidFill>
              <a:srgbClr val="D0DCE8"/>
            </a:solidFill>
            <a:prstDash val="solid"/>
          </a:ln>
        </p:spPr>
      </p:sp>
      <p:sp>
        <p:nvSpPr>
          <p:cNvPr id="64" name="Text 62"/>
          <p:cNvSpPr/>
          <p:nvPr/>
        </p:nvSpPr>
        <p:spPr>
          <a:xfrm>
            <a:off x="5166360" y="3712464"/>
            <a:ext cx="3840480" cy="438912"/>
          </a:xfrm>
          <a:prstGeom prst="rect">
            <a:avLst/>
          </a:prstGeom>
          <a:noFill/>
          <a:ln/>
        </p:spPr>
        <p:txBody>
          <a:bodyPr wrap="square" lIns="0" tIns="0" rIns="0" bIns="0" rtlCol="0" anchor="ctr"/>
          <a:lstStyle/>
          <a:p>
            <a:pPr algn="l" indent="0" marL="0">
              <a:buNone/>
            </a:pPr>
            <a:r>
              <a:rPr lang="en-US" sz="780" dirty="0">
                <a:solidFill>
                  <a:srgbClr val="2D6A4F"/>
                </a:solidFill>
                <a:latin typeface="Calibri" pitchFamily="34" charset="0"/>
                <a:ea typeface="Calibri" pitchFamily="34" charset="-122"/>
                <a:cs typeface="Calibri" pitchFamily="34" charset="-120"/>
              </a:rPr>
              <a:t>Apache Commons libraries are actively maintained with Java 17 compatible versions. Xalan: 2.7.2 → 2.7.3 (CVE security patch only, no API change). Upgrade path is straightforward for this group.</a:t>
            </a:r>
            <a:endParaRPr lang="en-US" sz="780" dirty="0"/>
          </a:p>
        </p:txBody>
      </p:sp>
      <p:sp>
        <p:nvSpPr>
          <p:cNvPr id="65" name="Shape 63"/>
          <p:cNvSpPr/>
          <p:nvPr/>
        </p:nvSpPr>
        <p:spPr>
          <a:xfrm>
            <a:off x="0" y="4242816"/>
            <a:ext cx="9144000" cy="548640"/>
          </a:xfrm>
          <a:prstGeom prst="rect">
            <a:avLst/>
          </a:prstGeom>
          <a:solidFill>
            <a:srgbClr val="EFF6FF"/>
          </a:solidFill>
          <a:ln w="12700">
            <a:solidFill>
              <a:srgbClr val="E8EEF5"/>
            </a:solidFill>
            <a:prstDash val="solid"/>
          </a:ln>
        </p:spPr>
      </p:sp>
      <p:sp>
        <p:nvSpPr>
          <p:cNvPr id="66" name="Shape 64"/>
          <p:cNvSpPr/>
          <p:nvPr/>
        </p:nvSpPr>
        <p:spPr>
          <a:xfrm>
            <a:off x="0" y="4242816"/>
            <a:ext cx="64008" cy="548640"/>
          </a:xfrm>
          <a:prstGeom prst="rect">
            <a:avLst/>
          </a:prstGeom>
          <a:solidFill>
            <a:srgbClr val="0072BC"/>
          </a:solidFill>
          <a:ln w="12700">
            <a:solidFill>
              <a:srgbClr val="0072BC"/>
            </a:solidFill>
            <a:prstDash val="solid"/>
          </a:ln>
        </p:spPr>
      </p:sp>
      <p:sp>
        <p:nvSpPr>
          <p:cNvPr id="67" name="Shape 65"/>
          <p:cNvSpPr/>
          <p:nvPr/>
        </p:nvSpPr>
        <p:spPr>
          <a:xfrm>
            <a:off x="118872" y="4352544"/>
            <a:ext cx="914400" cy="201168"/>
          </a:xfrm>
          <a:prstGeom prst="roundRect">
            <a:avLst>
              <a:gd name="adj" fmla="val 18182"/>
            </a:avLst>
          </a:prstGeom>
          <a:solidFill>
            <a:srgbClr val="0072BC"/>
          </a:solidFill>
          <a:ln w="12700">
            <a:solidFill>
              <a:srgbClr val="0072BC"/>
            </a:solidFill>
            <a:prstDash val="solid"/>
          </a:ln>
        </p:spPr>
      </p:sp>
      <p:sp>
        <p:nvSpPr>
          <p:cNvPr id="68" name="Text 66"/>
          <p:cNvSpPr/>
          <p:nvPr/>
        </p:nvSpPr>
        <p:spPr>
          <a:xfrm>
            <a:off x="118872" y="4352544"/>
            <a:ext cx="91440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SEE SLIDES</a:t>
            </a:r>
            <a:endParaRPr lang="en-US" sz="650" dirty="0"/>
          </a:p>
        </p:txBody>
      </p:sp>
      <p:sp>
        <p:nvSpPr>
          <p:cNvPr id="69" name="Shape 67"/>
          <p:cNvSpPr/>
          <p:nvPr/>
        </p:nvSpPr>
        <p:spPr>
          <a:xfrm>
            <a:off x="1097280" y="4334256"/>
            <a:ext cx="502920" cy="256032"/>
          </a:xfrm>
          <a:prstGeom prst="roundRect">
            <a:avLst>
              <a:gd name="adj" fmla="val 14286"/>
            </a:avLst>
          </a:prstGeom>
          <a:solidFill>
            <a:srgbClr val="E8EEF5"/>
          </a:solidFill>
          <a:ln w="12700">
            <a:solidFill>
              <a:srgbClr val="D0DCE8"/>
            </a:solidFill>
            <a:prstDash val="solid"/>
          </a:ln>
        </p:spPr>
      </p:sp>
      <p:sp>
        <p:nvSpPr>
          <p:cNvPr id="70" name="Text 68"/>
          <p:cNvSpPr/>
          <p:nvPr/>
        </p:nvSpPr>
        <p:spPr>
          <a:xfrm>
            <a:off x="1097280" y="4334256"/>
            <a:ext cx="50292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Calibri" pitchFamily="34" charset="0"/>
                <a:ea typeface="Calibri" pitchFamily="34" charset="-122"/>
                <a:cs typeface="Calibri" pitchFamily="34" charset="-120"/>
              </a:rPr>
              <a:t>~14</a:t>
            </a:r>
            <a:endParaRPr lang="en-US" sz="1100" dirty="0"/>
          </a:p>
        </p:txBody>
      </p:sp>
      <p:sp>
        <p:nvSpPr>
          <p:cNvPr id="71" name="Text 69"/>
          <p:cNvSpPr/>
          <p:nvPr/>
        </p:nvSpPr>
        <p:spPr>
          <a:xfrm>
            <a:off x="1673352" y="4288536"/>
            <a:ext cx="3291840" cy="237744"/>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Core Framework  (Turbine, Torque...)  +  NEW Turbine 7 additions</a:t>
            </a:r>
            <a:endParaRPr lang="en-US" sz="900" dirty="0"/>
          </a:p>
        </p:txBody>
      </p:sp>
      <p:sp>
        <p:nvSpPr>
          <p:cNvPr id="72" name="Text 70"/>
          <p:cNvSpPr/>
          <p:nvPr/>
        </p:nvSpPr>
        <p:spPr>
          <a:xfrm>
            <a:off x="1673352" y="4526280"/>
            <a:ext cx="3291840" cy="201168"/>
          </a:xfrm>
          <a:prstGeom prst="rect">
            <a:avLst/>
          </a:prstGeom>
          <a:noFill/>
          <a:ln/>
        </p:spPr>
        <p:txBody>
          <a:bodyPr wrap="square" lIns="0" tIns="0" rIns="0" bIns="0" rtlCol="0" anchor="ctr"/>
          <a:lstStyle/>
          <a:p>
            <a:pPr algn="l" indent="0" marL="0">
              <a:buNone/>
            </a:pPr>
            <a:r>
              <a:rPr lang="en-US" sz="750" i="1" dirty="0">
                <a:solidFill>
                  <a:srgbClr val="6B7E94"/>
                </a:solidFill>
                <a:latin typeface="Calibri" pitchFamily="34" charset="0"/>
                <a:ea typeface="Calibri" pitchFamily="34" charset="-122"/>
                <a:cs typeface="Calibri" pitchFamily="34" charset="-120"/>
              </a:rPr>
              <a:t>Core Framework covered in Framework and Data Layer slides  ·  6 new JARs introduced by Turbine 7</a:t>
            </a:r>
            <a:endParaRPr lang="en-US" sz="750" dirty="0"/>
          </a:p>
        </p:txBody>
      </p:sp>
      <p:sp>
        <p:nvSpPr>
          <p:cNvPr id="73" name="Shape 71"/>
          <p:cNvSpPr/>
          <p:nvPr/>
        </p:nvSpPr>
        <p:spPr>
          <a:xfrm>
            <a:off x="5029200" y="4443984"/>
            <a:ext cx="73152" cy="73152"/>
          </a:xfrm>
          <a:prstGeom prst="ellipse">
            <a:avLst/>
          </a:prstGeom>
          <a:solidFill>
            <a:srgbClr val="D0DCE8"/>
          </a:solidFill>
          <a:ln w="12700">
            <a:solidFill>
              <a:srgbClr val="D0DCE8"/>
            </a:solidFill>
            <a:prstDash val="solid"/>
          </a:ln>
        </p:spPr>
      </p:sp>
      <p:sp>
        <p:nvSpPr>
          <p:cNvPr id="74" name="Text 72"/>
          <p:cNvSpPr/>
          <p:nvPr/>
        </p:nvSpPr>
        <p:spPr>
          <a:xfrm>
            <a:off x="5166360" y="4297680"/>
            <a:ext cx="3840480" cy="438912"/>
          </a:xfrm>
          <a:prstGeom prst="rect">
            <a:avLst/>
          </a:prstGeom>
          <a:noFill/>
          <a:ln/>
        </p:spPr>
        <p:txBody>
          <a:bodyPr wrap="square" lIns="0" tIns="0" rIns="0" bIns="0" rtlCol="0" anchor="ctr"/>
          <a:lstStyle/>
          <a:p>
            <a:pPr algn="l" indent="0" marL="0">
              <a:buNone/>
            </a:pPr>
            <a:r>
              <a:rPr lang="en-US" sz="780" dirty="0">
                <a:solidFill>
                  <a:srgbClr val="1E40AF"/>
                </a:solidFill>
                <a:latin typeface="Calibri" pitchFamily="34" charset="0"/>
                <a:ea typeface="Calibri" pitchFamily="34" charset="-122"/>
                <a:cs typeface="Calibri" pitchFamily="34" charset="-120"/>
              </a:rPr>
              <a:t>Turbine 7 migration introduces 6 new dependency JARs (Fulcrum/YAAFI components). Core framework migration is detailed separately in the Framework and Data Layer assessment slides.</a:t>
            </a:r>
            <a:endParaRPr lang="en-US" sz="780" dirty="0"/>
          </a:p>
        </p:txBody>
      </p:sp>
      <p:sp>
        <p:nvSpPr>
          <p:cNvPr id="75" name="Shape 73"/>
          <p:cNvSpPr/>
          <p:nvPr/>
        </p:nvSpPr>
        <p:spPr>
          <a:xfrm>
            <a:off x="0" y="4764024"/>
            <a:ext cx="9144000" cy="283464"/>
          </a:xfrm>
          <a:prstGeom prst="rect">
            <a:avLst/>
          </a:prstGeom>
          <a:solidFill>
            <a:srgbClr val="1A3A5C"/>
          </a:solidFill>
          <a:ln w="12700">
            <a:solidFill>
              <a:srgbClr val="1A3A5C"/>
            </a:solidFill>
            <a:prstDash val="solid"/>
          </a:ln>
        </p:spPr>
      </p:sp>
      <p:sp>
        <p:nvSpPr>
          <p:cNvPr id="76" name="Text 74"/>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Usage verification of the ~55 unconfirmed JARs is a prerequisite to finalising migration scope and effort estimation</a:t>
            </a:r>
            <a:endParaRPr lang="en-US" sz="850" dirty="0"/>
          </a:p>
        </p:txBody>
      </p:sp>
      <p:sp>
        <p:nvSpPr>
          <p:cNvPr id="77" name="Shape 75"/>
          <p:cNvSpPr/>
          <p:nvPr/>
        </p:nvSpPr>
        <p:spPr>
          <a:xfrm>
            <a:off x="0" y="5047488"/>
            <a:ext cx="9144000" cy="96012"/>
          </a:xfrm>
          <a:prstGeom prst="rect">
            <a:avLst/>
          </a:prstGeom>
          <a:solidFill>
            <a:srgbClr val="091525"/>
          </a:solidFill>
          <a:ln w="12700">
            <a:solidFill>
              <a:srgbClr val="091525"/>
            </a:solidFill>
            <a:prstDash val="solid"/>
          </a:ln>
        </p:spPr>
      </p:sp>
      <p:sp>
        <p:nvSpPr>
          <p:cNvPr id="78" name="Text 76"/>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3152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Proof of Concept  —  Mini-GEB on Turbine 7</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Hands-on validation  ·  Turbine 7  ·  Java 17  ·  Tomcat 10.0.27  ·  Jakarta EE</a:t>
            </a:r>
            <a:endParaRPr lang="en-US" sz="900" dirty="0"/>
          </a:p>
        </p:txBody>
      </p:sp>
      <p:sp>
        <p:nvSpPr>
          <p:cNvPr id="5" name="Shape 3"/>
          <p:cNvSpPr/>
          <p:nvPr/>
        </p:nvSpPr>
        <p:spPr>
          <a:xfrm>
            <a:off x="137160" y="749808"/>
            <a:ext cx="8869680" cy="256032"/>
          </a:xfrm>
          <a:prstGeom prst="rect">
            <a:avLst/>
          </a:prstGeom>
          <a:solidFill>
            <a:srgbClr val="1A3A5C"/>
          </a:solidFill>
          <a:ln w="12700">
            <a:solidFill>
              <a:srgbClr val="1A3A5C"/>
            </a:solidFill>
            <a:prstDash val="solid"/>
          </a:ln>
        </p:spPr>
      </p:sp>
      <p:sp>
        <p:nvSpPr>
          <p:cNvPr id="6" name="Text 4"/>
          <p:cNvSpPr/>
          <p:nvPr/>
        </p:nvSpPr>
        <p:spPr>
          <a:xfrm>
            <a:off x="228600" y="749808"/>
            <a:ext cx="8686800" cy="256032"/>
          </a:xfrm>
          <a:prstGeom prst="rect">
            <a:avLst/>
          </a:prstGeom>
          <a:noFill/>
          <a:ln/>
        </p:spPr>
        <p:txBody>
          <a:bodyPr wrap="square" lIns="0" tIns="0" rIns="0" bIns="0" rtlCol="0" anchor="ctr"/>
          <a:lstStyle/>
          <a:p>
            <a:pPr algn="l" indent="0" marL="0">
              <a:buNone/>
            </a:pPr>
            <a:r>
              <a:rPr lang="en-US" sz="850" b="1" dirty="0">
                <a:solidFill>
                  <a:srgbClr val="8BA3BF"/>
                </a:solidFill>
                <a:latin typeface="Calibri" pitchFamily="34" charset="0"/>
                <a:ea typeface="Calibri" pitchFamily="34" charset="-122"/>
                <a:cs typeface="Calibri" pitchFamily="34" charset="-120"/>
              </a:rPr>
              <a:t>POC Stack:  Turbine 7.0   |   Java 17   |   Apache Tomcat 10.0.27   |   Jakarta EE   |   Mini-GEB application (replicated GEB architecture)</a:t>
            </a:r>
            <a:endParaRPr lang="en-US" sz="850" dirty="0"/>
          </a:p>
        </p:txBody>
      </p:sp>
      <p:sp>
        <p:nvSpPr>
          <p:cNvPr id="7" name="Text 5"/>
          <p:cNvSpPr/>
          <p:nvPr/>
        </p:nvSpPr>
        <p:spPr>
          <a:xfrm>
            <a:off x="182880" y="1069848"/>
            <a:ext cx="484632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4 ARCHITECTURE TESTS</a:t>
            </a:r>
            <a:endParaRPr lang="en-US" sz="750" dirty="0"/>
          </a:p>
        </p:txBody>
      </p:sp>
      <p:sp>
        <p:nvSpPr>
          <p:cNvPr id="8" name="Shape 6"/>
          <p:cNvSpPr/>
          <p:nvPr/>
        </p:nvSpPr>
        <p:spPr>
          <a:xfrm>
            <a:off x="137160" y="1298448"/>
            <a:ext cx="5029200" cy="804672"/>
          </a:xfrm>
          <a:prstGeom prst="rect">
            <a:avLst/>
          </a:prstGeom>
          <a:solidFill>
            <a:srgbClr val="FFFFFF"/>
          </a:solidFill>
          <a:ln w="12700">
            <a:solidFill>
              <a:srgbClr val="D8E6F0"/>
            </a:solidFill>
            <a:prstDash val="solid"/>
          </a:ln>
        </p:spPr>
      </p:sp>
      <p:sp>
        <p:nvSpPr>
          <p:cNvPr id="9" name="Shape 7"/>
          <p:cNvSpPr/>
          <p:nvPr/>
        </p:nvSpPr>
        <p:spPr>
          <a:xfrm>
            <a:off x="137160" y="1298448"/>
            <a:ext cx="45720" cy="804672"/>
          </a:xfrm>
          <a:prstGeom prst="rect">
            <a:avLst/>
          </a:prstGeom>
          <a:solidFill>
            <a:srgbClr val="1A7A3E"/>
          </a:solidFill>
          <a:ln w="12700">
            <a:solidFill>
              <a:srgbClr val="1A7A3E"/>
            </a:solidFill>
            <a:prstDash val="solid"/>
          </a:ln>
        </p:spPr>
      </p:sp>
      <p:sp>
        <p:nvSpPr>
          <p:cNvPr id="10" name="Text 8"/>
          <p:cNvSpPr/>
          <p:nvPr/>
        </p:nvSpPr>
        <p:spPr>
          <a:xfrm>
            <a:off x="246888" y="1335024"/>
            <a:ext cx="274320" cy="219456"/>
          </a:xfrm>
          <a:prstGeom prst="rect">
            <a:avLst/>
          </a:prstGeom>
          <a:noFill/>
          <a:ln/>
        </p:spPr>
        <p:txBody>
          <a:bodyPr wrap="square" lIns="0" tIns="0" rIns="0" bIns="0" rtlCol="0" anchor="ctr"/>
          <a:lstStyle/>
          <a:p>
            <a:pPr algn="l" indent="0" marL="0">
              <a:buNone/>
            </a:pPr>
            <a:r>
              <a:rPr lang="en-US" sz="1200" b="1" dirty="0">
                <a:solidFill>
                  <a:srgbClr val="D0DCE8"/>
                </a:solidFill>
                <a:latin typeface="Calibri" pitchFamily="34" charset="0"/>
                <a:ea typeface="Calibri" pitchFamily="34" charset="-122"/>
                <a:cs typeface="Calibri" pitchFamily="34" charset="-120"/>
              </a:rPr>
              <a:t>01</a:t>
            </a:r>
            <a:endParaRPr lang="en-US" sz="1200" dirty="0"/>
          </a:p>
        </p:txBody>
      </p:sp>
      <p:sp>
        <p:nvSpPr>
          <p:cNvPr id="11" name="Text 9"/>
          <p:cNvSpPr/>
          <p:nvPr/>
        </p:nvSpPr>
        <p:spPr>
          <a:xfrm>
            <a:off x="548640" y="1344168"/>
            <a:ext cx="3200400" cy="219456"/>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RunData Creation — Custom Service</a:t>
            </a:r>
            <a:endParaRPr lang="en-US" sz="900" dirty="0"/>
          </a:p>
        </p:txBody>
      </p:sp>
      <p:sp>
        <p:nvSpPr>
          <p:cNvPr id="12" name="Shape 10"/>
          <p:cNvSpPr/>
          <p:nvPr/>
        </p:nvSpPr>
        <p:spPr>
          <a:xfrm>
            <a:off x="3794760" y="1362456"/>
            <a:ext cx="1280160" cy="182880"/>
          </a:xfrm>
          <a:prstGeom prst="roundRect">
            <a:avLst>
              <a:gd name="adj" fmla="val 20000"/>
            </a:avLst>
          </a:prstGeom>
          <a:solidFill>
            <a:srgbClr val="1A7A3E"/>
          </a:solidFill>
          <a:ln w="12700">
            <a:solidFill>
              <a:srgbClr val="1A7A3E"/>
            </a:solidFill>
            <a:prstDash val="solid"/>
          </a:ln>
        </p:spPr>
      </p:sp>
      <p:sp>
        <p:nvSpPr>
          <p:cNvPr id="13" name="Text 11"/>
          <p:cNvSpPr/>
          <p:nvPr/>
        </p:nvSpPr>
        <p:spPr>
          <a:xfrm>
            <a:off x="3794760" y="1362456"/>
            <a:ext cx="128016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PASS</a:t>
            </a:r>
            <a:endParaRPr lang="en-US" sz="650" dirty="0"/>
          </a:p>
        </p:txBody>
      </p:sp>
      <p:sp>
        <p:nvSpPr>
          <p:cNvPr id="14" name="Text 12"/>
          <p:cNvSpPr/>
          <p:nvPr/>
        </p:nvSpPr>
        <p:spPr>
          <a:xfrm>
            <a:off x="246888" y="1581912"/>
            <a:ext cx="4846320" cy="329184"/>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GTPRunDataService pattern successfully replicated. Custom RunDataService registers in Turbine 7, creates DefaultMiniGEBRunData from the object pool, and populates banking context — user, company ACL, country code.</a:t>
            </a:r>
            <a:endParaRPr lang="en-US" sz="750" dirty="0"/>
          </a:p>
        </p:txBody>
      </p:sp>
      <p:sp>
        <p:nvSpPr>
          <p:cNvPr id="15" name="Text 13"/>
          <p:cNvSpPr/>
          <p:nvPr/>
        </p:nvSpPr>
        <p:spPr>
          <a:xfrm>
            <a:off x="246888" y="1920240"/>
            <a:ext cx="4846320" cy="155448"/>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GEB's RunData creation lifecycle is compatible with Turbine 7.</a:t>
            </a:r>
            <a:endParaRPr lang="en-US" sz="750" dirty="0"/>
          </a:p>
        </p:txBody>
      </p:sp>
      <p:sp>
        <p:nvSpPr>
          <p:cNvPr id="16" name="Shape 14"/>
          <p:cNvSpPr/>
          <p:nvPr/>
        </p:nvSpPr>
        <p:spPr>
          <a:xfrm>
            <a:off x="137160" y="2148840"/>
            <a:ext cx="5029200" cy="804672"/>
          </a:xfrm>
          <a:prstGeom prst="rect">
            <a:avLst/>
          </a:prstGeom>
          <a:solidFill>
            <a:srgbClr val="FFFFFF"/>
          </a:solidFill>
          <a:ln w="12700">
            <a:solidFill>
              <a:srgbClr val="D8E6F0"/>
            </a:solidFill>
            <a:prstDash val="solid"/>
          </a:ln>
        </p:spPr>
      </p:sp>
      <p:sp>
        <p:nvSpPr>
          <p:cNvPr id="17" name="Shape 15"/>
          <p:cNvSpPr/>
          <p:nvPr/>
        </p:nvSpPr>
        <p:spPr>
          <a:xfrm>
            <a:off x="137160" y="2148840"/>
            <a:ext cx="45720" cy="804672"/>
          </a:xfrm>
          <a:prstGeom prst="rect">
            <a:avLst/>
          </a:prstGeom>
          <a:solidFill>
            <a:srgbClr val="7B1E1E"/>
          </a:solidFill>
          <a:ln w="12700">
            <a:solidFill>
              <a:srgbClr val="7B1E1E"/>
            </a:solidFill>
            <a:prstDash val="solid"/>
          </a:ln>
        </p:spPr>
      </p:sp>
      <p:sp>
        <p:nvSpPr>
          <p:cNvPr id="18" name="Text 16"/>
          <p:cNvSpPr/>
          <p:nvPr/>
        </p:nvSpPr>
        <p:spPr>
          <a:xfrm>
            <a:off x="246888" y="2185416"/>
            <a:ext cx="274320" cy="219456"/>
          </a:xfrm>
          <a:prstGeom prst="rect">
            <a:avLst/>
          </a:prstGeom>
          <a:noFill/>
          <a:ln/>
        </p:spPr>
        <p:txBody>
          <a:bodyPr wrap="square" lIns="0" tIns="0" rIns="0" bIns="0" rtlCol="0" anchor="ctr"/>
          <a:lstStyle/>
          <a:p>
            <a:pPr algn="l" indent="0" marL="0">
              <a:buNone/>
            </a:pPr>
            <a:r>
              <a:rPr lang="en-US" sz="1200" b="1" dirty="0">
                <a:solidFill>
                  <a:srgbClr val="D0DCE8"/>
                </a:solidFill>
                <a:latin typeface="Calibri" pitchFamily="34" charset="0"/>
                <a:ea typeface="Calibri" pitchFamily="34" charset="-122"/>
                <a:cs typeface="Calibri" pitchFamily="34" charset="-120"/>
              </a:rPr>
              <a:t>02</a:t>
            </a:r>
            <a:endParaRPr lang="en-US" sz="1200" dirty="0"/>
          </a:p>
        </p:txBody>
      </p:sp>
      <p:sp>
        <p:nvSpPr>
          <p:cNvPr id="19" name="Text 17"/>
          <p:cNvSpPr/>
          <p:nvPr/>
        </p:nvSpPr>
        <p:spPr>
          <a:xfrm>
            <a:off x="548640" y="2194560"/>
            <a:ext cx="3200400" cy="219456"/>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GTPParameterParser Initialisation</a:t>
            </a:r>
            <a:endParaRPr lang="en-US" sz="900" dirty="0"/>
          </a:p>
        </p:txBody>
      </p:sp>
      <p:sp>
        <p:nvSpPr>
          <p:cNvPr id="20" name="Shape 18"/>
          <p:cNvSpPr/>
          <p:nvPr/>
        </p:nvSpPr>
        <p:spPr>
          <a:xfrm>
            <a:off x="3794760" y="2212848"/>
            <a:ext cx="1280160" cy="182880"/>
          </a:xfrm>
          <a:prstGeom prst="roundRect">
            <a:avLst>
              <a:gd name="adj" fmla="val 20000"/>
            </a:avLst>
          </a:prstGeom>
          <a:solidFill>
            <a:srgbClr val="991B1B"/>
          </a:solidFill>
          <a:ln w="12700">
            <a:solidFill>
              <a:srgbClr val="991B1B"/>
            </a:solidFill>
            <a:prstDash val="solid"/>
          </a:ln>
        </p:spPr>
      </p:sp>
      <p:sp>
        <p:nvSpPr>
          <p:cNvPr id="21" name="Text 19"/>
          <p:cNvSpPr/>
          <p:nvPr/>
        </p:nvSpPr>
        <p:spPr>
          <a:xfrm>
            <a:off x="3794760" y="2212848"/>
            <a:ext cx="128016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INVESTIGATING</a:t>
            </a:r>
            <a:endParaRPr lang="en-US" sz="650" dirty="0"/>
          </a:p>
        </p:txBody>
      </p:sp>
      <p:sp>
        <p:nvSpPr>
          <p:cNvPr id="22" name="Text 20"/>
          <p:cNvSpPr/>
          <p:nvPr/>
        </p:nvSpPr>
        <p:spPr>
          <a:xfrm>
            <a:off x="246888" y="2432304"/>
            <a:ext cx="4846320" cy="329184"/>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GTPParameterParser is not initialising correctly on Turbine 7's Fulcrum container. The current binding path does not hook into Fulcrum's DefaultParserService as expected. The team is exploring alternative initialisation approaches to attach the custom parser to the Fulcrum container.</a:t>
            </a:r>
            <a:endParaRPr lang="en-US" sz="750" dirty="0"/>
          </a:p>
        </p:txBody>
      </p:sp>
      <p:sp>
        <p:nvSpPr>
          <p:cNvPr id="23" name="Text 21"/>
          <p:cNvSpPr/>
          <p:nvPr/>
        </p:nvSpPr>
        <p:spPr>
          <a:xfrm>
            <a:off x="246888" y="2770632"/>
            <a:ext cx="4846320" cy="155448"/>
          </a:xfrm>
          <a:prstGeom prst="rect">
            <a:avLst/>
          </a:prstGeom>
          <a:noFill/>
          <a:ln/>
        </p:spPr>
        <p:txBody>
          <a:bodyPr wrap="square" lIns="0" tIns="0" rIns="0" bIns="0" rtlCol="0" anchor="ctr"/>
          <a:lstStyle/>
          <a:p>
            <a:pPr algn="l" indent="0" marL="0">
              <a:buNone/>
            </a:pPr>
            <a:r>
              <a:rPr lang="en-US" sz="750" b="1" dirty="0">
                <a:solidFill>
                  <a:srgbClr val="991B1B"/>
                </a:solidFill>
                <a:latin typeface="Calibri" pitchFamily="34" charset="0"/>
                <a:ea typeface="Calibri" pitchFamily="34" charset="-122"/>
                <a:cs typeface="Calibri" pitchFamily="34" charset="-120"/>
              </a:rPr>
              <a:t>→  Under active investigation — alternative initialisation path or a workaround is being explored.</a:t>
            </a:r>
            <a:endParaRPr lang="en-US" sz="750" dirty="0"/>
          </a:p>
        </p:txBody>
      </p:sp>
      <p:sp>
        <p:nvSpPr>
          <p:cNvPr id="24" name="Shape 22"/>
          <p:cNvSpPr/>
          <p:nvPr/>
        </p:nvSpPr>
        <p:spPr>
          <a:xfrm>
            <a:off x="137160" y="2999232"/>
            <a:ext cx="5029200" cy="804672"/>
          </a:xfrm>
          <a:prstGeom prst="rect">
            <a:avLst/>
          </a:prstGeom>
          <a:solidFill>
            <a:srgbClr val="FFFFFF"/>
          </a:solidFill>
          <a:ln w="12700">
            <a:solidFill>
              <a:srgbClr val="D8E6F0"/>
            </a:solidFill>
            <a:prstDash val="solid"/>
          </a:ln>
        </p:spPr>
      </p:sp>
      <p:sp>
        <p:nvSpPr>
          <p:cNvPr id="25" name="Shape 23"/>
          <p:cNvSpPr/>
          <p:nvPr/>
        </p:nvSpPr>
        <p:spPr>
          <a:xfrm>
            <a:off x="137160" y="2999232"/>
            <a:ext cx="45720" cy="804672"/>
          </a:xfrm>
          <a:prstGeom prst="rect">
            <a:avLst/>
          </a:prstGeom>
          <a:solidFill>
            <a:srgbClr val="1A7A3E"/>
          </a:solidFill>
          <a:ln w="12700">
            <a:solidFill>
              <a:srgbClr val="1A7A3E"/>
            </a:solidFill>
            <a:prstDash val="solid"/>
          </a:ln>
        </p:spPr>
      </p:sp>
      <p:sp>
        <p:nvSpPr>
          <p:cNvPr id="26" name="Text 24"/>
          <p:cNvSpPr/>
          <p:nvPr/>
        </p:nvSpPr>
        <p:spPr>
          <a:xfrm>
            <a:off x="246888" y="3035808"/>
            <a:ext cx="274320" cy="219456"/>
          </a:xfrm>
          <a:prstGeom prst="rect">
            <a:avLst/>
          </a:prstGeom>
          <a:noFill/>
          <a:ln/>
        </p:spPr>
        <p:txBody>
          <a:bodyPr wrap="square" lIns="0" tIns="0" rIns="0" bIns="0" rtlCol="0" anchor="ctr"/>
          <a:lstStyle/>
          <a:p>
            <a:pPr algn="l" indent="0" marL="0">
              <a:buNone/>
            </a:pPr>
            <a:r>
              <a:rPr lang="en-US" sz="1200" b="1" dirty="0">
                <a:solidFill>
                  <a:srgbClr val="D0DCE8"/>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548640" y="3044952"/>
            <a:ext cx="3200400" cy="219456"/>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Banking Context — End-to-End Data Flow</a:t>
            </a:r>
            <a:endParaRPr lang="en-US" sz="900" dirty="0"/>
          </a:p>
        </p:txBody>
      </p:sp>
      <p:sp>
        <p:nvSpPr>
          <p:cNvPr id="28" name="Shape 26"/>
          <p:cNvSpPr/>
          <p:nvPr/>
        </p:nvSpPr>
        <p:spPr>
          <a:xfrm>
            <a:off x="3794760" y="3063240"/>
            <a:ext cx="1280160" cy="182880"/>
          </a:xfrm>
          <a:prstGeom prst="roundRect">
            <a:avLst>
              <a:gd name="adj" fmla="val 20000"/>
            </a:avLst>
          </a:prstGeom>
          <a:solidFill>
            <a:srgbClr val="1A7A3E"/>
          </a:solidFill>
          <a:ln w="12700">
            <a:solidFill>
              <a:srgbClr val="1A7A3E"/>
            </a:solidFill>
            <a:prstDash val="solid"/>
          </a:ln>
        </p:spPr>
      </p:sp>
      <p:sp>
        <p:nvSpPr>
          <p:cNvPr id="29" name="Text 27"/>
          <p:cNvSpPr/>
          <p:nvPr/>
        </p:nvSpPr>
        <p:spPr>
          <a:xfrm>
            <a:off x="3794760" y="3063240"/>
            <a:ext cx="128016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PASS</a:t>
            </a:r>
            <a:endParaRPr lang="en-US" sz="650" dirty="0"/>
          </a:p>
        </p:txBody>
      </p:sp>
      <p:sp>
        <p:nvSpPr>
          <p:cNvPr id="30" name="Text 28"/>
          <p:cNvSpPr/>
          <p:nvPr/>
        </p:nvSpPr>
        <p:spPr>
          <a:xfrm>
            <a:off x="246888" y="3282696"/>
            <a:ext cx="4846320" cy="329184"/>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User identity, Company ACL, Country Code, and User ACL correctly populated in RunData and accessible across the full pipeline — Action, Portlet, and Layout layers all read correct values.</a:t>
            </a:r>
            <a:endParaRPr lang="en-US" sz="750" dirty="0"/>
          </a:p>
        </p:txBody>
      </p:sp>
      <p:sp>
        <p:nvSpPr>
          <p:cNvPr id="31" name="Text 29"/>
          <p:cNvSpPr/>
          <p:nvPr/>
        </p:nvSpPr>
        <p:spPr>
          <a:xfrm>
            <a:off x="246888" y="3621024"/>
            <a:ext cx="4846320" cy="155448"/>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Data contract integrity across the pipeline is confirmed.</a:t>
            </a:r>
            <a:endParaRPr lang="en-US" sz="750" dirty="0"/>
          </a:p>
        </p:txBody>
      </p:sp>
      <p:sp>
        <p:nvSpPr>
          <p:cNvPr id="32" name="Shape 30"/>
          <p:cNvSpPr/>
          <p:nvPr/>
        </p:nvSpPr>
        <p:spPr>
          <a:xfrm>
            <a:off x="137160" y="3849624"/>
            <a:ext cx="5029200" cy="804672"/>
          </a:xfrm>
          <a:prstGeom prst="rect">
            <a:avLst/>
          </a:prstGeom>
          <a:solidFill>
            <a:srgbClr val="FFFFFF"/>
          </a:solidFill>
          <a:ln w="12700">
            <a:solidFill>
              <a:srgbClr val="D8E6F0"/>
            </a:solidFill>
            <a:prstDash val="solid"/>
          </a:ln>
        </p:spPr>
      </p:sp>
      <p:sp>
        <p:nvSpPr>
          <p:cNvPr id="33" name="Shape 31"/>
          <p:cNvSpPr/>
          <p:nvPr/>
        </p:nvSpPr>
        <p:spPr>
          <a:xfrm>
            <a:off x="137160" y="3849624"/>
            <a:ext cx="45720" cy="804672"/>
          </a:xfrm>
          <a:prstGeom prst="rect">
            <a:avLst/>
          </a:prstGeom>
          <a:solidFill>
            <a:srgbClr val="1A7A3E"/>
          </a:solidFill>
          <a:ln w="12700">
            <a:solidFill>
              <a:srgbClr val="1A7A3E"/>
            </a:solidFill>
            <a:prstDash val="solid"/>
          </a:ln>
        </p:spPr>
      </p:sp>
      <p:sp>
        <p:nvSpPr>
          <p:cNvPr id="34" name="Text 32"/>
          <p:cNvSpPr/>
          <p:nvPr/>
        </p:nvSpPr>
        <p:spPr>
          <a:xfrm>
            <a:off x="246888" y="3886200"/>
            <a:ext cx="274320" cy="219456"/>
          </a:xfrm>
          <a:prstGeom prst="rect">
            <a:avLst/>
          </a:prstGeom>
          <a:noFill/>
          <a:ln/>
        </p:spPr>
        <p:txBody>
          <a:bodyPr wrap="square" lIns="0" tIns="0" rIns="0" bIns="0" rtlCol="0" anchor="ctr"/>
          <a:lstStyle/>
          <a:p>
            <a:pPr algn="l" indent="0" marL="0">
              <a:buNone/>
            </a:pPr>
            <a:r>
              <a:rPr lang="en-US" sz="1200" b="1" dirty="0">
                <a:solidFill>
                  <a:srgbClr val="D0DCE8"/>
                </a:solidFill>
                <a:latin typeface="Calibri" pitchFamily="34" charset="0"/>
                <a:ea typeface="Calibri" pitchFamily="34" charset="-122"/>
                <a:cs typeface="Calibri" pitchFamily="34" charset="-120"/>
              </a:rPr>
              <a:t>04</a:t>
            </a:r>
            <a:endParaRPr lang="en-US" sz="1200" dirty="0"/>
          </a:p>
        </p:txBody>
      </p:sp>
      <p:sp>
        <p:nvSpPr>
          <p:cNvPr id="35" name="Text 33"/>
          <p:cNvSpPr/>
          <p:nvPr/>
        </p:nvSpPr>
        <p:spPr>
          <a:xfrm>
            <a:off x="548640" y="3895344"/>
            <a:ext cx="3200400" cy="219456"/>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Object Pool Recycling &amp; Session Isolation</a:t>
            </a:r>
            <a:endParaRPr lang="en-US" sz="900" dirty="0"/>
          </a:p>
        </p:txBody>
      </p:sp>
      <p:sp>
        <p:nvSpPr>
          <p:cNvPr id="36" name="Shape 34"/>
          <p:cNvSpPr/>
          <p:nvPr/>
        </p:nvSpPr>
        <p:spPr>
          <a:xfrm>
            <a:off x="3794760" y="3913632"/>
            <a:ext cx="1280160" cy="182880"/>
          </a:xfrm>
          <a:prstGeom prst="roundRect">
            <a:avLst>
              <a:gd name="adj" fmla="val 20000"/>
            </a:avLst>
          </a:prstGeom>
          <a:solidFill>
            <a:srgbClr val="1A7A3E"/>
          </a:solidFill>
          <a:ln w="12700">
            <a:solidFill>
              <a:srgbClr val="1A7A3E"/>
            </a:solidFill>
            <a:prstDash val="solid"/>
          </a:ln>
        </p:spPr>
      </p:sp>
      <p:sp>
        <p:nvSpPr>
          <p:cNvPr id="37" name="Text 35"/>
          <p:cNvSpPr/>
          <p:nvPr/>
        </p:nvSpPr>
        <p:spPr>
          <a:xfrm>
            <a:off x="3794760" y="3913632"/>
            <a:ext cx="128016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PASS</a:t>
            </a:r>
            <a:endParaRPr lang="en-US" sz="650" dirty="0"/>
          </a:p>
        </p:txBody>
      </p:sp>
      <p:sp>
        <p:nvSpPr>
          <p:cNvPr id="38" name="Text 36"/>
          <p:cNvSpPr/>
          <p:nvPr/>
        </p:nvSpPr>
        <p:spPr>
          <a:xfrm>
            <a:off x="246888" y="4133088"/>
            <a:ext cx="4846320" cy="329184"/>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RunData, ParameterParser, and CookieParser objects returned to pool after each request and correctly recycled. recycle() clears all prior session data — no leakage between requests.</a:t>
            </a:r>
            <a:endParaRPr lang="en-US" sz="750" dirty="0"/>
          </a:p>
        </p:txBody>
      </p:sp>
      <p:sp>
        <p:nvSpPr>
          <p:cNvPr id="39" name="Text 37"/>
          <p:cNvSpPr/>
          <p:nvPr/>
        </p:nvSpPr>
        <p:spPr>
          <a:xfrm>
            <a:off x="246888" y="4471416"/>
            <a:ext cx="4846320" cy="155448"/>
          </a:xfrm>
          <a:prstGeom prst="rect">
            <a:avLst/>
          </a:prstGeom>
          <a:noFill/>
          <a:ln/>
        </p:spPr>
        <p:txBody>
          <a:bodyPr wrap="square" lIns="0" tIns="0" rIns="0" bIns="0" rtlCol="0" anchor="ctr"/>
          <a:lstStyle/>
          <a:p>
            <a:pPr algn="l" indent="0" marL="0">
              <a:buNone/>
            </a:pPr>
            <a:r>
              <a:rPr lang="en-US" sz="750" b="1" dirty="0">
                <a:solidFill>
                  <a:srgbClr val="1A7A3E"/>
                </a:solidFill>
                <a:latin typeface="Calibri" pitchFamily="34" charset="0"/>
                <a:ea typeface="Calibri" pitchFamily="34" charset="-122"/>
                <a:cs typeface="Calibri" pitchFamily="34" charset="-120"/>
              </a:rPr>
              <a:t>→  Pool performance and session isolation both confirmed working.</a:t>
            </a:r>
            <a:endParaRPr lang="en-US" sz="750" dirty="0"/>
          </a:p>
        </p:txBody>
      </p:sp>
      <p:sp>
        <p:nvSpPr>
          <p:cNvPr id="40" name="Text 38"/>
          <p:cNvSpPr/>
          <p:nvPr/>
        </p:nvSpPr>
        <p:spPr>
          <a:xfrm>
            <a:off x="5349240" y="1069848"/>
            <a:ext cx="361188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POC SCOPE &amp; BOUNDARIES</a:t>
            </a:r>
            <a:endParaRPr lang="en-US" sz="750" dirty="0"/>
          </a:p>
        </p:txBody>
      </p:sp>
      <p:sp>
        <p:nvSpPr>
          <p:cNvPr id="41" name="Shape 39"/>
          <p:cNvSpPr/>
          <p:nvPr/>
        </p:nvSpPr>
        <p:spPr>
          <a:xfrm>
            <a:off x="5321808" y="1298448"/>
            <a:ext cx="3639312" cy="1325880"/>
          </a:xfrm>
          <a:prstGeom prst="rect">
            <a:avLst/>
          </a:prstGeom>
          <a:solidFill>
            <a:srgbClr val="F0FAF4"/>
          </a:solidFill>
          <a:ln w="12700">
            <a:solidFill>
              <a:srgbClr val="B7E4C7"/>
            </a:solidFill>
            <a:prstDash val="solid"/>
          </a:ln>
        </p:spPr>
      </p:sp>
      <p:sp>
        <p:nvSpPr>
          <p:cNvPr id="42" name="Shape 40"/>
          <p:cNvSpPr/>
          <p:nvPr/>
        </p:nvSpPr>
        <p:spPr>
          <a:xfrm>
            <a:off x="5321808" y="1298448"/>
            <a:ext cx="45720" cy="1325880"/>
          </a:xfrm>
          <a:prstGeom prst="rect">
            <a:avLst/>
          </a:prstGeom>
          <a:solidFill>
            <a:srgbClr val="1A7A3E"/>
          </a:solidFill>
          <a:ln w="12700">
            <a:solidFill>
              <a:srgbClr val="1A7A3E"/>
            </a:solidFill>
            <a:prstDash val="solid"/>
          </a:ln>
        </p:spPr>
      </p:sp>
      <p:sp>
        <p:nvSpPr>
          <p:cNvPr id="43" name="Text 41"/>
          <p:cNvSpPr/>
          <p:nvPr/>
        </p:nvSpPr>
        <p:spPr>
          <a:xfrm>
            <a:off x="5431536" y="1344168"/>
            <a:ext cx="3474720" cy="219456"/>
          </a:xfrm>
          <a:prstGeom prst="rect">
            <a:avLst/>
          </a:prstGeom>
          <a:noFill/>
          <a:ln/>
        </p:spPr>
        <p:txBody>
          <a:bodyPr wrap="square" lIns="0" tIns="0" rIns="0" bIns="0" rtlCol="0" anchor="ctr"/>
          <a:lstStyle/>
          <a:p>
            <a:pPr algn="l" indent="0" marL="0">
              <a:buNone/>
            </a:pPr>
            <a:r>
              <a:rPr lang="en-US" sz="900" b="1" dirty="0">
                <a:solidFill>
                  <a:srgbClr val="1A7A3E"/>
                </a:solidFill>
                <a:latin typeface="Calibri" pitchFamily="34" charset="0"/>
                <a:ea typeface="Calibri" pitchFamily="34" charset="-122"/>
                <a:cs typeface="Calibri" pitchFamily="34" charset="-120"/>
              </a:rPr>
              <a:t>What this POC validates</a:t>
            </a:r>
            <a:endParaRPr lang="en-US" sz="900" dirty="0"/>
          </a:p>
        </p:txBody>
      </p:sp>
      <p:sp>
        <p:nvSpPr>
          <p:cNvPr id="44" name="Text 42"/>
          <p:cNvSpPr/>
          <p:nvPr/>
        </p:nvSpPr>
        <p:spPr>
          <a:xfrm>
            <a:off x="5431536" y="1600200"/>
            <a:ext cx="3474720" cy="192024"/>
          </a:xfrm>
          <a:prstGeom prst="rect">
            <a:avLst/>
          </a:prstGeom>
          <a:noFill/>
          <a:ln/>
        </p:spPr>
        <p:txBody>
          <a:bodyPr wrap="square" lIns="0" tIns="0" rIns="0" bIns="0" rtlCol="0" anchor="ctr"/>
          <a:lstStyle/>
          <a:p>
            <a:pPr algn="l" indent="0" marL="0">
              <a:buNone/>
            </a:pPr>
            <a:r>
              <a:rPr lang="en-US" sz="780" dirty="0">
                <a:solidFill>
                  <a:srgbClr val="2D6A4F"/>
                </a:solidFill>
                <a:latin typeface="Calibri" pitchFamily="34" charset="0"/>
                <a:ea typeface="Calibri" pitchFamily="34" charset="-122"/>
                <a:cs typeface="Calibri" pitchFamily="34" charset="-120"/>
              </a:rPr>
              <a:t>✓  Turbine 7 service container and RunData lifecycle</a:t>
            </a:r>
            <a:endParaRPr lang="en-US" sz="780" dirty="0"/>
          </a:p>
        </p:txBody>
      </p:sp>
      <p:sp>
        <p:nvSpPr>
          <p:cNvPr id="45" name="Text 43"/>
          <p:cNvSpPr/>
          <p:nvPr/>
        </p:nvSpPr>
        <p:spPr>
          <a:xfrm>
            <a:off x="5431536" y="1792224"/>
            <a:ext cx="3474720" cy="192024"/>
          </a:xfrm>
          <a:prstGeom prst="rect">
            <a:avLst/>
          </a:prstGeom>
          <a:noFill/>
          <a:ln/>
        </p:spPr>
        <p:txBody>
          <a:bodyPr wrap="square" lIns="0" tIns="0" rIns="0" bIns="0" rtlCol="0" anchor="ctr"/>
          <a:lstStyle/>
          <a:p>
            <a:pPr algn="l" indent="0" marL="0">
              <a:buNone/>
            </a:pPr>
            <a:r>
              <a:rPr lang="en-US" sz="780" dirty="0">
                <a:solidFill>
                  <a:srgbClr val="2D6A4F"/>
                </a:solidFill>
                <a:latin typeface="Calibri" pitchFamily="34" charset="0"/>
                <a:ea typeface="Calibri" pitchFamily="34" charset="-122"/>
                <a:cs typeface="Calibri" pitchFamily="34" charset="-120"/>
              </a:rPr>
              <a:t>✓  Custom RunDataService with banking context fields</a:t>
            </a:r>
            <a:endParaRPr lang="en-US" sz="780" dirty="0"/>
          </a:p>
        </p:txBody>
      </p:sp>
      <p:sp>
        <p:nvSpPr>
          <p:cNvPr id="46" name="Text 44"/>
          <p:cNvSpPr/>
          <p:nvPr/>
        </p:nvSpPr>
        <p:spPr>
          <a:xfrm>
            <a:off x="5431536" y="1984248"/>
            <a:ext cx="3474720" cy="192024"/>
          </a:xfrm>
          <a:prstGeom prst="rect">
            <a:avLst/>
          </a:prstGeom>
          <a:noFill/>
          <a:ln/>
        </p:spPr>
        <p:txBody>
          <a:bodyPr wrap="square" lIns="0" tIns="0" rIns="0" bIns="0" rtlCol="0" anchor="ctr"/>
          <a:lstStyle/>
          <a:p>
            <a:pPr algn="l" indent="0" marL="0">
              <a:buNone/>
            </a:pPr>
            <a:r>
              <a:rPr lang="en-US" sz="780" dirty="0">
                <a:solidFill>
                  <a:srgbClr val="2D6A4F"/>
                </a:solidFill>
                <a:latin typeface="Calibri" pitchFamily="34" charset="0"/>
                <a:ea typeface="Calibri" pitchFamily="34" charset="-122"/>
                <a:cs typeface="Calibri" pitchFamily="34" charset="-120"/>
              </a:rPr>
              <a:t>✓  Fulcrum/YAAFI container integration (YAAFI config)</a:t>
            </a:r>
            <a:endParaRPr lang="en-US" sz="780" dirty="0"/>
          </a:p>
        </p:txBody>
      </p:sp>
      <p:sp>
        <p:nvSpPr>
          <p:cNvPr id="47" name="Text 45"/>
          <p:cNvSpPr/>
          <p:nvPr/>
        </p:nvSpPr>
        <p:spPr>
          <a:xfrm>
            <a:off x="5431536" y="2176272"/>
            <a:ext cx="3474720" cy="192024"/>
          </a:xfrm>
          <a:prstGeom prst="rect">
            <a:avLst/>
          </a:prstGeom>
          <a:noFill/>
          <a:ln/>
        </p:spPr>
        <p:txBody>
          <a:bodyPr wrap="square" lIns="0" tIns="0" rIns="0" bIns="0" rtlCol="0" anchor="ctr"/>
          <a:lstStyle/>
          <a:p>
            <a:pPr algn="l" indent="0" marL="0">
              <a:buNone/>
            </a:pPr>
            <a:r>
              <a:rPr lang="en-US" sz="780" dirty="0">
                <a:solidFill>
                  <a:srgbClr val="2D6A4F"/>
                </a:solidFill>
                <a:latin typeface="Calibri" pitchFamily="34" charset="0"/>
                <a:ea typeface="Calibri" pitchFamily="34" charset="-122"/>
                <a:cs typeface="Calibri" pitchFamily="34" charset="-120"/>
              </a:rPr>
              <a:t>✓  Full request pipeline via configurable pipeline.xml</a:t>
            </a:r>
            <a:endParaRPr lang="en-US" sz="780" dirty="0"/>
          </a:p>
        </p:txBody>
      </p:sp>
      <p:sp>
        <p:nvSpPr>
          <p:cNvPr id="48" name="Text 46"/>
          <p:cNvSpPr/>
          <p:nvPr/>
        </p:nvSpPr>
        <p:spPr>
          <a:xfrm>
            <a:off x="5431536" y="2368296"/>
            <a:ext cx="3474720" cy="192024"/>
          </a:xfrm>
          <a:prstGeom prst="rect">
            <a:avLst/>
          </a:prstGeom>
          <a:noFill/>
          <a:ln/>
        </p:spPr>
        <p:txBody>
          <a:bodyPr wrap="square" lIns="0" tIns="0" rIns="0" bIns="0" rtlCol="0" anchor="ctr"/>
          <a:lstStyle/>
          <a:p>
            <a:pPr algn="l" indent="0" marL="0">
              <a:buNone/>
            </a:pPr>
            <a:r>
              <a:rPr lang="en-US" sz="780" dirty="0">
                <a:solidFill>
                  <a:srgbClr val="2D6A4F"/>
                </a:solidFill>
                <a:latin typeface="Calibri" pitchFamily="34" charset="0"/>
                <a:ea typeface="Calibri" pitchFamily="34" charset="-122"/>
                <a:cs typeface="Calibri" pitchFamily="34" charset="-120"/>
              </a:rPr>
              <a:t>✓  ECS 1.4.2 HTML construction — Java 17 compatible</a:t>
            </a:r>
            <a:endParaRPr lang="en-US" sz="780" dirty="0"/>
          </a:p>
        </p:txBody>
      </p:sp>
      <p:sp>
        <p:nvSpPr>
          <p:cNvPr id="49" name="Shape 47"/>
          <p:cNvSpPr/>
          <p:nvPr/>
        </p:nvSpPr>
        <p:spPr>
          <a:xfrm>
            <a:off x="5321808" y="2715768"/>
            <a:ext cx="3639312" cy="1353312"/>
          </a:xfrm>
          <a:prstGeom prst="rect">
            <a:avLst/>
          </a:prstGeom>
          <a:solidFill>
            <a:srgbClr val="FFFBEB"/>
          </a:solidFill>
          <a:ln w="12700">
            <a:solidFill>
              <a:srgbClr val="FCD34D"/>
            </a:solidFill>
            <a:prstDash val="solid"/>
          </a:ln>
        </p:spPr>
      </p:sp>
      <p:sp>
        <p:nvSpPr>
          <p:cNvPr id="50" name="Shape 48"/>
          <p:cNvSpPr/>
          <p:nvPr/>
        </p:nvSpPr>
        <p:spPr>
          <a:xfrm>
            <a:off x="5321808" y="2715768"/>
            <a:ext cx="45720" cy="1353312"/>
          </a:xfrm>
          <a:prstGeom prst="rect">
            <a:avLst/>
          </a:prstGeom>
          <a:solidFill>
            <a:srgbClr val="D97706"/>
          </a:solidFill>
          <a:ln w="12700">
            <a:solidFill>
              <a:srgbClr val="D97706"/>
            </a:solidFill>
            <a:prstDash val="solid"/>
          </a:ln>
        </p:spPr>
      </p:sp>
      <p:sp>
        <p:nvSpPr>
          <p:cNvPr id="51" name="Text 49"/>
          <p:cNvSpPr/>
          <p:nvPr/>
        </p:nvSpPr>
        <p:spPr>
          <a:xfrm>
            <a:off x="5431536" y="2770632"/>
            <a:ext cx="3474720" cy="219456"/>
          </a:xfrm>
          <a:prstGeom prst="rect">
            <a:avLst/>
          </a:prstGeom>
          <a:noFill/>
          <a:ln/>
        </p:spPr>
        <p:txBody>
          <a:bodyPr wrap="square" lIns="0" tIns="0" rIns="0" bIns="0" rtlCol="0" anchor="ctr"/>
          <a:lstStyle/>
          <a:p>
            <a:pPr algn="l" indent="0" marL="0">
              <a:buNone/>
            </a:pPr>
            <a:r>
              <a:rPr lang="en-US" sz="900" b="1" dirty="0">
                <a:solidFill>
                  <a:srgbClr val="D97706"/>
                </a:solidFill>
                <a:latin typeface="Calibri" pitchFamily="34" charset="0"/>
                <a:ea typeface="Calibri" pitchFamily="34" charset="-122"/>
                <a:cs typeface="Calibri" pitchFamily="34" charset="-120"/>
              </a:rPr>
              <a:t>Not included in this POC</a:t>
            </a:r>
            <a:endParaRPr lang="en-US" sz="900" dirty="0"/>
          </a:p>
        </p:txBody>
      </p:sp>
      <p:sp>
        <p:nvSpPr>
          <p:cNvPr id="52" name="Text 50"/>
          <p:cNvSpPr/>
          <p:nvPr/>
        </p:nvSpPr>
        <p:spPr>
          <a:xfrm>
            <a:off x="5431536" y="3026664"/>
            <a:ext cx="3474720" cy="256032"/>
          </a:xfrm>
          <a:prstGeom prst="rect">
            <a:avLst/>
          </a:prstGeom>
          <a:noFill/>
          <a:ln/>
        </p:spPr>
        <p:txBody>
          <a:bodyPr wrap="square" lIns="0" tIns="0" rIns="0" bIns="0" rtlCol="0" anchor="t"/>
          <a:lstStyle/>
          <a:p>
            <a:pPr algn="l" indent="0" marL="0">
              <a:buNone/>
            </a:pPr>
            <a:r>
              <a:rPr lang="en-US" sz="750" b="1" dirty="0">
                <a:solidFill>
                  <a:srgbClr val="D97706"/>
                </a:solidFill>
                <a:latin typeface="Calibri" pitchFamily="34" charset="0"/>
                <a:ea typeface="Calibri" pitchFamily="34" charset="-122"/>
                <a:cs typeface="Calibri" pitchFamily="34" charset="-120"/>
              </a:rPr>
              <a:t xml:space="preserve">✗  Torque ORM  —  </a:t>
            </a:r>
            <a:pPr algn="l" indent="0" marL="0">
              <a:buNone/>
            </a:pPr>
            <a:r>
              <a:rPr lang="en-US" sz="750" dirty="0">
                <a:solidFill>
                  <a:srgbClr val="92400E"/>
                </a:solidFill>
                <a:latin typeface="Calibri" pitchFamily="34" charset="0"/>
                <a:ea typeface="Calibri" pitchFamily="34" charset="-122"/>
                <a:cs typeface="Calibri" pitchFamily="34" charset="-120"/>
              </a:rPr>
              <a:t>Torque 5.1 compiled as dependency — actual ORM query execution not tested. Pending.</a:t>
            </a:r>
            <a:endParaRPr lang="en-US" sz="750" dirty="0"/>
          </a:p>
        </p:txBody>
      </p:sp>
      <p:sp>
        <p:nvSpPr>
          <p:cNvPr id="53" name="Text 51"/>
          <p:cNvSpPr/>
          <p:nvPr/>
        </p:nvSpPr>
        <p:spPr>
          <a:xfrm>
            <a:off x="5431536" y="3300984"/>
            <a:ext cx="3474720" cy="256032"/>
          </a:xfrm>
          <a:prstGeom prst="rect">
            <a:avLst/>
          </a:prstGeom>
          <a:noFill/>
          <a:ln/>
        </p:spPr>
        <p:txBody>
          <a:bodyPr wrap="square" lIns="0" tIns="0" rIns="0" bIns="0" rtlCol="0" anchor="t"/>
          <a:lstStyle/>
          <a:p>
            <a:pPr algn="l" indent="0" marL="0">
              <a:buNone/>
            </a:pPr>
            <a:r>
              <a:rPr lang="en-US" sz="750" b="1" dirty="0">
                <a:solidFill>
                  <a:srgbClr val="D97706"/>
                </a:solidFill>
                <a:latin typeface="Calibri" pitchFamily="34" charset="0"/>
                <a:ea typeface="Calibri" pitchFamily="34" charset="-122"/>
                <a:cs typeface="Calibri" pitchFamily="34" charset="-120"/>
              </a:rPr>
              <a:t xml:space="preserve">✗  Spring / WSService  —  </a:t>
            </a:r>
            <a:pPr algn="l" indent="0" marL="0">
              <a:buNone/>
            </a:pPr>
            <a:r>
              <a:rPr lang="en-US" sz="750" dirty="0">
                <a:solidFill>
                  <a:srgbClr val="92400E"/>
                </a:solidFill>
                <a:latin typeface="Calibri" pitchFamily="34" charset="0"/>
                <a:ea typeface="Calibri" pitchFamily="34" charset="-122"/>
                <a:cs typeface="Calibri" pitchFamily="34" charset="-120"/>
              </a:rPr>
              <a:t>REST layer and Spring 6 migration not included. Separate POC required.</a:t>
            </a:r>
            <a:endParaRPr lang="en-US" sz="750" dirty="0"/>
          </a:p>
        </p:txBody>
      </p:sp>
      <p:sp>
        <p:nvSpPr>
          <p:cNvPr id="54" name="Text 52"/>
          <p:cNvSpPr/>
          <p:nvPr/>
        </p:nvSpPr>
        <p:spPr>
          <a:xfrm>
            <a:off x="5431536" y="3575304"/>
            <a:ext cx="3474720" cy="256032"/>
          </a:xfrm>
          <a:prstGeom prst="rect">
            <a:avLst/>
          </a:prstGeom>
          <a:noFill/>
          <a:ln/>
        </p:spPr>
        <p:txBody>
          <a:bodyPr wrap="square" lIns="0" tIns="0" rIns="0" bIns="0" rtlCol="0" anchor="t"/>
          <a:lstStyle/>
          <a:p>
            <a:pPr algn="l" indent="0" marL="0">
              <a:buNone/>
            </a:pPr>
            <a:r>
              <a:rPr lang="en-US" sz="750" b="1" dirty="0">
                <a:solidFill>
                  <a:srgbClr val="D97706"/>
                </a:solidFill>
                <a:latin typeface="Calibri" pitchFamily="34" charset="0"/>
                <a:ea typeface="Calibri" pitchFamily="34" charset="-122"/>
                <a:cs typeface="Calibri" pitchFamily="34" charset="-120"/>
              </a:rPr>
              <a:t xml:space="preserve">✗  GTPParameterParser  —  </a:t>
            </a:r>
            <a:pPr algn="l" indent="0" marL="0">
              <a:buNone/>
            </a:pPr>
            <a:r>
              <a:rPr lang="en-US" sz="750" dirty="0">
                <a:solidFill>
                  <a:srgbClr val="92400E"/>
                </a:solidFill>
                <a:latin typeface="Calibri" pitchFamily="34" charset="0"/>
                <a:ea typeface="Calibri" pitchFamily="34" charset="-122"/>
                <a:cs typeface="Calibri" pitchFamily="34" charset="-120"/>
              </a:rPr>
              <a:t>Initialisation on Fulcrum container not resolved — under active investigation.</a:t>
            </a:r>
            <a:endParaRPr lang="en-US" sz="750" dirty="0"/>
          </a:p>
        </p:txBody>
      </p:sp>
      <p:sp>
        <p:nvSpPr>
          <p:cNvPr id="55" name="Text 53"/>
          <p:cNvSpPr/>
          <p:nvPr/>
        </p:nvSpPr>
        <p:spPr>
          <a:xfrm>
            <a:off x="5431536" y="3849624"/>
            <a:ext cx="3474720" cy="256032"/>
          </a:xfrm>
          <a:prstGeom prst="rect">
            <a:avLst/>
          </a:prstGeom>
          <a:noFill/>
          <a:ln/>
        </p:spPr>
        <p:txBody>
          <a:bodyPr wrap="square" lIns="0" tIns="0" rIns="0" bIns="0" rtlCol="0" anchor="t"/>
          <a:lstStyle/>
          <a:p>
            <a:pPr algn="l" indent="0" marL="0">
              <a:buNone/>
            </a:pPr>
            <a:r>
              <a:rPr lang="en-US" sz="750" b="1" dirty="0">
                <a:solidFill>
                  <a:srgbClr val="D97706"/>
                </a:solidFill>
                <a:latin typeface="Calibri" pitchFamily="34" charset="0"/>
                <a:ea typeface="Calibri" pitchFamily="34" charset="-122"/>
                <a:cs typeface="Calibri" pitchFamily="34" charset="-120"/>
              </a:rPr>
              <a:t xml:space="preserve">✗  Full GEB Business Modules  —  </a:t>
            </a:r>
            <a:pPr algn="l" indent="0" marL="0">
              <a:buNone/>
            </a:pPr>
            <a:r>
              <a:rPr lang="en-US" sz="750" dirty="0">
                <a:solidFill>
                  <a:srgbClr val="92400E"/>
                </a:solidFill>
                <a:latin typeface="Calibri" pitchFamily="34" charset="0"/>
                <a:ea typeface="Calibri" pitchFamily="34" charset="-122"/>
                <a:cs typeface="Calibri" pitchFamily="34" charset="-120"/>
              </a:rPr>
              <a:t>POC replicates architecture only. All 18+ banking modules require migration and regression testing.</a:t>
            </a:r>
            <a:endParaRPr lang="en-US" sz="750" dirty="0"/>
          </a:p>
        </p:txBody>
      </p:sp>
      <p:sp>
        <p:nvSpPr>
          <p:cNvPr id="56" name="Shape 54"/>
          <p:cNvSpPr/>
          <p:nvPr/>
        </p:nvSpPr>
        <p:spPr>
          <a:xfrm>
            <a:off x="5321808" y="4160520"/>
            <a:ext cx="3639312" cy="548640"/>
          </a:xfrm>
          <a:prstGeom prst="rect">
            <a:avLst/>
          </a:prstGeom>
          <a:solidFill>
            <a:srgbClr val="FEF2F2"/>
          </a:solidFill>
          <a:ln w="12700">
            <a:solidFill>
              <a:srgbClr val="C0392B"/>
            </a:solidFill>
            <a:prstDash val="solid"/>
          </a:ln>
        </p:spPr>
      </p:sp>
      <p:sp>
        <p:nvSpPr>
          <p:cNvPr id="57" name="Shape 55"/>
          <p:cNvSpPr/>
          <p:nvPr/>
        </p:nvSpPr>
        <p:spPr>
          <a:xfrm>
            <a:off x="5321808" y="4160520"/>
            <a:ext cx="45720" cy="548640"/>
          </a:xfrm>
          <a:prstGeom prst="rect">
            <a:avLst/>
          </a:prstGeom>
          <a:solidFill>
            <a:srgbClr val="C0392B"/>
          </a:solidFill>
          <a:ln w="12700">
            <a:solidFill>
              <a:srgbClr val="C0392B"/>
            </a:solidFill>
            <a:prstDash val="solid"/>
          </a:ln>
        </p:spPr>
      </p:sp>
      <p:sp>
        <p:nvSpPr>
          <p:cNvPr id="58" name="Text 56"/>
          <p:cNvSpPr/>
          <p:nvPr/>
        </p:nvSpPr>
        <p:spPr>
          <a:xfrm>
            <a:off x="5431536" y="4206240"/>
            <a:ext cx="3474720" cy="201168"/>
          </a:xfrm>
          <a:prstGeom prst="rect">
            <a:avLst/>
          </a:prstGeom>
          <a:noFill/>
          <a:ln/>
        </p:spPr>
        <p:txBody>
          <a:bodyPr wrap="square" lIns="0" tIns="0" rIns="0" bIns="0"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Castor XML  —  Replacement Confirmed Required</a:t>
            </a:r>
            <a:endParaRPr lang="en-US" sz="900" dirty="0"/>
          </a:p>
        </p:txBody>
      </p:sp>
      <p:sp>
        <p:nvSpPr>
          <p:cNvPr id="59" name="Text 57"/>
          <p:cNvSpPr/>
          <p:nvPr/>
        </p:nvSpPr>
        <p:spPr>
          <a:xfrm>
            <a:off x="5431536" y="4407408"/>
            <a:ext cx="3474720" cy="256032"/>
          </a:xfrm>
          <a:prstGeom prst="rect">
            <a:avLst/>
          </a:prstGeom>
          <a:noFill/>
          <a:ln/>
        </p:spPr>
        <p:txBody>
          <a:bodyPr wrap="square" lIns="0" tIns="0" rIns="0" bIns="0" rtlCol="0" anchor="ctr"/>
          <a:lstStyle/>
          <a:p>
            <a:pPr algn="l" indent="0" marL="0">
              <a:buNone/>
            </a:pPr>
            <a:r>
              <a:rPr lang="en-US" sz="750" dirty="0">
                <a:solidFill>
                  <a:srgbClr val="7B1E1E"/>
                </a:solidFill>
                <a:latin typeface="Calibri" pitchFamily="34" charset="0"/>
                <a:ea typeface="Calibri" pitchFamily="34" charset="-122"/>
                <a:cs typeface="Calibri" pitchFamily="34" charset="-120"/>
              </a:rPr>
              <a:t>Castor XML uses Java reflection to parse PSML files. Java 17 strong encapsulation blocks this at runtime. Replacement with dom4j identified — targeted code rewrite of the PSML parsing layer required.</a:t>
            </a:r>
            <a:endParaRPr lang="en-US" sz="750" dirty="0"/>
          </a:p>
        </p:txBody>
      </p:sp>
      <p:sp>
        <p:nvSpPr>
          <p:cNvPr id="60" name="Shape 58"/>
          <p:cNvSpPr/>
          <p:nvPr/>
        </p:nvSpPr>
        <p:spPr>
          <a:xfrm>
            <a:off x="0" y="4764024"/>
            <a:ext cx="9144000" cy="283464"/>
          </a:xfrm>
          <a:prstGeom prst="rect">
            <a:avLst/>
          </a:prstGeom>
          <a:solidFill>
            <a:srgbClr val="1A3A5C"/>
          </a:solidFill>
          <a:ln w="12700">
            <a:solidFill>
              <a:srgbClr val="1A3A5C"/>
            </a:solidFill>
            <a:prstDash val="solid"/>
          </a:ln>
        </p:spPr>
      </p:sp>
      <p:sp>
        <p:nvSpPr>
          <p:cNvPr id="61" name="Text 59"/>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POC proves Turbine 7 architecture is viable  ·  GTPParameterParser initialisation and Torque ORM are the next active investigation areas</a:t>
            </a:r>
            <a:endParaRPr lang="en-US" sz="850" dirty="0"/>
          </a:p>
        </p:txBody>
      </p:sp>
      <p:sp>
        <p:nvSpPr>
          <p:cNvPr id="62" name="Shape 60"/>
          <p:cNvSpPr/>
          <p:nvPr/>
        </p:nvSpPr>
        <p:spPr>
          <a:xfrm>
            <a:off x="0" y="5047488"/>
            <a:ext cx="9144000" cy="96012"/>
          </a:xfrm>
          <a:prstGeom prst="rect">
            <a:avLst/>
          </a:prstGeom>
          <a:solidFill>
            <a:srgbClr val="091525"/>
          </a:solidFill>
          <a:ln w="12700">
            <a:solidFill>
              <a:srgbClr val="091525"/>
            </a:solidFill>
            <a:prstDash val="solid"/>
          </a:ln>
        </p:spPr>
      </p:sp>
      <p:sp>
        <p:nvSpPr>
          <p:cNvPr id="63" name="Text 61"/>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7724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Third-Party &amp; Vendor Dependencies</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Components outside direct Wipro/UOB control  ·  Vendor action or confirmation required</a:t>
            </a:r>
            <a:endParaRPr lang="en-US" sz="900" dirty="0"/>
          </a:p>
        </p:txBody>
      </p:sp>
      <p:sp>
        <p:nvSpPr>
          <p:cNvPr id="5" name="Text 3"/>
          <p:cNvSpPr/>
          <p:nvPr/>
        </p:nvSpPr>
        <p:spPr>
          <a:xfrm>
            <a:off x="182880" y="749808"/>
            <a:ext cx="877824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VENDOR DEPENDENCIES</a:t>
            </a:r>
            <a:endParaRPr lang="en-US" sz="750" dirty="0"/>
          </a:p>
        </p:txBody>
      </p:sp>
      <p:sp>
        <p:nvSpPr>
          <p:cNvPr id="6" name="Shape 4"/>
          <p:cNvSpPr/>
          <p:nvPr/>
        </p:nvSpPr>
        <p:spPr>
          <a:xfrm>
            <a:off x="0" y="1005840"/>
            <a:ext cx="9144000" cy="868680"/>
          </a:xfrm>
          <a:prstGeom prst="rect">
            <a:avLst/>
          </a:prstGeom>
          <a:solidFill>
            <a:srgbClr val="FFF0F0"/>
          </a:solidFill>
          <a:ln w="12700">
            <a:solidFill>
              <a:srgbClr val="E8EEF5"/>
            </a:solidFill>
            <a:prstDash val="solid"/>
          </a:ln>
        </p:spPr>
      </p:sp>
      <p:sp>
        <p:nvSpPr>
          <p:cNvPr id="7" name="Shape 5"/>
          <p:cNvSpPr/>
          <p:nvPr/>
        </p:nvSpPr>
        <p:spPr>
          <a:xfrm>
            <a:off x="0" y="1005840"/>
            <a:ext cx="64008" cy="868680"/>
          </a:xfrm>
          <a:prstGeom prst="rect">
            <a:avLst/>
          </a:prstGeom>
          <a:solidFill>
            <a:srgbClr val="8B0000"/>
          </a:solidFill>
          <a:ln w="12700">
            <a:solidFill>
              <a:srgbClr val="8B0000"/>
            </a:solidFill>
            <a:prstDash val="solid"/>
          </a:ln>
        </p:spPr>
      </p:sp>
      <p:sp>
        <p:nvSpPr>
          <p:cNvPr id="8" name="Shape 6"/>
          <p:cNvSpPr/>
          <p:nvPr/>
        </p:nvSpPr>
        <p:spPr>
          <a:xfrm>
            <a:off x="118872" y="1143000"/>
            <a:ext cx="1188720" cy="201168"/>
          </a:xfrm>
          <a:prstGeom prst="roundRect">
            <a:avLst>
              <a:gd name="adj" fmla="val 18182"/>
            </a:avLst>
          </a:prstGeom>
          <a:solidFill>
            <a:srgbClr val="8B0000"/>
          </a:solidFill>
          <a:ln w="12700">
            <a:solidFill>
              <a:srgbClr val="8B0000"/>
            </a:solidFill>
            <a:prstDash val="solid"/>
          </a:ln>
        </p:spPr>
      </p:sp>
      <p:sp>
        <p:nvSpPr>
          <p:cNvPr id="9" name="Text 7"/>
          <p:cNvSpPr/>
          <p:nvPr/>
        </p:nvSpPr>
        <p:spPr>
          <a:xfrm>
            <a:off x="118872" y="1143000"/>
            <a:ext cx="11887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AWAITING VENDOR</a:t>
            </a:r>
            <a:endParaRPr lang="en-US" sz="650" dirty="0"/>
          </a:p>
        </p:txBody>
      </p:sp>
      <p:sp>
        <p:nvSpPr>
          <p:cNvPr id="10" name="Text 8"/>
          <p:cNvSpPr/>
          <p:nvPr/>
        </p:nvSpPr>
        <p:spPr>
          <a:xfrm>
            <a:off x="1389888" y="1069848"/>
            <a:ext cx="365760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I-Sprint  (Token / Authentication)</a:t>
            </a:r>
            <a:endParaRPr lang="en-US" sz="950" dirty="0"/>
          </a:p>
        </p:txBody>
      </p:sp>
      <p:sp>
        <p:nvSpPr>
          <p:cNvPr id="11" name="Text 9"/>
          <p:cNvSpPr/>
          <p:nvPr/>
        </p:nvSpPr>
        <p:spPr>
          <a:xfrm>
            <a:off x="1389888" y="1316736"/>
            <a:ext cx="4297680" cy="402336"/>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I-Sprint provides the hard/soft token authentication JAR used by GEB for customer login validation. The current I-Sprint JAR references javax.* APIs internally, making it incompatible with Jakarta EE. I-Sprint must provide a Jakarta EE compatible version of their JAR. This is an external vendor dependency — timeline is not in our control. Engagement must be initiated immediately.</a:t>
            </a:r>
            <a:endParaRPr lang="en-US" sz="780" dirty="0"/>
          </a:p>
        </p:txBody>
      </p:sp>
      <p:sp>
        <p:nvSpPr>
          <p:cNvPr id="12" name="Text 10"/>
          <p:cNvSpPr/>
          <p:nvPr/>
        </p:nvSpPr>
        <p:spPr>
          <a:xfrm>
            <a:off x="5760720" y="1097280"/>
            <a:ext cx="3246120" cy="685800"/>
          </a:xfrm>
          <a:prstGeom prst="rect">
            <a:avLst/>
          </a:prstGeom>
          <a:noFill/>
          <a:ln/>
        </p:spPr>
        <p:txBody>
          <a:bodyPr wrap="square" lIns="0" tIns="0" rIns="0" bIns="0" rtlCol="0" anchor="ctr"/>
          <a:lstStyle/>
          <a:p>
            <a:pPr algn="l" indent="0" marL="0">
              <a:buNone/>
            </a:pPr>
            <a:r>
              <a:rPr lang="en-US" sz="800" i="1" dirty="0">
                <a:solidFill>
                  <a:srgbClr val="8B0000"/>
                </a:solidFill>
                <a:latin typeface="Calibri" pitchFamily="34" charset="0"/>
                <a:ea typeface="Calibri" pitchFamily="34" charset="-122"/>
                <a:cs typeface="Calibri" pitchFamily="34" charset="-120"/>
              </a:rPr>
              <a:t>→  Risk: If I-Sprint cannot deliver a compatible JAR in time, token authentication cannot function on the upgraded stack. This is a potential programme blocker.</a:t>
            </a:r>
            <a:endParaRPr lang="en-US" sz="800" dirty="0"/>
          </a:p>
        </p:txBody>
      </p:sp>
      <p:sp>
        <p:nvSpPr>
          <p:cNvPr id="13" name="Shape 11"/>
          <p:cNvSpPr/>
          <p:nvPr/>
        </p:nvSpPr>
        <p:spPr>
          <a:xfrm>
            <a:off x="0" y="1911096"/>
            <a:ext cx="9144000" cy="868680"/>
          </a:xfrm>
          <a:prstGeom prst="rect">
            <a:avLst/>
          </a:prstGeom>
          <a:solidFill>
            <a:srgbClr val="F0FAF4"/>
          </a:solidFill>
          <a:ln w="12700">
            <a:solidFill>
              <a:srgbClr val="E8EEF5"/>
            </a:solidFill>
            <a:prstDash val="solid"/>
          </a:ln>
        </p:spPr>
      </p:sp>
      <p:sp>
        <p:nvSpPr>
          <p:cNvPr id="14" name="Shape 12"/>
          <p:cNvSpPr/>
          <p:nvPr/>
        </p:nvSpPr>
        <p:spPr>
          <a:xfrm>
            <a:off x="0" y="1911096"/>
            <a:ext cx="64008" cy="868680"/>
          </a:xfrm>
          <a:prstGeom prst="rect">
            <a:avLst/>
          </a:prstGeom>
          <a:solidFill>
            <a:srgbClr val="1A7A3E"/>
          </a:solidFill>
          <a:ln w="12700">
            <a:solidFill>
              <a:srgbClr val="1A7A3E"/>
            </a:solidFill>
            <a:prstDash val="solid"/>
          </a:ln>
        </p:spPr>
      </p:sp>
      <p:sp>
        <p:nvSpPr>
          <p:cNvPr id="15" name="Shape 13"/>
          <p:cNvSpPr/>
          <p:nvPr/>
        </p:nvSpPr>
        <p:spPr>
          <a:xfrm>
            <a:off x="118872" y="2048256"/>
            <a:ext cx="1188720" cy="201168"/>
          </a:xfrm>
          <a:prstGeom prst="roundRect">
            <a:avLst>
              <a:gd name="adj" fmla="val 18182"/>
            </a:avLst>
          </a:prstGeom>
          <a:solidFill>
            <a:srgbClr val="1A7A3E"/>
          </a:solidFill>
          <a:ln w="12700">
            <a:solidFill>
              <a:srgbClr val="1A7A3E"/>
            </a:solidFill>
            <a:prstDash val="solid"/>
          </a:ln>
        </p:spPr>
      </p:sp>
      <p:sp>
        <p:nvSpPr>
          <p:cNvPr id="16" name="Text 14"/>
          <p:cNvSpPr/>
          <p:nvPr/>
        </p:nvSpPr>
        <p:spPr>
          <a:xfrm>
            <a:off x="118872" y="2048256"/>
            <a:ext cx="11887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COMPATIBLE</a:t>
            </a:r>
            <a:endParaRPr lang="en-US" sz="650" dirty="0"/>
          </a:p>
        </p:txBody>
      </p:sp>
      <p:sp>
        <p:nvSpPr>
          <p:cNvPr id="17" name="Text 15"/>
          <p:cNvSpPr/>
          <p:nvPr/>
        </p:nvSpPr>
        <p:spPr>
          <a:xfrm>
            <a:off x="1389888" y="1975104"/>
            <a:ext cx="365760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EHCache  (Caching Layer)</a:t>
            </a:r>
            <a:endParaRPr lang="en-US" sz="950" dirty="0"/>
          </a:p>
        </p:txBody>
      </p:sp>
      <p:sp>
        <p:nvSpPr>
          <p:cNvPr id="18" name="Text 16"/>
          <p:cNvSpPr/>
          <p:nvPr/>
        </p:nvSpPr>
        <p:spPr>
          <a:xfrm>
            <a:off x="1389888" y="2221992"/>
            <a:ext cx="4297680" cy="402336"/>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EHCache is GEB's distributed cache layer via EHCacheService (overrides Turbine's GlobalCacheService). EHCache operates as a standalone library with no javax.servlet dependency. EHCache 2.5.x is compatible with Java 17. The CachedObject class package path changes (org.apache.turbine → org.apache.fulcrum.cache) — a minor import update only.</a:t>
            </a:r>
            <a:endParaRPr lang="en-US" sz="780" dirty="0"/>
          </a:p>
        </p:txBody>
      </p:sp>
      <p:sp>
        <p:nvSpPr>
          <p:cNvPr id="19" name="Text 17"/>
          <p:cNvSpPr/>
          <p:nvPr/>
        </p:nvSpPr>
        <p:spPr>
          <a:xfrm>
            <a:off x="5760720" y="2002536"/>
            <a:ext cx="3246120" cy="685800"/>
          </a:xfrm>
          <a:prstGeom prst="rect">
            <a:avLst/>
          </a:prstGeom>
          <a:noFill/>
          <a:ln/>
        </p:spPr>
        <p:txBody>
          <a:bodyPr wrap="square" lIns="0" tIns="0" rIns="0" bIns="0" rtlCol="0" anchor="ctr"/>
          <a:lstStyle/>
          <a:p>
            <a:pPr algn="l" indent="0" marL="0">
              <a:buNone/>
            </a:pPr>
            <a:r>
              <a:rPr lang="en-US" sz="800" i="1" dirty="0">
                <a:solidFill>
                  <a:srgbClr val="1A7A3E"/>
                </a:solidFill>
                <a:latin typeface="Calibri" pitchFamily="34" charset="0"/>
                <a:ea typeface="Calibri" pitchFamily="34" charset="-122"/>
                <a:cs typeface="Calibri" pitchFamily="34" charset="-120"/>
              </a:rPr>
              <a:t>→  No vendor engagement needed. Internal fix — import path update only.</a:t>
            </a:r>
            <a:endParaRPr lang="en-US" sz="800" dirty="0"/>
          </a:p>
        </p:txBody>
      </p:sp>
      <p:sp>
        <p:nvSpPr>
          <p:cNvPr id="20" name="Shape 18"/>
          <p:cNvSpPr/>
          <p:nvPr/>
        </p:nvSpPr>
        <p:spPr>
          <a:xfrm>
            <a:off x="0" y="2816352"/>
            <a:ext cx="9144000" cy="868680"/>
          </a:xfrm>
          <a:prstGeom prst="rect">
            <a:avLst/>
          </a:prstGeom>
          <a:solidFill>
            <a:srgbClr val="FFFBEB"/>
          </a:solidFill>
          <a:ln w="12700">
            <a:solidFill>
              <a:srgbClr val="E8EEF5"/>
            </a:solidFill>
            <a:prstDash val="solid"/>
          </a:ln>
        </p:spPr>
      </p:sp>
      <p:sp>
        <p:nvSpPr>
          <p:cNvPr id="21" name="Shape 19"/>
          <p:cNvSpPr/>
          <p:nvPr/>
        </p:nvSpPr>
        <p:spPr>
          <a:xfrm>
            <a:off x="0" y="2816352"/>
            <a:ext cx="64008" cy="868680"/>
          </a:xfrm>
          <a:prstGeom prst="rect">
            <a:avLst/>
          </a:prstGeom>
          <a:solidFill>
            <a:srgbClr val="D97706"/>
          </a:solidFill>
          <a:ln w="12700">
            <a:solidFill>
              <a:srgbClr val="D97706"/>
            </a:solidFill>
            <a:prstDash val="solid"/>
          </a:ln>
        </p:spPr>
      </p:sp>
      <p:sp>
        <p:nvSpPr>
          <p:cNvPr id="22" name="Shape 20"/>
          <p:cNvSpPr/>
          <p:nvPr/>
        </p:nvSpPr>
        <p:spPr>
          <a:xfrm>
            <a:off x="118872" y="2953512"/>
            <a:ext cx="1188720" cy="201168"/>
          </a:xfrm>
          <a:prstGeom prst="roundRect">
            <a:avLst>
              <a:gd name="adj" fmla="val 18182"/>
            </a:avLst>
          </a:prstGeom>
          <a:solidFill>
            <a:srgbClr val="D97706"/>
          </a:solidFill>
          <a:ln w="12700">
            <a:solidFill>
              <a:srgbClr val="D97706"/>
            </a:solidFill>
            <a:prstDash val="solid"/>
          </a:ln>
        </p:spPr>
      </p:sp>
      <p:sp>
        <p:nvSpPr>
          <p:cNvPr id="23" name="Text 21"/>
          <p:cNvSpPr/>
          <p:nvPr/>
        </p:nvSpPr>
        <p:spPr>
          <a:xfrm>
            <a:off x="118872" y="2953512"/>
            <a:ext cx="11887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UPGRADE</a:t>
            </a:r>
            <a:endParaRPr lang="en-US" sz="650" dirty="0"/>
          </a:p>
        </p:txBody>
      </p:sp>
      <p:sp>
        <p:nvSpPr>
          <p:cNvPr id="24" name="Text 22"/>
          <p:cNvSpPr/>
          <p:nvPr/>
        </p:nvSpPr>
        <p:spPr>
          <a:xfrm>
            <a:off x="1389888" y="2880360"/>
            <a:ext cx="365760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Oracle JDBC Driver</a:t>
            </a:r>
            <a:endParaRPr lang="en-US" sz="950" dirty="0"/>
          </a:p>
        </p:txBody>
      </p:sp>
      <p:sp>
        <p:nvSpPr>
          <p:cNvPr id="25" name="Text 23"/>
          <p:cNvSpPr/>
          <p:nvPr/>
        </p:nvSpPr>
        <p:spPr>
          <a:xfrm>
            <a:off x="1389888" y="3127248"/>
            <a:ext cx="4297680" cy="402336"/>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Oracle JDBC driver (ojdbc) is used by GTPPoolBrokerService for all database connections. The current version must be validated against Java 17 JDBC compatibility. Oracle provides Java 17 compatible JDBC drivers (ojdbc11). Version upgrade required — Oracle 19c database is unchanged. No application-level SQL changes needed.</a:t>
            </a:r>
            <a:endParaRPr lang="en-US" sz="780" dirty="0"/>
          </a:p>
        </p:txBody>
      </p:sp>
      <p:sp>
        <p:nvSpPr>
          <p:cNvPr id="26" name="Text 24"/>
          <p:cNvSpPr/>
          <p:nvPr/>
        </p:nvSpPr>
        <p:spPr>
          <a:xfrm>
            <a:off x="5760720" y="2907792"/>
            <a:ext cx="3246120" cy="685800"/>
          </a:xfrm>
          <a:prstGeom prst="rect">
            <a:avLst/>
          </a:prstGeom>
          <a:noFill/>
          <a:ln/>
        </p:spPr>
        <p:txBody>
          <a:bodyPr wrap="square" lIns="0" tIns="0" rIns="0" bIns="0" rtlCol="0" anchor="ctr"/>
          <a:lstStyle/>
          <a:p>
            <a:pPr algn="l" indent="0" marL="0">
              <a:buNone/>
            </a:pPr>
            <a:r>
              <a:rPr lang="en-US" sz="800" i="1" dirty="0">
                <a:solidFill>
                  <a:srgbClr val="D97706"/>
                </a:solidFill>
                <a:latin typeface="Calibri" pitchFamily="34" charset="0"/>
                <a:ea typeface="Calibri" pitchFamily="34" charset="-122"/>
                <a:cs typeface="Calibri" pitchFamily="34" charset="-120"/>
              </a:rPr>
              <a:t>→  Straightforward upgrade. Oracle JDBC versioning aligns with Java LTS versions.</a:t>
            </a:r>
            <a:endParaRPr lang="en-US" sz="800" dirty="0"/>
          </a:p>
        </p:txBody>
      </p:sp>
      <p:sp>
        <p:nvSpPr>
          <p:cNvPr id="27" name="Shape 25"/>
          <p:cNvSpPr/>
          <p:nvPr/>
        </p:nvSpPr>
        <p:spPr>
          <a:xfrm>
            <a:off x="0" y="3721608"/>
            <a:ext cx="9144000" cy="868680"/>
          </a:xfrm>
          <a:prstGeom prst="rect">
            <a:avLst/>
          </a:prstGeom>
          <a:solidFill>
            <a:srgbClr val="FAF5FF"/>
          </a:solidFill>
          <a:ln w="12700">
            <a:solidFill>
              <a:srgbClr val="E8EEF5"/>
            </a:solidFill>
            <a:prstDash val="solid"/>
          </a:ln>
        </p:spPr>
      </p:sp>
      <p:sp>
        <p:nvSpPr>
          <p:cNvPr id="28" name="Shape 26"/>
          <p:cNvSpPr/>
          <p:nvPr/>
        </p:nvSpPr>
        <p:spPr>
          <a:xfrm>
            <a:off x="0" y="3721608"/>
            <a:ext cx="64008" cy="868680"/>
          </a:xfrm>
          <a:prstGeom prst="rect">
            <a:avLst/>
          </a:prstGeom>
          <a:solidFill>
            <a:srgbClr val="6B21A8"/>
          </a:solidFill>
          <a:ln w="12700">
            <a:solidFill>
              <a:srgbClr val="6B21A8"/>
            </a:solidFill>
            <a:prstDash val="solid"/>
          </a:ln>
        </p:spPr>
      </p:sp>
      <p:sp>
        <p:nvSpPr>
          <p:cNvPr id="29" name="Shape 27"/>
          <p:cNvSpPr/>
          <p:nvPr/>
        </p:nvSpPr>
        <p:spPr>
          <a:xfrm>
            <a:off x="118872" y="3858768"/>
            <a:ext cx="1188720" cy="201168"/>
          </a:xfrm>
          <a:prstGeom prst="roundRect">
            <a:avLst>
              <a:gd name="adj" fmla="val 18182"/>
            </a:avLst>
          </a:prstGeom>
          <a:solidFill>
            <a:srgbClr val="6B21A8"/>
          </a:solidFill>
          <a:ln w="12700">
            <a:solidFill>
              <a:srgbClr val="6B21A8"/>
            </a:solidFill>
            <a:prstDash val="solid"/>
          </a:ln>
        </p:spPr>
      </p:sp>
      <p:sp>
        <p:nvSpPr>
          <p:cNvPr id="30" name="Text 28"/>
          <p:cNvSpPr/>
          <p:nvPr/>
        </p:nvSpPr>
        <p:spPr>
          <a:xfrm>
            <a:off x="118872" y="3858768"/>
            <a:ext cx="11887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SOURCE REQUIRED</a:t>
            </a:r>
            <a:endParaRPr lang="en-US" sz="650" dirty="0"/>
          </a:p>
        </p:txBody>
      </p:sp>
      <p:sp>
        <p:nvSpPr>
          <p:cNvPr id="31" name="Text 29"/>
          <p:cNvSpPr/>
          <p:nvPr/>
        </p:nvSpPr>
        <p:spPr>
          <a:xfrm>
            <a:off x="1389888" y="3785616"/>
            <a:ext cx="3657600" cy="237744"/>
          </a:xfrm>
          <a:prstGeom prst="rect">
            <a:avLst/>
          </a:prstGeom>
          <a:noFill/>
          <a:ln/>
        </p:spPr>
        <p:txBody>
          <a:bodyPr wrap="square" lIns="0" tIns="0" rIns="0" bIns="0" rtlCol="0" anchor="ctr"/>
          <a:lstStyle/>
          <a:p>
            <a:pPr algn="l" indent="0" marL="0">
              <a:buNone/>
            </a:pPr>
            <a:r>
              <a:rPr lang="en-US" sz="950" b="1" dirty="0">
                <a:solidFill>
                  <a:srgbClr val="0D2B4E"/>
                </a:solidFill>
                <a:latin typeface="Calibri" pitchFamily="34" charset="0"/>
                <a:ea typeface="Calibri" pitchFamily="34" charset="-122"/>
                <a:cs typeface="Calibri" pitchFamily="34" charset="-120"/>
              </a:rPr>
              <a:t>Finastra Vendor JARs  (Binary-only dependencies)</a:t>
            </a:r>
            <a:endParaRPr lang="en-US" sz="950" dirty="0"/>
          </a:p>
        </p:txBody>
      </p:sp>
      <p:sp>
        <p:nvSpPr>
          <p:cNvPr id="32" name="Text 30"/>
          <p:cNvSpPr/>
          <p:nvPr/>
        </p:nvSpPr>
        <p:spPr>
          <a:xfrm>
            <a:off x="1389888" y="4032504"/>
            <a:ext cx="4297680" cy="402336"/>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Several Finastra-provided JARs exist as binary-only files in WEB-INF/lib with no accompanying source. These must be recompiled against Java 17 and Jakarta EE by Finastra or via source access. Finastra must be engaged to provide either Java 17 compatible binaries or source code for recompilation. This applies to all Finastra Internal JARs identified in the dependency analysis.</a:t>
            </a:r>
            <a:endParaRPr lang="en-US" sz="780" dirty="0"/>
          </a:p>
        </p:txBody>
      </p:sp>
      <p:sp>
        <p:nvSpPr>
          <p:cNvPr id="33" name="Text 31"/>
          <p:cNvSpPr/>
          <p:nvPr/>
        </p:nvSpPr>
        <p:spPr>
          <a:xfrm>
            <a:off x="5760720" y="3813048"/>
            <a:ext cx="3246120" cy="685800"/>
          </a:xfrm>
          <a:prstGeom prst="rect">
            <a:avLst/>
          </a:prstGeom>
          <a:noFill/>
          <a:ln/>
        </p:spPr>
        <p:txBody>
          <a:bodyPr wrap="square" lIns="0" tIns="0" rIns="0" bIns="0" rtlCol="0" anchor="ctr"/>
          <a:lstStyle/>
          <a:p>
            <a:pPr algn="l" indent="0" marL="0">
              <a:buNone/>
            </a:pPr>
            <a:r>
              <a:rPr lang="en-US" sz="800" i="1" dirty="0">
                <a:solidFill>
                  <a:srgbClr val="6B21A8"/>
                </a:solidFill>
                <a:latin typeface="Calibri" pitchFamily="34" charset="0"/>
                <a:ea typeface="Calibri" pitchFamily="34" charset="-122"/>
                <a:cs typeface="Calibri" pitchFamily="34" charset="-120"/>
              </a:rPr>
              <a:t>→  Risk: Without source or compatible binaries from Finastra, these JARs cannot be migrated. Vendor engagement required early in programme timeline.</a:t>
            </a:r>
            <a:endParaRPr lang="en-US" sz="800" dirty="0"/>
          </a:p>
        </p:txBody>
      </p:sp>
      <p:sp>
        <p:nvSpPr>
          <p:cNvPr id="34" name="Shape 32"/>
          <p:cNvSpPr/>
          <p:nvPr/>
        </p:nvSpPr>
        <p:spPr>
          <a:xfrm>
            <a:off x="0" y="4764024"/>
            <a:ext cx="9144000" cy="283464"/>
          </a:xfrm>
          <a:prstGeom prst="rect">
            <a:avLst/>
          </a:prstGeom>
          <a:solidFill>
            <a:srgbClr val="1A3A5C"/>
          </a:solidFill>
          <a:ln w="12700">
            <a:solidFill>
              <a:srgbClr val="1A3A5C"/>
            </a:solidFill>
            <a:prstDash val="solid"/>
          </a:ln>
        </p:spPr>
      </p:sp>
      <p:sp>
        <p:nvSpPr>
          <p:cNvPr id="35" name="Text 33"/>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I-Sprint and Finastra vendor engagements must be initiated at programme start — these are external dependencies outside team control</a:t>
            </a:r>
            <a:endParaRPr lang="en-US" sz="850" dirty="0"/>
          </a:p>
        </p:txBody>
      </p:sp>
      <p:sp>
        <p:nvSpPr>
          <p:cNvPr id="36" name="Shape 34"/>
          <p:cNvSpPr/>
          <p:nvPr/>
        </p:nvSpPr>
        <p:spPr>
          <a:xfrm>
            <a:off x="0" y="5047488"/>
            <a:ext cx="9144000" cy="96012"/>
          </a:xfrm>
          <a:prstGeom prst="rect">
            <a:avLst/>
          </a:prstGeom>
          <a:solidFill>
            <a:srgbClr val="091525"/>
          </a:solidFill>
          <a:ln w="12700">
            <a:solidFill>
              <a:srgbClr val="091525"/>
            </a:solidFill>
            <a:prstDash val="solid"/>
          </a:ln>
        </p:spPr>
      </p:sp>
      <p:sp>
        <p:nvSpPr>
          <p:cNvPr id="37" name="Text 35"/>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7724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Workspace File Type Analysis</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Distinct file types identified across GEB workspace  ·  All must be correctly served and processed post-migration</a:t>
            </a:r>
            <a:endParaRPr lang="en-US" sz="900" dirty="0"/>
          </a:p>
        </p:txBody>
      </p:sp>
      <p:sp>
        <p:nvSpPr>
          <p:cNvPr id="5" name="Text 3"/>
          <p:cNvSpPr/>
          <p:nvPr/>
        </p:nvSpPr>
        <p:spPr>
          <a:xfrm>
            <a:off x="182880" y="749808"/>
            <a:ext cx="877824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FILE TYPE CATEGORIES</a:t>
            </a:r>
            <a:endParaRPr lang="en-US" sz="750" dirty="0"/>
          </a:p>
        </p:txBody>
      </p:sp>
      <p:sp>
        <p:nvSpPr>
          <p:cNvPr id="6" name="Shape 4"/>
          <p:cNvSpPr/>
          <p:nvPr/>
        </p:nvSpPr>
        <p:spPr>
          <a:xfrm>
            <a:off x="0" y="1005840"/>
            <a:ext cx="9144000" cy="512064"/>
          </a:xfrm>
          <a:prstGeom prst="rect">
            <a:avLst/>
          </a:prstGeom>
          <a:solidFill>
            <a:srgbClr val="FEF2F2"/>
          </a:solidFill>
          <a:ln w="12700">
            <a:solidFill>
              <a:srgbClr val="E8EEF5"/>
            </a:solidFill>
            <a:prstDash val="solid"/>
          </a:ln>
        </p:spPr>
      </p:sp>
      <p:sp>
        <p:nvSpPr>
          <p:cNvPr id="7" name="Shape 5"/>
          <p:cNvSpPr/>
          <p:nvPr/>
        </p:nvSpPr>
        <p:spPr>
          <a:xfrm>
            <a:off x="0" y="1005840"/>
            <a:ext cx="64008" cy="512064"/>
          </a:xfrm>
          <a:prstGeom prst="rect">
            <a:avLst/>
          </a:prstGeom>
          <a:solidFill>
            <a:srgbClr val="C0392B"/>
          </a:solidFill>
          <a:ln w="12700">
            <a:solidFill>
              <a:srgbClr val="C0392B"/>
            </a:solidFill>
            <a:prstDash val="solid"/>
          </a:ln>
        </p:spPr>
      </p:sp>
      <p:sp>
        <p:nvSpPr>
          <p:cNvPr id="8" name="Shape 6"/>
          <p:cNvSpPr/>
          <p:nvPr/>
        </p:nvSpPr>
        <p:spPr>
          <a:xfrm>
            <a:off x="118872" y="1124712"/>
            <a:ext cx="1234440" cy="182880"/>
          </a:xfrm>
          <a:prstGeom prst="roundRect">
            <a:avLst>
              <a:gd name="adj" fmla="val 20000"/>
            </a:avLst>
          </a:prstGeom>
          <a:solidFill>
            <a:srgbClr val="C0392B"/>
          </a:solidFill>
          <a:ln w="12700">
            <a:solidFill>
              <a:srgbClr val="C0392B"/>
            </a:solidFill>
            <a:prstDash val="solid"/>
          </a:ln>
        </p:spPr>
      </p:sp>
      <p:sp>
        <p:nvSpPr>
          <p:cNvPr id="9" name="Text 7"/>
          <p:cNvSpPr/>
          <p:nvPr/>
        </p:nvSpPr>
        <p:spPr>
          <a:xfrm>
            <a:off x="118872" y="1124712"/>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MIGRATION CRITICAL</a:t>
            </a:r>
            <a:endParaRPr lang="en-US" sz="650" dirty="0"/>
          </a:p>
        </p:txBody>
      </p:sp>
      <p:sp>
        <p:nvSpPr>
          <p:cNvPr id="10" name="Text 8"/>
          <p:cNvSpPr/>
          <p:nvPr/>
        </p:nvSpPr>
        <p:spPr>
          <a:xfrm>
            <a:off x="1435608" y="1060704"/>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Portal &amp; Configuration</a:t>
            </a:r>
            <a:endParaRPr lang="en-US" sz="900" dirty="0"/>
          </a:p>
        </p:txBody>
      </p:sp>
      <p:sp>
        <p:nvSpPr>
          <p:cNvPr id="11" name="Shape 9"/>
          <p:cNvSpPr/>
          <p:nvPr/>
        </p:nvSpPr>
        <p:spPr>
          <a:xfrm>
            <a:off x="1435608" y="1280160"/>
            <a:ext cx="3794760" cy="182880"/>
          </a:xfrm>
          <a:prstGeom prst="roundRect">
            <a:avLst>
              <a:gd name="adj" fmla="val 15000"/>
            </a:avLst>
          </a:prstGeom>
          <a:solidFill>
            <a:srgbClr val="E8EEF5"/>
          </a:solidFill>
          <a:ln w="12700">
            <a:solidFill>
              <a:srgbClr val="D0DCE8"/>
            </a:solidFill>
            <a:prstDash val="solid"/>
          </a:ln>
        </p:spPr>
      </p:sp>
      <p:sp>
        <p:nvSpPr>
          <p:cNvPr id="12" name="Text 10"/>
          <p:cNvSpPr/>
          <p:nvPr/>
        </p:nvSpPr>
        <p:spPr>
          <a:xfrm>
            <a:off x="1435608" y="1280160"/>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.psml  .properties  .xml  .xconf  .xweb  .xcat  .xmap</a:t>
            </a:r>
            <a:endParaRPr lang="en-US" sz="750" dirty="0"/>
          </a:p>
        </p:txBody>
      </p:sp>
      <p:sp>
        <p:nvSpPr>
          <p:cNvPr id="13" name="Text 11"/>
          <p:cNvSpPr/>
          <p:nvPr/>
        </p:nvSpPr>
        <p:spPr>
          <a:xfrm>
            <a:off x="5321808" y="1042416"/>
            <a:ext cx="3657600" cy="438912"/>
          </a:xfrm>
          <a:prstGeom prst="rect">
            <a:avLst/>
          </a:prstGeom>
          <a:noFill/>
          <a:ln/>
        </p:spPr>
        <p:txBody>
          <a:bodyPr wrap="square" lIns="0" tIns="0" rIns="0" bIns="0" rtlCol="0" anchor="ctr"/>
          <a:lstStyle/>
          <a:p>
            <a:pPr algn="l" indent="0" marL="0">
              <a:buNone/>
            </a:pPr>
            <a:r>
              <a:rPr lang="en-US" sz="750" dirty="0">
                <a:solidFill>
                  <a:srgbClr val="7B1E1E"/>
                </a:solidFill>
                <a:latin typeface="Calibri" pitchFamily="34" charset="0"/>
                <a:ea typeface="Calibri" pitchFamily="34" charset="-122"/>
                <a:cs typeface="Calibri" pitchFamily="34" charset="-120"/>
              </a:rPr>
              <a:t>.psml: Castor XML parser replacement required.</a:t>
            </a:r>
            <a:endParaRPr lang="en-US" sz="750" dirty="0"/>
          </a:p>
          <a:p>
            <a:pPr algn="l" indent="0" marL="0">
              <a:buNone/>
            </a:pPr>
            <a:r>
              <a:rPr lang="en-US" sz="750" dirty="0">
                <a:solidFill>
                  <a:srgbClr val="7B1E1E"/>
                </a:solidFill>
                <a:latin typeface="Calibri" pitchFamily="34" charset="0"/>
                <a:ea typeface="Calibri" pitchFamily="34" charset="-122"/>
                <a:cs typeface="Calibri" pitchFamily="34" charset="-120"/>
              </a:rPr>
              <a:t>.xml / .xconf / .xweb: Must be validated against new Turbine 7 and Fulcrum config structure.</a:t>
            </a:r>
            <a:endParaRPr lang="en-US" sz="750" dirty="0"/>
          </a:p>
        </p:txBody>
      </p:sp>
      <p:sp>
        <p:nvSpPr>
          <p:cNvPr id="14" name="Shape 12"/>
          <p:cNvSpPr/>
          <p:nvPr/>
        </p:nvSpPr>
        <p:spPr>
          <a:xfrm>
            <a:off x="0" y="1545336"/>
            <a:ext cx="9144000" cy="512064"/>
          </a:xfrm>
          <a:prstGeom prst="rect">
            <a:avLst/>
          </a:prstGeom>
          <a:solidFill>
            <a:srgbClr val="FFFBEB"/>
          </a:solidFill>
          <a:ln w="12700">
            <a:solidFill>
              <a:srgbClr val="E8EEF5"/>
            </a:solidFill>
            <a:prstDash val="solid"/>
          </a:ln>
        </p:spPr>
      </p:sp>
      <p:sp>
        <p:nvSpPr>
          <p:cNvPr id="15" name="Shape 13"/>
          <p:cNvSpPr/>
          <p:nvPr/>
        </p:nvSpPr>
        <p:spPr>
          <a:xfrm>
            <a:off x="0" y="1545336"/>
            <a:ext cx="64008" cy="512064"/>
          </a:xfrm>
          <a:prstGeom prst="rect">
            <a:avLst/>
          </a:prstGeom>
          <a:solidFill>
            <a:srgbClr val="D97706"/>
          </a:solidFill>
          <a:ln w="12700">
            <a:solidFill>
              <a:srgbClr val="D97706"/>
            </a:solidFill>
            <a:prstDash val="solid"/>
          </a:ln>
        </p:spPr>
      </p:sp>
      <p:sp>
        <p:nvSpPr>
          <p:cNvPr id="16" name="Shape 14"/>
          <p:cNvSpPr/>
          <p:nvPr/>
        </p:nvSpPr>
        <p:spPr>
          <a:xfrm>
            <a:off x="118872" y="1664208"/>
            <a:ext cx="1234440" cy="182880"/>
          </a:xfrm>
          <a:prstGeom prst="roundRect">
            <a:avLst>
              <a:gd name="adj" fmla="val 20000"/>
            </a:avLst>
          </a:prstGeom>
          <a:solidFill>
            <a:srgbClr val="D97706"/>
          </a:solidFill>
          <a:ln w="12700">
            <a:solidFill>
              <a:srgbClr val="D97706"/>
            </a:solidFill>
            <a:prstDash val="solid"/>
          </a:ln>
        </p:spPr>
      </p:sp>
      <p:sp>
        <p:nvSpPr>
          <p:cNvPr id="17" name="Text 15"/>
          <p:cNvSpPr/>
          <p:nvPr/>
        </p:nvSpPr>
        <p:spPr>
          <a:xfrm>
            <a:off x="118872" y="1664208"/>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MIGRATION SENSITIVE</a:t>
            </a:r>
            <a:endParaRPr lang="en-US" sz="650" dirty="0"/>
          </a:p>
        </p:txBody>
      </p:sp>
      <p:sp>
        <p:nvSpPr>
          <p:cNvPr id="18" name="Text 16"/>
          <p:cNvSpPr/>
          <p:nvPr/>
        </p:nvSpPr>
        <p:spPr>
          <a:xfrm>
            <a:off x="1435608" y="1600200"/>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Stylesheets &amp; Templates</a:t>
            </a:r>
            <a:endParaRPr lang="en-US" sz="900" dirty="0"/>
          </a:p>
        </p:txBody>
      </p:sp>
      <p:sp>
        <p:nvSpPr>
          <p:cNvPr id="19" name="Shape 17"/>
          <p:cNvSpPr/>
          <p:nvPr/>
        </p:nvSpPr>
        <p:spPr>
          <a:xfrm>
            <a:off x="1435608" y="1819656"/>
            <a:ext cx="3794760" cy="182880"/>
          </a:xfrm>
          <a:prstGeom prst="roundRect">
            <a:avLst>
              <a:gd name="adj" fmla="val 15000"/>
            </a:avLst>
          </a:prstGeom>
          <a:solidFill>
            <a:srgbClr val="E8EEF5"/>
          </a:solidFill>
          <a:ln w="12700">
            <a:solidFill>
              <a:srgbClr val="D0DCE8"/>
            </a:solidFill>
            <a:prstDash val="solid"/>
          </a:ln>
        </p:spPr>
      </p:sp>
      <p:sp>
        <p:nvSpPr>
          <p:cNvPr id="20" name="Text 18"/>
          <p:cNvSpPr/>
          <p:nvPr/>
        </p:nvSpPr>
        <p:spPr>
          <a:xfrm>
            <a:off x="1435608" y="1819656"/>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.xsl  .xslt  .vm  .template  .Renderer</a:t>
            </a:r>
            <a:endParaRPr lang="en-US" sz="750" dirty="0"/>
          </a:p>
        </p:txBody>
      </p:sp>
      <p:sp>
        <p:nvSpPr>
          <p:cNvPr id="21" name="Text 19"/>
          <p:cNvSpPr/>
          <p:nvPr/>
        </p:nvSpPr>
        <p:spPr>
          <a:xfrm>
            <a:off x="5321808" y="1581912"/>
            <a:ext cx="3657600" cy="438912"/>
          </a:xfrm>
          <a:prstGeom prst="rect">
            <a:avLst/>
          </a:prstGeom>
          <a:noFill/>
          <a:ln/>
        </p:spPr>
        <p:txBody>
          <a:bodyPr wrap="square" lIns="0" tIns="0" rIns="0" bIns="0" rtlCol="0" anchor="ctr"/>
          <a:lstStyle/>
          <a:p>
            <a:pPr algn="l" indent="0" marL="0">
              <a:buNone/>
            </a:pPr>
            <a:r>
              <a:rPr lang="en-US" sz="750" dirty="0">
                <a:solidFill>
                  <a:srgbClr val="92400E"/>
                </a:solidFill>
                <a:latin typeface="Calibri" pitchFamily="34" charset="0"/>
                <a:ea typeface="Calibri" pitchFamily="34" charset="-122"/>
                <a:cs typeface="Calibri" pitchFamily="34" charset="-120"/>
              </a:rPr>
              <a:t>.xsl / .xslt: Xalan upgrade — stylesheets must render correctly.</a:t>
            </a:r>
            <a:endParaRPr lang="en-US" sz="750" dirty="0"/>
          </a:p>
          <a:p>
            <a:pPr algn="l" indent="0" marL="0">
              <a:buNone/>
            </a:pPr>
            <a:r>
              <a:rPr lang="en-US" sz="750" dirty="0">
                <a:solidFill>
                  <a:srgbClr val="92400E"/>
                </a:solidFill>
                <a:latin typeface="Calibri" pitchFamily="34" charset="0"/>
                <a:ea typeface="Calibri" pitchFamily="34" charset="-122"/>
                <a:cs typeface="Calibri" pitchFamily="34" charset="-120"/>
              </a:rPr>
              <a:t>.vm: Velocity templates (TopBIBP.vm, BottomBIBP.vm) — must serve correctly post-migration.</a:t>
            </a:r>
            <a:endParaRPr lang="en-US" sz="750" dirty="0"/>
          </a:p>
        </p:txBody>
      </p:sp>
      <p:sp>
        <p:nvSpPr>
          <p:cNvPr id="22" name="Shape 20"/>
          <p:cNvSpPr/>
          <p:nvPr/>
        </p:nvSpPr>
        <p:spPr>
          <a:xfrm>
            <a:off x="0" y="2084832"/>
            <a:ext cx="9144000" cy="512064"/>
          </a:xfrm>
          <a:prstGeom prst="rect">
            <a:avLst/>
          </a:prstGeom>
          <a:solidFill>
            <a:srgbClr val="FFFBEB"/>
          </a:solidFill>
          <a:ln w="12700">
            <a:solidFill>
              <a:srgbClr val="E8EEF5"/>
            </a:solidFill>
            <a:prstDash val="solid"/>
          </a:ln>
        </p:spPr>
      </p:sp>
      <p:sp>
        <p:nvSpPr>
          <p:cNvPr id="23" name="Shape 21"/>
          <p:cNvSpPr/>
          <p:nvPr/>
        </p:nvSpPr>
        <p:spPr>
          <a:xfrm>
            <a:off x="0" y="2084832"/>
            <a:ext cx="64008" cy="512064"/>
          </a:xfrm>
          <a:prstGeom prst="rect">
            <a:avLst/>
          </a:prstGeom>
          <a:solidFill>
            <a:srgbClr val="D97706"/>
          </a:solidFill>
          <a:ln w="12700">
            <a:solidFill>
              <a:srgbClr val="D97706"/>
            </a:solidFill>
            <a:prstDash val="solid"/>
          </a:ln>
        </p:spPr>
      </p:sp>
      <p:sp>
        <p:nvSpPr>
          <p:cNvPr id="24" name="Shape 22"/>
          <p:cNvSpPr/>
          <p:nvPr/>
        </p:nvSpPr>
        <p:spPr>
          <a:xfrm>
            <a:off x="118872" y="2203704"/>
            <a:ext cx="1234440" cy="182880"/>
          </a:xfrm>
          <a:prstGeom prst="roundRect">
            <a:avLst>
              <a:gd name="adj" fmla="val 20000"/>
            </a:avLst>
          </a:prstGeom>
          <a:solidFill>
            <a:srgbClr val="D97706"/>
          </a:solidFill>
          <a:ln w="12700">
            <a:solidFill>
              <a:srgbClr val="D97706"/>
            </a:solidFill>
            <a:prstDash val="solid"/>
          </a:ln>
        </p:spPr>
      </p:sp>
      <p:sp>
        <p:nvSpPr>
          <p:cNvPr id="25" name="Text 23"/>
          <p:cNvSpPr/>
          <p:nvPr/>
        </p:nvSpPr>
        <p:spPr>
          <a:xfrm>
            <a:off x="118872" y="2203704"/>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VERIFY ACTIVE USAGE</a:t>
            </a:r>
            <a:endParaRPr lang="en-US" sz="650" dirty="0"/>
          </a:p>
        </p:txBody>
      </p:sp>
      <p:sp>
        <p:nvSpPr>
          <p:cNvPr id="26" name="Text 24"/>
          <p:cNvSpPr/>
          <p:nvPr/>
        </p:nvSpPr>
        <p:spPr>
          <a:xfrm>
            <a:off x="1435608" y="2139696"/>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Web Service &amp; Schema</a:t>
            </a:r>
            <a:endParaRPr lang="en-US" sz="900" dirty="0"/>
          </a:p>
        </p:txBody>
      </p:sp>
      <p:sp>
        <p:nvSpPr>
          <p:cNvPr id="27" name="Shape 25"/>
          <p:cNvSpPr/>
          <p:nvPr/>
        </p:nvSpPr>
        <p:spPr>
          <a:xfrm>
            <a:off x="1435608" y="2359152"/>
            <a:ext cx="3794760" cy="182880"/>
          </a:xfrm>
          <a:prstGeom prst="roundRect">
            <a:avLst>
              <a:gd name="adj" fmla="val 15000"/>
            </a:avLst>
          </a:prstGeom>
          <a:solidFill>
            <a:srgbClr val="E8EEF5"/>
          </a:solidFill>
          <a:ln w="12700">
            <a:solidFill>
              <a:srgbClr val="D0DCE8"/>
            </a:solidFill>
            <a:prstDash val="solid"/>
          </a:ln>
        </p:spPr>
      </p:sp>
      <p:sp>
        <p:nvSpPr>
          <p:cNvPr id="28" name="Text 26"/>
          <p:cNvSpPr/>
          <p:nvPr/>
        </p:nvSpPr>
        <p:spPr>
          <a:xfrm>
            <a:off x="1435608" y="2359152"/>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.wsdl  .xsd  .xquery</a:t>
            </a:r>
            <a:endParaRPr lang="en-US" sz="750" dirty="0"/>
          </a:p>
        </p:txBody>
      </p:sp>
      <p:sp>
        <p:nvSpPr>
          <p:cNvPr id="29" name="Text 27"/>
          <p:cNvSpPr/>
          <p:nvPr/>
        </p:nvSpPr>
        <p:spPr>
          <a:xfrm>
            <a:off x="5321808" y="2121408"/>
            <a:ext cx="3657600" cy="438912"/>
          </a:xfrm>
          <a:prstGeom prst="rect">
            <a:avLst/>
          </a:prstGeom>
          <a:noFill/>
          <a:ln/>
        </p:spPr>
        <p:txBody>
          <a:bodyPr wrap="square" lIns="0" tIns="0" rIns="0" bIns="0" rtlCol="0" anchor="ctr"/>
          <a:lstStyle/>
          <a:p>
            <a:pPr algn="l" indent="0" marL="0">
              <a:buNone/>
            </a:pPr>
            <a:r>
              <a:rPr lang="en-US" sz="750" dirty="0">
                <a:solidFill>
                  <a:srgbClr val="92400E"/>
                </a:solidFill>
                <a:latin typeface="Calibri" pitchFamily="34" charset="0"/>
                <a:ea typeface="Calibri" pitchFamily="34" charset="-122"/>
                <a:cs typeface="Calibri" pitchFamily="34" charset="-120"/>
              </a:rPr>
              <a:t>.wsdl: SOAP service definitions — confirm whether any SOAP services are still actively used or have been decommissioned.</a:t>
            </a:r>
            <a:endParaRPr lang="en-US" sz="750" dirty="0"/>
          </a:p>
        </p:txBody>
      </p:sp>
      <p:sp>
        <p:nvSpPr>
          <p:cNvPr id="30" name="Shape 28"/>
          <p:cNvSpPr/>
          <p:nvPr/>
        </p:nvSpPr>
        <p:spPr>
          <a:xfrm>
            <a:off x="0" y="2624328"/>
            <a:ext cx="9144000" cy="512064"/>
          </a:xfrm>
          <a:prstGeom prst="rect">
            <a:avLst/>
          </a:prstGeom>
          <a:solidFill>
            <a:srgbClr val="F1F5F9"/>
          </a:solidFill>
          <a:ln w="12700">
            <a:solidFill>
              <a:srgbClr val="E8EEF5"/>
            </a:solidFill>
            <a:prstDash val="solid"/>
          </a:ln>
        </p:spPr>
      </p:sp>
      <p:sp>
        <p:nvSpPr>
          <p:cNvPr id="31" name="Shape 29"/>
          <p:cNvSpPr/>
          <p:nvPr/>
        </p:nvSpPr>
        <p:spPr>
          <a:xfrm>
            <a:off x="0" y="2624328"/>
            <a:ext cx="64008" cy="512064"/>
          </a:xfrm>
          <a:prstGeom prst="rect">
            <a:avLst/>
          </a:prstGeom>
          <a:solidFill>
            <a:srgbClr val="6B7E94"/>
          </a:solidFill>
          <a:ln w="12700">
            <a:solidFill>
              <a:srgbClr val="6B7E94"/>
            </a:solidFill>
            <a:prstDash val="solid"/>
          </a:ln>
        </p:spPr>
      </p:sp>
      <p:sp>
        <p:nvSpPr>
          <p:cNvPr id="32" name="Shape 30"/>
          <p:cNvSpPr/>
          <p:nvPr/>
        </p:nvSpPr>
        <p:spPr>
          <a:xfrm>
            <a:off x="118872" y="2743200"/>
            <a:ext cx="1234440" cy="182880"/>
          </a:xfrm>
          <a:prstGeom prst="roundRect">
            <a:avLst>
              <a:gd name="adj" fmla="val 20000"/>
            </a:avLst>
          </a:prstGeom>
          <a:solidFill>
            <a:srgbClr val="6B7E94"/>
          </a:solidFill>
          <a:ln w="12700">
            <a:solidFill>
              <a:srgbClr val="6B7E94"/>
            </a:solidFill>
            <a:prstDash val="solid"/>
          </a:ln>
        </p:spPr>
      </p:sp>
      <p:sp>
        <p:nvSpPr>
          <p:cNvPr id="33" name="Text 31"/>
          <p:cNvSpPr/>
          <p:nvPr/>
        </p:nvSpPr>
        <p:spPr>
          <a:xfrm>
            <a:off x="118872" y="2743200"/>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VERIFY</a:t>
            </a:r>
            <a:endParaRPr lang="en-US" sz="650" dirty="0"/>
          </a:p>
        </p:txBody>
      </p:sp>
      <p:sp>
        <p:nvSpPr>
          <p:cNvPr id="34" name="Text 32"/>
          <p:cNvSpPr/>
          <p:nvPr/>
        </p:nvSpPr>
        <p:spPr>
          <a:xfrm>
            <a:off x="1435608" y="2679192"/>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Database &amp; Reporting</a:t>
            </a:r>
            <a:endParaRPr lang="en-US" sz="900" dirty="0"/>
          </a:p>
        </p:txBody>
      </p:sp>
      <p:sp>
        <p:nvSpPr>
          <p:cNvPr id="35" name="Shape 33"/>
          <p:cNvSpPr/>
          <p:nvPr/>
        </p:nvSpPr>
        <p:spPr>
          <a:xfrm>
            <a:off x="1435608" y="2898648"/>
            <a:ext cx="3794760" cy="182880"/>
          </a:xfrm>
          <a:prstGeom prst="roundRect">
            <a:avLst>
              <a:gd name="adj" fmla="val 15000"/>
            </a:avLst>
          </a:prstGeom>
          <a:solidFill>
            <a:srgbClr val="E8EEF5"/>
          </a:solidFill>
          <a:ln w="12700">
            <a:solidFill>
              <a:srgbClr val="D0DCE8"/>
            </a:solidFill>
            <a:prstDash val="solid"/>
          </a:ln>
        </p:spPr>
      </p:sp>
      <p:sp>
        <p:nvSpPr>
          <p:cNvPr id="36" name="Text 34"/>
          <p:cNvSpPr/>
          <p:nvPr/>
        </p:nvSpPr>
        <p:spPr>
          <a:xfrm>
            <a:off x="1435608" y="2898648"/>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.sql  .xlsx  .xcl  .rptdesign</a:t>
            </a:r>
            <a:endParaRPr lang="en-US" sz="750" dirty="0"/>
          </a:p>
        </p:txBody>
      </p:sp>
      <p:sp>
        <p:nvSpPr>
          <p:cNvPr id="37" name="Text 35"/>
          <p:cNvSpPr/>
          <p:nvPr/>
        </p:nvSpPr>
        <p:spPr>
          <a:xfrm>
            <a:off x="5321808" y="2660904"/>
            <a:ext cx="3657600" cy="43891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.sql: DDL/DML scripts — version-agnostic.</a:t>
            </a:r>
            <a:endParaRPr lang="en-US" sz="750" dirty="0"/>
          </a:p>
          <a:p>
            <a:pPr algn="l" indent="0" marL="0">
              <a:buNone/>
            </a:pPr>
            <a:r>
              <a:rPr lang="en-US" sz="750" dirty="0">
                <a:solidFill>
                  <a:srgbClr val="6B7E94"/>
                </a:solidFill>
                <a:latin typeface="Calibri" pitchFamily="34" charset="0"/>
                <a:ea typeface="Calibri" pitchFamily="34" charset="-122"/>
                <a:cs typeface="Calibri" pitchFamily="34" charset="-120"/>
              </a:rPr>
              <a:t>.rptdesign: BIRT reports — confirm BIRT engine compatibility with Java 17.</a:t>
            </a:r>
            <a:endParaRPr lang="en-US" sz="750" dirty="0"/>
          </a:p>
        </p:txBody>
      </p:sp>
      <p:sp>
        <p:nvSpPr>
          <p:cNvPr id="38" name="Shape 36"/>
          <p:cNvSpPr/>
          <p:nvPr/>
        </p:nvSpPr>
        <p:spPr>
          <a:xfrm>
            <a:off x="0" y="3163824"/>
            <a:ext cx="9144000" cy="512064"/>
          </a:xfrm>
          <a:prstGeom prst="rect">
            <a:avLst/>
          </a:prstGeom>
          <a:solidFill>
            <a:srgbClr val="F0FAF4"/>
          </a:solidFill>
          <a:ln w="12700">
            <a:solidFill>
              <a:srgbClr val="E8EEF5"/>
            </a:solidFill>
            <a:prstDash val="solid"/>
          </a:ln>
        </p:spPr>
      </p:sp>
      <p:sp>
        <p:nvSpPr>
          <p:cNvPr id="39" name="Shape 37"/>
          <p:cNvSpPr/>
          <p:nvPr/>
        </p:nvSpPr>
        <p:spPr>
          <a:xfrm>
            <a:off x="0" y="3163824"/>
            <a:ext cx="64008" cy="512064"/>
          </a:xfrm>
          <a:prstGeom prst="rect">
            <a:avLst/>
          </a:prstGeom>
          <a:solidFill>
            <a:srgbClr val="1A7A3E"/>
          </a:solidFill>
          <a:ln w="12700">
            <a:solidFill>
              <a:srgbClr val="1A7A3E"/>
            </a:solidFill>
            <a:prstDash val="solid"/>
          </a:ln>
        </p:spPr>
      </p:sp>
      <p:sp>
        <p:nvSpPr>
          <p:cNvPr id="40" name="Shape 38"/>
          <p:cNvSpPr/>
          <p:nvPr/>
        </p:nvSpPr>
        <p:spPr>
          <a:xfrm>
            <a:off x="118872" y="3282696"/>
            <a:ext cx="1234440" cy="182880"/>
          </a:xfrm>
          <a:prstGeom prst="roundRect">
            <a:avLst>
              <a:gd name="adj" fmla="val 20000"/>
            </a:avLst>
          </a:prstGeom>
          <a:solidFill>
            <a:srgbClr val="1A7A3E"/>
          </a:solidFill>
          <a:ln w="12700">
            <a:solidFill>
              <a:srgbClr val="1A7A3E"/>
            </a:solidFill>
            <a:prstDash val="solid"/>
          </a:ln>
        </p:spPr>
      </p:sp>
      <p:sp>
        <p:nvSpPr>
          <p:cNvPr id="41" name="Text 39"/>
          <p:cNvSpPr/>
          <p:nvPr/>
        </p:nvSpPr>
        <p:spPr>
          <a:xfrm>
            <a:off x="118872" y="3282696"/>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LOW RISK</a:t>
            </a:r>
            <a:endParaRPr lang="en-US" sz="650" dirty="0"/>
          </a:p>
        </p:txBody>
      </p:sp>
      <p:sp>
        <p:nvSpPr>
          <p:cNvPr id="42" name="Text 40"/>
          <p:cNvSpPr/>
          <p:nvPr/>
        </p:nvSpPr>
        <p:spPr>
          <a:xfrm>
            <a:off x="1435608" y="3218688"/>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Fonts &amp; Static Assets</a:t>
            </a:r>
            <a:endParaRPr lang="en-US" sz="900" dirty="0"/>
          </a:p>
        </p:txBody>
      </p:sp>
      <p:sp>
        <p:nvSpPr>
          <p:cNvPr id="43" name="Shape 41"/>
          <p:cNvSpPr/>
          <p:nvPr/>
        </p:nvSpPr>
        <p:spPr>
          <a:xfrm>
            <a:off x="1435608" y="3438144"/>
            <a:ext cx="3794760" cy="182880"/>
          </a:xfrm>
          <a:prstGeom prst="roundRect">
            <a:avLst>
              <a:gd name="adj" fmla="val 15000"/>
            </a:avLst>
          </a:prstGeom>
          <a:solidFill>
            <a:srgbClr val="E8EEF5"/>
          </a:solidFill>
          <a:ln w="12700">
            <a:solidFill>
              <a:srgbClr val="D0DCE8"/>
            </a:solidFill>
            <a:prstDash val="solid"/>
          </a:ln>
        </p:spPr>
      </p:sp>
      <p:sp>
        <p:nvSpPr>
          <p:cNvPr id="44" name="Text 42"/>
          <p:cNvSpPr/>
          <p:nvPr/>
        </p:nvSpPr>
        <p:spPr>
          <a:xfrm>
            <a:off x="1435608" y="3438144"/>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.ttf  .ttc  .woff  .png  .svg  .tif  .psd</a:t>
            </a:r>
            <a:endParaRPr lang="en-US" sz="750" dirty="0"/>
          </a:p>
        </p:txBody>
      </p:sp>
      <p:sp>
        <p:nvSpPr>
          <p:cNvPr id="45" name="Text 43"/>
          <p:cNvSpPr/>
          <p:nvPr/>
        </p:nvSpPr>
        <p:spPr>
          <a:xfrm>
            <a:off x="5321808" y="3200400"/>
            <a:ext cx="3657600" cy="438912"/>
          </a:xfrm>
          <a:prstGeom prst="rect">
            <a:avLst/>
          </a:prstGeom>
          <a:noFill/>
          <a:ln/>
        </p:spPr>
        <p:txBody>
          <a:bodyPr wrap="square" lIns="0" tIns="0" rIns="0" bIns="0" rtlCol="0" anchor="ctr"/>
          <a:lstStyle/>
          <a:p>
            <a:pPr algn="l" indent="0" marL="0">
              <a:buNone/>
            </a:pPr>
            <a:r>
              <a:rPr lang="en-US" sz="750" dirty="0">
                <a:solidFill>
                  <a:srgbClr val="2D6A4F"/>
                </a:solidFill>
                <a:latin typeface="Calibri" pitchFamily="34" charset="0"/>
                <a:ea typeface="Calibri" pitchFamily="34" charset="-122"/>
                <a:cs typeface="Calibri" pitchFamily="34" charset="-120"/>
              </a:rPr>
              <a:t>Static assets served by the application server. MIME type and static resource servlet configuration must be validated post-migration — content itself is unaffected.</a:t>
            </a:r>
            <a:endParaRPr lang="en-US" sz="750" dirty="0"/>
          </a:p>
        </p:txBody>
      </p:sp>
      <p:sp>
        <p:nvSpPr>
          <p:cNvPr id="46" name="Shape 44"/>
          <p:cNvSpPr/>
          <p:nvPr/>
        </p:nvSpPr>
        <p:spPr>
          <a:xfrm>
            <a:off x="0" y="3703320"/>
            <a:ext cx="9144000" cy="512064"/>
          </a:xfrm>
          <a:prstGeom prst="rect">
            <a:avLst/>
          </a:prstGeom>
          <a:solidFill>
            <a:srgbClr val="FAF5FF"/>
          </a:solidFill>
          <a:ln w="12700">
            <a:solidFill>
              <a:srgbClr val="E8EEF5"/>
            </a:solidFill>
            <a:prstDash val="solid"/>
          </a:ln>
        </p:spPr>
      </p:sp>
      <p:sp>
        <p:nvSpPr>
          <p:cNvPr id="47" name="Shape 45"/>
          <p:cNvSpPr/>
          <p:nvPr/>
        </p:nvSpPr>
        <p:spPr>
          <a:xfrm>
            <a:off x="0" y="3703320"/>
            <a:ext cx="64008" cy="512064"/>
          </a:xfrm>
          <a:prstGeom prst="rect">
            <a:avLst/>
          </a:prstGeom>
          <a:solidFill>
            <a:srgbClr val="6B21A8"/>
          </a:solidFill>
          <a:ln w="12700">
            <a:solidFill>
              <a:srgbClr val="6B21A8"/>
            </a:solidFill>
            <a:prstDash val="solid"/>
          </a:ln>
        </p:spPr>
      </p:sp>
      <p:sp>
        <p:nvSpPr>
          <p:cNvPr id="48" name="Shape 46"/>
          <p:cNvSpPr/>
          <p:nvPr/>
        </p:nvSpPr>
        <p:spPr>
          <a:xfrm>
            <a:off x="118872" y="3822192"/>
            <a:ext cx="1234440" cy="182880"/>
          </a:xfrm>
          <a:prstGeom prst="roundRect">
            <a:avLst>
              <a:gd name="adj" fmla="val 20000"/>
            </a:avLst>
          </a:prstGeom>
          <a:solidFill>
            <a:srgbClr val="6B21A8"/>
          </a:solidFill>
          <a:ln w="12700">
            <a:solidFill>
              <a:srgbClr val="6B21A8"/>
            </a:solidFill>
            <a:prstDash val="solid"/>
          </a:ln>
        </p:spPr>
      </p:sp>
      <p:sp>
        <p:nvSpPr>
          <p:cNvPr id="49" name="Text 47"/>
          <p:cNvSpPr/>
          <p:nvPr/>
        </p:nvSpPr>
        <p:spPr>
          <a:xfrm>
            <a:off x="118872" y="3822192"/>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ASSESS IF ACTIVE</a:t>
            </a:r>
            <a:endParaRPr lang="en-US" sz="650" dirty="0"/>
          </a:p>
        </p:txBody>
      </p:sp>
      <p:sp>
        <p:nvSpPr>
          <p:cNvPr id="50" name="Text 48"/>
          <p:cNvSpPr/>
          <p:nvPr/>
        </p:nvSpPr>
        <p:spPr>
          <a:xfrm>
            <a:off x="1435608" y="3758184"/>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Legacy / Assess for Removal</a:t>
            </a:r>
            <a:endParaRPr lang="en-US" sz="900" dirty="0"/>
          </a:p>
        </p:txBody>
      </p:sp>
      <p:sp>
        <p:nvSpPr>
          <p:cNvPr id="51" name="Shape 49"/>
          <p:cNvSpPr/>
          <p:nvPr/>
        </p:nvSpPr>
        <p:spPr>
          <a:xfrm>
            <a:off x="1435608" y="3977640"/>
            <a:ext cx="3794760" cy="182880"/>
          </a:xfrm>
          <a:prstGeom prst="roundRect">
            <a:avLst>
              <a:gd name="adj" fmla="val 15000"/>
            </a:avLst>
          </a:prstGeom>
          <a:solidFill>
            <a:srgbClr val="E8EEF5"/>
          </a:solidFill>
          <a:ln w="12700">
            <a:solidFill>
              <a:srgbClr val="D0DCE8"/>
            </a:solidFill>
            <a:prstDash val="solid"/>
          </a:ln>
        </p:spPr>
      </p:sp>
      <p:sp>
        <p:nvSpPr>
          <p:cNvPr id="52" name="Text 50"/>
          <p:cNvSpPr/>
          <p:nvPr/>
        </p:nvSpPr>
        <p:spPr>
          <a:xfrm>
            <a:off x="1435608" y="3977640"/>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.swf  .sxc  .sxd  .sxi  .sxw  .wav  .zargo  .rb  .smd</a:t>
            </a:r>
            <a:endParaRPr lang="en-US" sz="750" dirty="0"/>
          </a:p>
        </p:txBody>
      </p:sp>
      <p:sp>
        <p:nvSpPr>
          <p:cNvPr id="53" name="Text 51"/>
          <p:cNvSpPr/>
          <p:nvPr/>
        </p:nvSpPr>
        <p:spPr>
          <a:xfrm>
            <a:off x="5321808" y="3739896"/>
            <a:ext cx="3657600" cy="438912"/>
          </a:xfrm>
          <a:prstGeom prst="rect">
            <a:avLst/>
          </a:prstGeom>
          <a:noFill/>
          <a:ln/>
        </p:spPr>
        <p:txBody>
          <a:bodyPr wrap="square" lIns="0" tIns="0" rIns="0" bIns="0" rtlCol="0" anchor="ctr"/>
          <a:lstStyle/>
          <a:p>
            <a:pPr algn="l" indent="0" marL="0">
              <a:buNone/>
            </a:pPr>
            <a:r>
              <a:rPr lang="en-US" sz="750" dirty="0">
                <a:solidFill>
                  <a:srgbClr val="6B21A8"/>
                </a:solidFill>
                <a:latin typeface="Calibri" pitchFamily="34" charset="0"/>
                <a:ea typeface="Calibri" pitchFamily="34" charset="-122"/>
                <a:cs typeface="Calibri" pitchFamily="34" charset="-120"/>
              </a:rPr>
              <a:t>.swf: Adobe Flash — EOL since 2020. Verify if any GEB screens still reference Flash content.</a:t>
            </a:r>
            <a:endParaRPr lang="en-US" sz="750" dirty="0"/>
          </a:p>
          <a:p>
            <a:pPr algn="l" indent="0" marL="0">
              <a:buNone/>
            </a:pPr>
            <a:r>
              <a:rPr lang="en-US" sz="750" dirty="0">
                <a:solidFill>
                  <a:srgbClr val="6B21A8"/>
                </a:solidFill>
                <a:latin typeface="Calibri" pitchFamily="34" charset="0"/>
                <a:ea typeface="Calibri" pitchFamily="34" charset="-122"/>
                <a:cs typeface="Calibri" pitchFamily="34" charset="-120"/>
              </a:rPr>
              <a:t>.sxc/.sxw: StarOffice formats — likely legacy. Confirm if active or removable.</a:t>
            </a:r>
            <a:endParaRPr lang="en-US" sz="750" dirty="0"/>
          </a:p>
        </p:txBody>
      </p:sp>
      <p:sp>
        <p:nvSpPr>
          <p:cNvPr id="54" name="Shape 52"/>
          <p:cNvSpPr/>
          <p:nvPr/>
        </p:nvSpPr>
        <p:spPr>
          <a:xfrm>
            <a:off x="0" y="4242816"/>
            <a:ext cx="9144000" cy="512064"/>
          </a:xfrm>
          <a:prstGeom prst="rect">
            <a:avLst/>
          </a:prstGeom>
          <a:solidFill>
            <a:srgbClr val="F1F5F9"/>
          </a:solidFill>
          <a:ln w="12700">
            <a:solidFill>
              <a:srgbClr val="E8EEF5"/>
            </a:solidFill>
            <a:prstDash val="solid"/>
          </a:ln>
        </p:spPr>
      </p:sp>
      <p:sp>
        <p:nvSpPr>
          <p:cNvPr id="55" name="Shape 53"/>
          <p:cNvSpPr/>
          <p:nvPr/>
        </p:nvSpPr>
        <p:spPr>
          <a:xfrm>
            <a:off x="0" y="4242816"/>
            <a:ext cx="64008" cy="512064"/>
          </a:xfrm>
          <a:prstGeom prst="rect">
            <a:avLst/>
          </a:prstGeom>
          <a:solidFill>
            <a:srgbClr val="6B7E94"/>
          </a:solidFill>
          <a:ln w="12700">
            <a:solidFill>
              <a:srgbClr val="6B7E94"/>
            </a:solidFill>
            <a:prstDash val="solid"/>
          </a:ln>
        </p:spPr>
      </p:sp>
      <p:sp>
        <p:nvSpPr>
          <p:cNvPr id="56" name="Shape 54"/>
          <p:cNvSpPr/>
          <p:nvPr/>
        </p:nvSpPr>
        <p:spPr>
          <a:xfrm>
            <a:off x="118872" y="4361688"/>
            <a:ext cx="1234440" cy="182880"/>
          </a:xfrm>
          <a:prstGeom prst="roundRect">
            <a:avLst>
              <a:gd name="adj" fmla="val 20000"/>
            </a:avLst>
          </a:prstGeom>
          <a:solidFill>
            <a:srgbClr val="6B7E94"/>
          </a:solidFill>
          <a:ln w="12700">
            <a:solidFill>
              <a:srgbClr val="6B7E94"/>
            </a:solidFill>
            <a:prstDash val="solid"/>
          </a:ln>
        </p:spPr>
      </p:sp>
      <p:sp>
        <p:nvSpPr>
          <p:cNvPr id="57" name="Text 55"/>
          <p:cNvSpPr/>
          <p:nvPr/>
        </p:nvSpPr>
        <p:spPr>
          <a:xfrm>
            <a:off x="118872" y="4361688"/>
            <a:ext cx="1234440"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NOT DEPLOYED</a:t>
            </a:r>
            <a:endParaRPr lang="en-US" sz="650" dirty="0"/>
          </a:p>
        </p:txBody>
      </p:sp>
      <p:sp>
        <p:nvSpPr>
          <p:cNvPr id="58" name="Text 56"/>
          <p:cNvSpPr/>
          <p:nvPr/>
        </p:nvSpPr>
        <p:spPr>
          <a:xfrm>
            <a:off x="1435608" y="4297680"/>
            <a:ext cx="237744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Scripts &amp; Build Tooling</a:t>
            </a:r>
            <a:endParaRPr lang="en-US" sz="900" dirty="0"/>
          </a:p>
        </p:txBody>
      </p:sp>
      <p:sp>
        <p:nvSpPr>
          <p:cNvPr id="59" name="Shape 57"/>
          <p:cNvSpPr/>
          <p:nvPr/>
        </p:nvSpPr>
        <p:spPr>
          <a:xfrm>
            <a:off x="1435608" y="4517136"/>
            <a:ext cx="3794760" cy="182880"/>
          </a:xfrm>
          <a:prstGeom prst="roundRect">
            <a:avLst>
              <a:gd name="adj" fmla="val 15000"/>
            </a:avLst>
          </a:prstGeom>
          <a:solidFill>
            <a:srgbClr val="E8EEF5"/>
          </a:solidFill>
          <a:ln w="12700">
            <a:solidFill>
              <a:srgbClr val="D0DCE8"/>
            </a:solidFill>
            <a:prstDash val="solid"/>
          </a:ln>
        </p:spPr>
      </p:sp>
      <p:sp>
        <p:nvSpPr>
          <p:cNvPr id="60" name="Text 58"/>
          <p:cNvSpPr/>
          <p:nvPr/>
        </p:nvSpPr>
        <p:spPr>
          <a:xfrm>
            <a:off x="1435608" y="4517136"/>
            <a:ext cx="3794760" cy="182880"/>
          </a:xfrm>
          <a:prstGeom prst="rect">
            <a:avLst/>
          </a:prstGeom>
          <a:noFill/>
          <a:ln/>
        </p:spPr>
        <p:txBody>
          <a:bodyPr wrap="square" lIns="0" tIns="0" rIns="0" bIns="0" rtlCol="0" anchor="ctr"/>
          <a:lstStyle/>
          <a:p>
            <a:pPr algn="l" indent="0" marL="0">
              <a:buNone/>
            </a:pPr>
            <a:r>
              <a:rPr lang="en-US" sz="750" b="1" dirty="0">
                <a:solidFill>
                  <a:srgbClr val="0D2B4E"/>
                </a:solidFill>
                <a:latin typeface="Calibri" pitchFamily="34" charset="0"/>
                <a:ea typeface="Calibri" pitchFamily="34" charset="-122"/>
                <a:cs typeface="Calibri" pitchFamily="34" charset="-120"/>
              </a:rPr>
              <a:t>.sh  .sql  .sed  .rb</a:t>
            </a:r>
            <a:endParaRPr lang="en-US" sz="750" dirty="0"/>
          </a:p>
        </p:txBody>
      </p:sp>
      <p:sp>
        <p:nvSpPr>
          <p:cNvPr id="61" name="Text 59"/>
          <p:cNvSpPr/>
          <p:nvPr/>
        </p:nvSpPr>
        <p:spPr>
          <a:xfrm>
            <a:off x="5321808" y="4279392"/>
            <a:ext cx="3657600" cy="438912"/>
          </a:xfrm>
          <a:prstGeom prst="rect">
            <a:avLst/>
          </a:prstGeom>
          <a:noFill/>
          <a:ln/>
        </p:spPr>
        <p:txBody>
          <a:bodyPr wrap="square" lIns="0" tIns="0" rIns="0" bIns="0" rtlCol="0" anchor="ctr"/>
          <a:lstStyle/>
          <a:p>
            <a:pPr algn="l" indent="0" marL="0">
              <a:buNone/>
            </a:pPr>
            <a:r>
              <a:rPr lang="en-US" sz="750" dirty="0">
                <a:solidFill>
                  <a:srgbClr val="6B7E94"/>
                </a:solidFill>
                <a:latin typeface="Calibri" pitchFamily="34" charset="0"/>
                <a:ea typeface="Calibri" pitchFamily="34" charset="-122"/>
                <a:cs typeface="Calibri" pitchFamily="34" charset="-120"/>
              </a:rPr>
              <a:t>Build and deployment scripts — not part of the deployed WAR/EAR. Review for any javax.* or Java 8 specific commands that may affect the build pipeline.</a:t>
            </a:r>
            <a:endParaRPr lang="en-US" sz="750" dirty="0"/>
          </a:p>
        </p:txBody>
      </p:sp>
      <p:sp>
        <p:nvSpPr>
          <p:cNvPr id="62" name="Shape 60"/>
          <p:cNvSpPr/>
          <p:nvPr/>
        </p:nvSpPr>
        <p:spPr>
          <a:xfrm>
            <a:off x="0" y="4764024"/>
            <a:ext cx="9144000" cy="283464"/>
          </a:xfrm>
          <a:prstGeom prst="rect">
            <a:avLst/>
          </a:prstGeom>
          <a:solidFill>
            <a:srgbClr val="1A3A5C"/>
          </a:solidFill>
          <a:ln w="12700">
            <a:solidFill>
              <a:srgbClr val="1A3A5C"/>
            </a:solidFill>
            <a:prstDash val="solid"/>
          </a:ln>
        </p:spPr>
      </p:sp>
      <p:sp>
        <p:nvSpPr>
          <p:cNvPr id="63" name="Text 61"/>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Post-migration: all file types must be served, parsed, and processed correctly — static resource config and MIME type mappings must be validated on EAP 8</a:t>
            </a:r>
            <a:endParaRPr lang="en-US" sz="850" dirty="0"/>
          </a:p>
        </p:txBody>
      </p:sp>
      <p:sp>
        <p:nvSpPr>
          <p:cNvPr id="64" name="Shape 62"/>
          <p:cNvSpPr/>
          <p:nvPr/>
        </p:nvSpPr>
        <p:spPr>
          <a:xfrm>
            <a:off x="0" y="5047488"/>
            <a:ext cx="9144000" cy="96012"/>
          </a:xfrm>
          <a:prstGeom prst="rect">
            <a:avLst/>
          </a:prstGeom>
          <a:solidFill>
            <a:srgbClr val="091525"/>
          </a:solidFill>
          <a:ln w="12700">
            <a:solidFill>
              <a:srgbClr val="091525"/>
            </a:solidFill>
            <a:prstDash val="solid"/>
          </a:ln>
        </p:spPr>
      </p:sp>
      <p:sp>
        <p:nvSpPr>
          <p:cNvPr id="65" name="Text 63"/>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274320" y="73152"/>
            <a:ext cx="7772400" cy="310896"/>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Assessment Summary  &amp;  Recommended Next Steps</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algn="l" indent="0" marL="0">
              <a:buNone/>
            </a:pPr>
            <a:r>
              <a:rPr lang="en-US" sz="900" dirty="0">
                <a:solidFill>
                  <a:srgbClr val="8BA3BF"/>
                </a:solidFill>
                <a:latin typeface="Calibri" pitchFamily="34" charset="0"/>
                <a:ea typeface="Calibri" pitchFamily="34" charset="-122"/>
                <a:cs typeface="Calibri" pitchFamily="34" charset="-120"/>
              </a:rPr>
              <a:t>Where we are  ·  What is confirmed  ·  What is pending  ·  What we need</a:t>
            </a:r>
            <a:endParaRPr lang="en-US" sz="900" dirty="0"/>
          </a:p>
        </p:txBody>
      </p:sp>
      <p:sp>
        <p:nvSpPr>
          <p:cNvPr id="5" name="Text 3"/>
          <p:cNvSpPr/>
          <p:nvPr/>
        </p:nvSpPr>
        <p:spPr>
          <a:xfrm>
            <a:off x="182880" y="749808"/>
            <a:ext cx="429768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ASSESSMENT STATUS</a:t>
            </a:r>
            <a:endParaRPr lang="en-US" sz="750" dirty="0"/>
          </a:p>
        </p:txBody>
      </p:sp>
      <p:sp>
        <p:nvSpPr>
          <p:cNvPr id="6" name="Shape 4"/>
          <p:cNvSpPr/>
          <p:nvPr/>
        </p:nvSpPr>
        <p:spPr>
          <a:xfrm>
            <a:off x="137160" y="1005840"/>
            <a:ext cx="4206240" cy="2121408"/>
          </a:xfrm>
          <a:prstGeom prst="rect">
            <a:avLst/>
          </a:prstGeom>
          <a:solidFill>
            <a:srgbClr val="F0FAF4"/>
          </a:solidFill>
          <a:ln w="12700">
            <a:solidFill>
              <a:srgbClr val="B7E4C7"/>
            </a:solidFill>
            <a:prstDash val="solid"/>
          </a:ln>
        </p:spPr>
      </p:sp>
      <p:sp>
        <p:nvSpPr>
          <p:cNvPr id="7" name="Shape 5"/>
          <p:cNvSpPr/>
          <p:nvPr/>
        </p:nvSpPr>
        <p:spPr>
          <a:xfrm>
            <a:off x="137160" y="1005840"/>
            <a:ext cx="45720" cy="2121408"/>
          </a:xfrm>
          <a:prstGeom prst="rect">
            <a:avLst/>
          </a:prstGeom>
          <a:solidFill>
            <a:srgbClr val="1A7A3E"/>
          </a:solidFill>
          <a:ln w="12700">
            <a:solidFill>
              <a:srgbClr val="1A7A3E"/>
            </a:solidFill>
            <a:prstDash val="solid"/>
          </a:ln>
        </p:spPr>
      </p:sp>
      <p:sp>
        <p:nvSpPr>
          <p:cNvPr id="8" name="Text 6"/>
          <p:cNvSpPr/>
          <p:nvPr/>
        </p:nvSpPr>
        <p:spPr>
          <a:xfrm>
            <a:off x="246888" y="1051560"/>
            <a:ext cx="4023360" cy="219456"/>
          </a:xfrm>
          <a:prstGeom prst="rect">
            <a:avLst/>
          </a:prstGeom>
          <a:noFill/>
          <a:ln/>
        </p:spPr>
        <p:txBody>
          <a:bodyPr wrap="square" lIns="0" tIns="0" rIns="0" bIns="0" rtlCol="0" anchor="ctr"/>
          <a:lstStyle/>
          <a:p>
            <a:pPr algn="l" indent="0" marL="0">
              <a:buNone/>
            </a:pPr>
            <a:r>
              <a:rPr lang="en-US" sz="1000" b="1" dirty="0">
                <a:solidFill>
                  <a:srgbClr val="1A7A3E"/>
                </a:solidFill>
                <a:latin typeface="Calibri" pitchFamily="34" charset="0"/>
                <a:ea typeface="Calibri" pitchFamily="34" charset="-122"/>
                <a:cs typeface="Calibri" pitchFamily="34" charset="-120"/>
              </a:rPr>
              <a:t>Assessed  ✓</a:t>
            </a:r>
            <a:endParaRPr lang="en-US" sz="1000" dirty="0"/>
          </a:p>
        </p:txBody>
      </p:sp>
      <p:sp>
        <p:nvSpPr>
          <p:cNvPr id="9" name="Text 7"/>
          <p:cNvSpPr/>
          <p:nvPr/>
        </p:nvSpPr>
        <p:spPr>
          <a:xfrm>
            <a:off x="246888" y="1307592"/>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Framework — Turbine 7 service model fully mapped (33 services)</a:t>
            </a:r>
            <a:endParaRPr lang="en-US" sz="800" dirty="0"/>
          </a:p>
        </p:txBody>
      </p:sp>
      <p:sp>
        <p:nvSpPr>
          <p:cNvPr id="10" name="Text 8"/>
          <p:cNvSpPr/>
          <p:nvPr/>
        </p:nvSpPr>
        <p:spPr>
          <a:xfrm>
            <a:off x="246888" y="1563624"/>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View layer — Jetspeed abstraction confirmed, javax.portlet risk cleared</a:t>
            </a:r>
            <a:endParaRPr lang="en-US" sz="800" dirty="0"/>
          </a:p>
        </p:txBody>
      </p:sp>
      <p:sp>
        <p:nvSpPr>
          <p:cNvPr id="11" name="Text 9"/>
          <p:cNvSpPr/>
          <p:nvPr/>
        </p:nvSpPr>
        <p:spPr>
          <a:xfrm>
            <a:off x="246888" y="1819656"/>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Data layer — PoolBrokerService pattern validated on Java 17</a:t>
            </a:r>
            <a:endParaRPr lang="en-US" sz="800" dirty="0"/>
          </a:p>
        </p:txBody>
      </p:sp>
      <p:sp>
        <p:nvSpPr>
          <p:cNvPr id="12" name="Text 10"/>
          <p:cNvSpPr/>
          <p:nvPr/>
        </p:nvSpPr>
        <p:spPr>
          <a:xfrm>
            <a:off x="246888" y="2075688"/>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POC — Turbine 7 running on Tomcat 10 / Java 17 / Jakarta EE</a:t>
            </a:r>
            <a:endParaRPr lang="en-US" sz="800" dirty="0"/>
          </a:p>
        </p:txBody>
      </p:sp>
      <p:sp>
        <p:nvSpPr>
          <p:cNvPr id="13" name="Text 11"/>
          <p:cNvSpPr/>
          <p:nvPr/>
        </p:nvSpPr>
        <p:spPr>
          <a:xfrm>
            <a:off x="246888" y="2331720"/>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JAR dependency — 138 JARs grouped by action category</a:t>
            </a:r>
            <a:endParaRPr lang="en-US" sz="800" dirty="0"/>
          </a:p>
        </p:txBody>
      </p:sp>
      <p:sp>
        <p:nvSpPr>
          <p:cNvPr id="14" name="Text 12"/>
          <p:cNvSpPr/>
          <p:nvPr/>
        </p:nvSpPr>
        <p:spPr>
          <a:xfrm>
            <a:off x="246888" y="2587752"/>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File types — Workspace file types categorised and risk-rated</a:t>
            </a:r>
            <a:endParaRPr lang="en-US" sz="800" dirty="0"/>
          </a:p>
        </p:txBody>
      </p:sp>
      <p:sp>
        <p:nvSpPr>
          <p:cNvPr id="15" name="Text 13"/>
          <p:cNvSpPr/>
          <p:nvPr/>
        </p:nvSpPr>
        <p:spPr>
          <a:xfrm>
            <a:off x="246888" y="2843784"/>
            <a:ext cx="4005072" cy="256032"/>
          </a:xfrm>
          <a:prstGeom prst="rect">
            <a:avLst/>
          </a:prstGeom>
          <a:noFill/>
          <a:ln/>
        </p:spPr>
        <p:txBody>
          <a:bodyPr wrap="square" lIns="0" tIns="0" rIns="0" bIns="0" rtlCol="0" anchor="ctr"/>
          <a:lstStyle/>
          <a:p>
            <a:pPr algn="l" indent="0" marL="0">
              <a:buNone/>
            </a:pPr>
            <a:r>
              <a:rPr lang="en-US" sz="800" dirty="0">
                <a:solidFill>
                  <a:srgbClr val="2D6A4F"/>
                </a:solidFill>
                <a:latin typeface="Calibri" pitchFamily="34" charset="0"/>
                <a:ea typeface="Calibri" pitchFamily="34" charset="-122"/>
                <a:cs typeface="Calibri" pitchFamily="34" charset="-120"/>
              </a:rPr>
              <a:t>✓  Vendor — I-Sprint and Finastra binary dependencies identified</a:t>
            </a:r>
            <a:endParaRPr lang="en-US" sz="800" dirty="0"/>
          </a:p>
        </p:txBody>
      </p:sp>
      <p:sp>
        <p:nvSpPr>
          <p:cNvPr id="16" name="Shape 14"/>
          <p:cNvSpPr/>
          <p:nvPr/>
        </p:nvSpPr>
        <p:spPr>
          <a:xfrm>
            <a:off x="137160" y="3050000"/>
            <a:ext cx="4206240" cy="1750000"/>
          </a:xfrm>
          <a:prstGeom prst="rect">
            <a:avLst/>
          </a:prstGeom>
          <a:solidFill>
            <a:srgbClr val="FFFBEB"/>
          </a:solidFill>
          <a:ln w="12700">
            <a:solidFill>
              <a:srgbClr val="FCD34D"/>
            </a:solidFill>
            <a:prstDash val="solid"/>
          </a:ln>
        </p:spPr>
      </p:sp>
      <p:sp>
        <p:nvSpPr>
          <p:cNvPr id="17" name="Shape 15"/>
          <p:cNvSpPr/>
          <p:nvPr/>
        </p:nvSpPr>
        <p:spPr>
          <a:xfrm>
            <a:off x="137160" y="3050000"/>
            <a:ext cx="45720" cy="1750000"/>
          </a:xfrm>
          <a:prstGeom prst="rect">
            <a:avLst/>
          </a:prstGeom>
          <a:solidFill>
            <a:srgbClr val="D97706"/>
          </a:solidFill>
          <a:ln w="12700">
            <a:solidFill>
              <a:srgbClr val="D97706"/>
            </a:solidFill>
            <a:prstDash val="solid"/>
          </a:ln>
        </p:spPr>
      </p:sp>
      <p:sp>
        <p:nvSpPr>
          <p:cNvPr id="18" name="Text 16"/>
          <p:cNvSpPr/>
          <p:nvPr/>
        </p:nvSpPr>
        <p:spPr>
          <a:xfrm>
            <a:off x="246888" y="3095000"/>
            <a:ext cx="4023360" cy="200000"/>
          </a:xfrm>
          <a:prstGeom prst="rect">
            <a:avLst/>
          </a:prstGeom>
          <a:noFill/>
          <a:ln/>
        </p:spPr>
        <p:txBody>
          <a:bodyPr wrap="square" lIns="0" tIns="0" rIns="0" bIns="0" rtlCol="0" anchor="ctr"/>
          <a:lstStyle/>
          <a:p>
            <a:pPr algn="l" indent="0" marL="0">
              <a:buNone/>
            </a:pPr>
            <a:r>
              <a:rPr lang="en-US" sz="1000" b="1" dirty="0">
                <a:solidFill>
                  <a:srgbClr val="D97706"/>
                </a:solidFill>
                <a:latin typeface="Calibri" pitchFamily="34" charset="0"/>
                <a:ea typeface="Calibri" pitchFamily="34" charset="-122"/>
                <a:cs typeface="Calibri" pitchFamily="34" charset="-120"/>
              </a:rPr>
              <a:t>Pending  ⚑</a:t>
            </a:r>
            <a:endParaRPr lang="en-US" sz="1000" dirty="0"/>
          </a:p>
        </p:txBody>
      </p:sp>
      <p:sp>
        <p:nvSpPr>
          <p:cNvPr id="19" name="Text 17"/>
          <p:cNvSpPr/>
          <p:nvPr/>
        </p:nvSpPr>
        <p:spPr>
          <a:xfrm>
            <a:off x="246888" y="33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GTPParameterParser — initialisation on Fulcrum container not yet resolved</a:t>
            </a:r>
            <a:endParaRPr lang="en-US" sz="800" dirty="0"/>
          </a:p>
        </p:txBody>
      </p:sp>
      <p:sp>
        <p:nvSpPr>
          <p:cNvPr id="20" name="Text 18"/>
          <p:cNvSpPr/>
          <p:nvPr/>
        </p:nvSpPr>
        <p:spPr>
          <a:xfrm>
            <a:off x="246888" y="35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Torque ORM — actual query execution on Torque 5.1 not yet tested</a:t>
            </a:r>
            <a:endParaRPr lang="en-US" sz="800" dirty="0"/>
          </a:p>
        </p:txBody>
      </p:sp>
      <p:sp>
        <p:nvSpPr>
          <p:cNvPr id="21" name="Text 19"/>
          <p:cNvSpPr/>
          <p:nvPr/>
        </p:nvSpPr>
        <p:spPr>
          <a:xfrm>
            <a:off x="246888" y="37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Spring / WSService — Spring 6 POC not yet done</a:t>
            </a:r>
            <a:endParaRPr lang="en-US" sz="800" dirty="0"/>
          </a:p>
        </p:txBody>
      </p:sp>
      <p:sp>
        <p:nvSpPr>
          <p:cNvPr id="22" name="Text 20"/>
          <p:cNvSpPr/>
          <p:nvPr/>
        </p:nvSpPr>
        <p:spPr>
          <a:xfrm>
            <a:off x="246888" y="39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JAR usage — ~55 JARs need active vs dormant confirmation</a:t>
            </a:r>
            <a:endParaRPr lang="en-US" sz="800" dirty="0"/>
          </a:p>
        </p:txBody>
      </p:sp>
      <p:sp>
        <p:nvSpPr>
          <p:cNvPr id="23" name="Text 21"/>
          <p:cNvSpPr/>
          <p:nvPr/>
        </p:nvSpPr>
        <p:spPr>
          <a:xfrm>
            <a:off x="246888" y="41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schema.xml — required for Torque Peer class regeneration</a:t>
            </a:r>
            <a:endParaRPr lang="en-US" sz="800" dirty="0"/>
          </a:p>
        </p:txBody>
      </p:sp>
      <p:sp>
        <p:nvSpPr>
          <p:cNvPr id="24" name="Text 22"/>
          <p:cNvSpPr/>
          <p:nvPr/>
        </p:nvSpPr>
        <p:spPr>
          <a:xfrm>
            <a:off x="246888" y="43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I-Sprint — Jakarta EE compatible JAR not yet confirmed by vendor</a:t>
            </a:r>
            <a:endParaRPr lang="en-US" sz="800" dirty="0"/>
          </a:p>
        </p:txBody>
      </p:sp>
      <p:sp>
        <p:nvSpPr>
          <p:cNvPr id="25" name="Text 23"/>
          <p:cNvSpPr/>
          <p:nvPr/>
        </p:nvSpPr>
        <p:spPr>
          <a:xfrm>
            <a:off x="246888" y="4510000"/>
            <a:ext cx="4005072" cy="195000"/>
          </a:xfrm>
          <a:prstGeom prst="rect">
            <a:avLst/>
          </a:prstGeom>
          <a:noFill/>
          <a:ln/>
        </p:spPr>
        <p:txBody>
          <a:bodyPr wrap="square" lIns="0" tIns="0" rIns="0" bIns="0" rtlCol="0" anchor="ctr"/>
          <a:lstStyle/>
          <a:p>
            <a:pPr algn="l" indent="0" marL="0">
              <a:buNone/>
            </a:pPr>
            <a:r>
              <a:rPr lang="en-US" sz="800" dirty="0">
                <a:solidFill>
                  <a:srgbClr val="92400E"/>
                </a:solidFill>
                <a:latin typeface="Calibri" pitchFamily="34" charset="0"/>
                <a:ea typeface="Calibri" pitchFamily="34" charset="-122"/>
                <a:cs typeface="Calibri" pitchFamily="34" charset="-120"/>
              </a:rPr>
              <a:t>⚑  Finastra binaries — Java 17 compatible versions not yet confirmed</a:t>
            </a:r>
            <a:endParaRPr lang="en-US" sz="800" dirty="0"/>
          </a:p>
        </p:txBody>
      </p:sp>
      <p:sp>
        <p:nvSpPr>
          <p:cNvPr id="26" name="Shape 24"/>
          <p:cNvSpPr/>
          <p:nvPr/>
        </p:nvSpPr>
        <p:spPr>
          <a:xfrm>
            <a:off x="4434840" y="713232"/>
            <a:ext cx="27432" cy="4050792"/>
          </a:xfrm>
          <a:prstGeom prst="rect">
            <a:avLst/>
          </a:prstGeom>
          <a:solidFill>
            <a:srgbClr val="D0DCE8"/>
          </a:solidFill>
          <a:ln w="12700">
            <a:solidFill>
              <a:srgbClr val="D0DCE8"/>
            </a:solidFill>
            <a:prstDash val="solid"/>
          </a:ln>
        </p:spPr>
      </p:sp>
      <p:sp>
        <p:nvSpPr>
          <p:cNvPr id="27" name="Text 25"/>
          <p:cNvSpPr/>
          <p:nvPr/>
        </p:nvSpPr>
        <p:spPr>
          <a:xfrm>
            <a:off x="4617720" y="749808"/>
            <a:ext cx="4297680" cy="201168"/>
          </a:xfrm>
          <a:prstGeom prst="rect">
            <a:avLst/>
          </a:prstGeom>
          <a:noFill/>
          <a:ln/>
        </p:spPr>
        <p:txBody>
          <a:bodyPr wrap="square" lIns="0" tIns="0" rIns="0" bIns="0" rtlCol="0" anchor="ctr"/>
          <a:lstStyle/>
          <a:p>
            <a:pPr algn="l" indent="0" marL="0">
              <a:buNone/>
            </a:pPr>
            <a:r>
              <a:rPr lang="en-US" sz="750" b="1" spc="150" kern="0" dirty="0">
                <a:solidFill>
                  <a:srgbClr val="6B7E94"/>
                </a:solidFill>
                <a:latin typeface="Calibri" pitchFamily="34" charset="0"/>
                <a:ea typeface="Calibri" pitchFamily="34" charset="-122"/>
                <a:cs typeface="Calibri" pitchFamily="34" charset="-120"/>
              </a:rPr>
              <a:t>RECOMMENDED NEXT STEPS</a:t>
            </a:r>
            <a:endParaRPr lang="en-US" sz="750" dirty="0"/>
          </a:p>
        </p:txBody>
      </p:sp>
      <p:sp>
        <p:nvSpPr>
          <p:cNvPr id="28" name="Shape 26"/>
          <p:cNvSpPr/>
          <p:nvPr/>
        </p:nvSpPr>
        <p:spPr>
          <a:xfrm>
            <a:off x="4590288" y="1005840"/>
            <a:ext cx="4343400" cy="585216"/>
          </a:xfrm>
          <a:prstGeom prst="rect">
            <a:avLst/>
          </a:prstGeom>
          <a:solidFill>
            <a:srgbClr val="FFFFFF"/>
          </a:solidFill>
          <a:ln w="12700">
            <a:solidFill>
              <a:srgbClr val="D8E6F0"/>
            </a:solidFill>
            <a:prstDash val="solid"/>
          </a:ln>
        </p:spPr>
      </p:sp>
      <p:sp>
        <p:nvSpPr>
          <p:cNvPr id="29" name="Shape 27"/>
          <p:cNvSpPr/>
          <p:nvPr/>
        </p:nvSpPr>
        <p:spPr>
          <a:xfrm>
            <a:off x="4590288" y="1005840"/>
            <a:ext cx="45720" cy="585216"/>
          </a:xfrm>
          <a:prstGeom prst="rect">
            <a:avLst/>
          </a:prstGeom>
          <a:solidFill>
            <a:srgbClr val="0072BC"/>
          </a:solidFill>
          <a:ln w="12700">
            <a:solidFill>
              <a:srgbClr val="0072BC"/>
            </a:solidFill>
            <a:prstDash val="solid"/>
          </a:ln>
        </p:spPr>
      </p:sp>
      <p:sp>
        <p:nvSpPr>
          <p:cNvPr id="30" name="Shape 28"/>
          <p:cNvSpPr/>
          <p:nvPr/>
        </p:nvSpPr>
        <p:spPr>
          <a:xfrm>
            <a:off x="4663440" y="1115568"/>
            <a:ext cx="256032" cy="256032"/>
          </a:xfrm>
          <a:prstGeom prst="roundRect">
            <a:avLst>
              <a:gd name="adj" fmla="val 50000"/>
            </a:avLst>
          </a:prstGeom>
          <a:solidFill>
            <a:srgbClr val="0072BC"/>
          </a:solidFill>
          <a:ln w="12700">
            <a:solidFill>
              <a:srgbClr val="0072BC"/>
            </a:solidFill>
            <a:prstDash val="solid"/>
          </a:ln>
        </p:spPr>
      </p:sp>
      <p:sp>
        <p:nvSpPr>
          <p:cNvPr id="31" name="Text 29"/>
          <p:cNvSpPr/>
          <p:nvPr/>
        </p:nvSpPr>
        <p:spPr>
          <a:xfrm>
            <a:off x="4663440" y="111556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2" name="Text 30"/>
          <p:cNvSpPr/>
          <p:nvPr/>
        </p:nvSpPr>
        <p:spPr>
          <a:xfrm>
            <a:off x="4983480" y="1060704"/>
            <a:ext cx="388620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I-Sprint Vendor Engagement</a:t>
            </a:r>
            <a:endParaRPr lang="en-US" sz="900" dirty="0"/>
          </a:p>
        </p:txBody>
      </p:sp>
      <p:sp>
        <p:nvSpPr>
          <p:cNvPr id="33" name="Text 31"/>
          <p:cNvSpPr/>
          <p:nvPr/>
        </p:nvSpPr>
        <p:spPr>
          <a:xfrm>
            <a:off x="4983480" y="1261872"/>
            <a:ext cx="3886200"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Initiate immediately — Jakarta EE compatible JAR required. Blocking dependency for token authentication.</a:t>
            </a:r>
            <a:endParaRPr lang="en-US" sz="780" dirty="0"/>
          </a:p>
        </p:txBody>
      </p:sp>
      <p:sp>
        <p:nvSpPr>
          <p:cNvPr id="34" name="Shape 32"/>
          <p:cNvSpPr/>
          <p:nvPr/>
        </p:nvSpPr>
        <p:spPr>
          <a:xfrm>
            <a:off x="4590288" y="1627632"/>
            <a:ext cx="4343400" cy="585216"/>
          </a:xfrm>
          <a:prstGeom prst="rect">
            <a:avLst/>
          </a:prstGeom>
          <a:solidFill>
            <a:srgbClr val="FFFFFF"/>
          </a:solidFill>
          <a:ln w="12700">
            <a:solidFill>
              <a:srgbClr val="D8E6F0"/>
            </a:solidFill>
            <a:prstDash val="solid"/>
          </a:ln>
        </p:spPr>
      </p:sp>
      <p:sp>
        <p:nvSpPr>
          <p:cNvPr id="35" name="Shape 33"/>
          <p:cNvSpPr/>
          <p:nvPr/>
        </p:nvSpPr>
        <p:spPr>
          <a:xfrm>
            <a:off x="4590288" y="1627632"/>
            <a:ext cx="45720" cy="585216"/>
          </a:xfrm>
          <a:prstGeom prst="rect">
            <a:avLst/>
          </a:prstGeom>
          <a:solidFill>
            <a:srgbClr val="0072BC"/>
          </a:solidFill>
          <a:ln w="12700">
            <a:solidFill>
              <a:srgbClr val="0072BC"/>
            </a:solidFill>
            <a:prstDash val="solid"/>
          </a:ln>
        </p:spPr>
      </p:sp>
      <p:sp>
        <p:nvSpPr>
          <p:cNvPr id="36" name="Shape 34"/>
          <p:cNvSpPr/>
          <p:nvPr/>
        </p:nvSpPr>
        <p:spPr>
          <a:xfrm>
            <a:off x="4663440" y="1737360"/>
            <a:ext cx="256032" cy="256032"/>
          </a:xfrm>
          <a:prstGeom prst="roundRect">
            <a:avLst>
              <a:gd name="adj" fmla="val 50000"/>
            </a:avLst>
          </a:prstGeom>
          <a:solidFill>
            <a:srgbClr val="0072BC"/>
          </a:solidFill>
          <a:ln w="12700">
            <a:solidFill>
              <a:srgbClr val="0072BC"/>
            </a:solidFill>
            <a:prstDash val="solid"/>
          </a:ln>
        </p:spPr>
      </p:sp>
      <p:sp>
        <p:nvSpPr>
          <p:cNvPr id="37" name="Text 35"/>
          <p:cNvSpPr/>
          <p:nvPr/>
        </p:nvSpPr>
        <p:spPr>
          <a:xfrm>
            <a:off x="4663440" y="17373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8" name="Text 36"/>
          <p:cNvSpPr/>
          <p:nvPr/>
        </p:nvSpPr>
        <p:spPr>
          <a:xfrm>
            <a:off x="4983480" y="1682496"/>
            <a:ext cx="388620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Finastra Binary Confirmation</a:t>
            </a:r>
            <a:endParaRPr lang="en-US" sz="900" dirty="0"/>
          </a:p>
        </p:txBody>
      </p:sp>
      <p:sp>
        <p:nvSpPr>
          <p:cNvPr id="39" name="Text 37"/>
          <p:cNvSpPr/>
          <p:nvPr/>
        </p:nvSpPr>
        <p:spPr>
          <a:xfrm>
            <a:off x="4983480" y="1883664"/>
            <a:ext cx="3886200"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Engage Finastra for Java 17 compatible versions or source access for all internal JARs.</a:t>
            </a:r>
            <a:endParaRPr lang="en-US" sz="780" dirty="0"/>
          </a:p>
        </p:txBody>
      </p:sp>
      <p:sp>
        <p:nvSpPr>
          <p:cNvPr id="40" name="Shape 38"/>
          <p:cNvSpPr/>
          <p:nvPr/>
        </p:nvSpPr>
        <p:spPr>
          <a:xfrm>
            <a:off x="4590288" y="2249424"/>
            <a:ext cx="4343400" cy="585216"/>
          </a:xfrm>
          <a:prstGeom prst="rect">
            <a:avLst/>
          </a:prstGeom>
          <a:solidFill>
            <a:srgbClr val="FFFFFF"/>
          </a:solidFill>
          <a:ln w="12700">
            <a:solidFill>
              <a:srgbClr val="D8E6F0"/>
            </a:solidFill>
            <a:prstDash val="solid"/>
          </a:ln>
        </p:spPr>
      </p:sp>
      <p:sp>
        <p:nvSpPr>
          <p:cNvPr id="41" name="Shape 39"/>
          <p:cNvSpPr/>
          <p:nvPr/>
        </p:nvSpPr>
        <p:spPr>
          <a:xfrm>
            <a:off x="4590288" y="2249424"/>
            <a:ext cx="45720" cy="585216"/>
          </a:xfrm>
          <a:prstGeom prst="rect">
            <a:avLst/>
          </a:prstGeom>
          <a:solidFill>
            <a:srgbClr val="0072BC"/>
          </a:solidFill>
          <a:ln w="12700">
            <a:solidFill>
              <a:srgbClr val="0072BC"/>
            </a:solidFill>
            <a:prstDash val="solid"/>
          </a:ln>
        </p:spPr>
      </p:sp>
      <p:sp>
        <p:nvSpPr>
          <p:cNvPr id="42" name="Shape 40"/>
          <p:cNvSpPr/>
          <p:nvPr/>
        </p:nvSpPr>
        <p:spPr>
          <a:xfrm>
            <a:off x="4663440" y="2359152"/>
            <a:ext cx="256032" cy="256032"/>
          </a:xfrm>
          <a:prstGeom prst="roundRect">
            <a:avLst>
              <a:gd name="adj" fmla="val 50000"/>
            </a:avLst>
          </a:prstGeom>
          <a:solidFill>
            <a:srgbClr val="0072BC"/>
          </a:solidFill>
          <a:ln w="12700">
            <a:solidFill>
              <a:srgbClr val="0072BC"/>
            </a:solidFill>
            <a:prstDash val="solid"/>
          </a:ln>
        </p:spPr>
      </p:sp>
      <p:sp>
        <p:nvSpPr>
          <p:cNvPr id="43" name="Text 41"/>
          <p:cNvSpPr/>
          <p:nvPr/>
        </p:nvSpPr>
        <p:spPr>
          <a:xfrm>
            <a:off x="4663440" y="23591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4" name="Text 42"/>
          <p:cNvSpPr/>
          <p:nvPr/>
        </p:nvSpPr>
        <p:spPr>
          <a:xfrm>
            <a:off x="4983480" y="2304288"/>
            <a:ext cx="388620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GTPParameterParser Resolution</a:t>
            </a:r>
            <a:endParaRPr lang="en-US" sz="900" dirty="0"/>
          </a:p>
        </p:txBody>
      </p:sp>
      <p:sp>
        <p:nvSpPr>
          <p:cNvPr id="45" name="Text 43"/>
          <p:cNvSpPr/>
          <p:nvPr/>
        </p:nvSpPr>
        <p:spPr>
          <a:xfrm>
            <a:off x="4983480" y="2505456"/>
            <a:ext cx="3886200"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Resolve initialisation on Fulcrum container — explore alternative binding approach or custom parser hook.</a:t>
            </a:r>
            <a:endParaRPr lang="en-US" sz="780" dirty="0"/>
          </a:p>
        </p:txBody>
      </p:sp>
      <p:sp>
        <p:nvSpPr>
          <p:cNvPr id="46" name="Shape 44"/>
          <p:cNvSpPr/>
          <p:nvPr/>
        </p:nvSpPr>
        <p:spPr>
          <a:xfrm>
            <a:off x="4590288" y="2871216"/>
            <a:ext cx="4343400" cy="585216"/>
          </a:xfrm>
          <a:prstGeom prst="rect">
            <a:avLst/>
          </a:prstGeom>
          <a:solidFill>
            <a:srgbClr val="FFFFFF"/>
          </a:solidFill>
          <a:ln w="12700">
            <a:solidFill>
              <a:srgbClr val="D8E6F0"/>
            </a:solidFill>
            <a:prstDash val="solid"/>
          </a:ln>
        </p:spPr>
      </p:sp>
      <p:sp>
        <p:nvSpPr>
          <p:cNvPr id="47" name="Shape 45"/>
          <p:cNvSpPr/>
          <p:nvPr/>
        </p:nvSpPr>
        <p:spPr>
          <a:xfrm>
            <a:off x="4590288" y="2871216"/>
            <a:ext cx="45720" cy="585216"/>
          </a:xfrm>
          <a:prstGeom prst="rect">
            <a:avLst/>
          </a:prstGeom>
          <a:solidFill>
            <a:srgbClr val="0072BC"/>
          </a:solidFill>
          <a:ln w="12700">
            <a:solidFill>
              <a:srgbClr val="0072BC"/>
            </a:solidFill>
            <a:prstDash val="solid"/>
          </a:ln>
        </p:spPr>
      </p:sp>
      <p:sp>
        <p:nvSpPr>
          <p:cNvPr id="48" name="Shape 46"/>
          <p:cNvSpPr/>
          <p:nvPr/>
        </p:nvSpPr>
        <p:spPr>
          <a:xfrm>
            <a:off x="4663440" y="2980944"/>
            <a:ext cx="256032" cy="256032"/>
          </a:xfrm>
          <a:prstGeom prst="roundRect">
            <a:avLst>
              <a:gd name="adj" fmla="val 50000"/>
            </a:avLst>
          </a:prstGeom>
          <a:solidFill>
            <a:srgbClr val="0072BC"/>
          </a:solidFill>
          <a:ln w="12700">
            <a:solidFill>
              <a:srgbClr val="0072BC"/>
            </a:solidFill>
            <a:prstDash val="solid"/>
          </a:ln>
        </p:spPr>
      </p:sp>
      <p:sp>
        <p:nvSpPr>
          <p:cNvPr id="49" name="Text 47"/>
          <p:cNvSpPr/>
          <p:nvPr/>
        </p:nvSpPr>
        <p:spPr>
          <a:xfrm>
            <a:off x="4663440" y="29809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0" name="Text 48"/>
          <p:cNvSpPr/>
          <p:nvPr/>
        </p:nvSpPr>
        <p:spPr>
          <a:xfrm>
            <a:off x="4983480" y="2926080"/>
            <a:ext cx="388620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JAR Usage Analysis (~55 JARs)</a:t>
            </a:r>
            <a:endParaRPr lang="en-US" sz="900" dirty="0"/>
          </a:p>
        </p:txBody>
      </p:sp>
      <p:sp>
        <p:nvSpPr>
          <p:cNvPr id="51" name="Text 49"/>
          <p:cNvSpPr/>
          <p:nvPr/>
        </p:nvSpPr>
        <p:spPr>
          <a:xfrm>
            <a:off x="4983480" y="3127248"/>
            <a:ext cx="3886200"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Confirm active vs dormant status. Required before final migration scope and effort can be sized.</a:t>
            </a:r>
            <a:endParaRPr lang="en-US" sz="780" dirty="0"/>
          </a:p>
        </p:txBody>
      </p:sp>
      <p:sp>
        <p:nvSpPr>
          <p:cNvPr id="52" name="Shape 50"/>
          <p:cNvSpPr/>
          <p:nvPr/>
        </p:nvSpPr>
        <p:spPr>
          <a:xfrm>
            <a:off x="4590288" y="3493008"/>
            <a:ext cx="4343400" cy="585216"/>
          </a:xfrm>
          <a:prstGeom prst="rect">
            <a:avLst/>
          </a:prstGeom>
          <a:solidFill>
            <a:srgbClr val="FFFFFF"/>
          </a:solidFill>
          <a:ln w="12700">
            <a:solidFill>
              <a:srgbClr val="D8E6F0"/>
            </a:solidFill>
            <a:prstDash val="solid"/>
          </a:ln>
        </p:spPr>
      </p:sp>
      <p:sp>
        <p:nvSpPr>
          <p:cNvPr id="53" name="Shape 51"/>
          <p:cNvSpPr/>
          <p:nvPr/>
        </p:nvSpPr>
        <p:spPr>
          <a:xfrm>
            <a:off x="4590288" y="3493008"/>
            <a:ext cx="45720" cy="585216"/>
          </a:xfrm>
          <a:prstGeom prst="rect">
            <a:avLst/>
          </a:prstGeom>
          <a:solidFill>
            <a:srgbClr val="0072BC"/>
          </a:solidFill>
          <a:ln w="12700">
            <a:solidFill>
              <a:srgbClr val="0072BC"/>
            </a:solidFill>
            <a:prstDash val="solid"/>
          </a:ln>
        </p:spPr>
      </p:sp>
      <p:sp>
        <p:nvSpPr>
          <p:cNvPr id="54" name="Shape 52"/>
          <p:cNvSpPr/>
          <p:nvPr/>
        </p:nvSpPr>
        <p:spPr>
          <a:xfrm>
            <a:off x="4663440" y="3602736"/>
            <a:ext cx="256032" cy="256032"/>
          </a:xfrm>
          <a:prstGeom prst="roundRect">
            <a:avLst>
              <a:gd name="adj" fmla="val 50000"/>
            </a:avLst>
          </a:prstGeom>
          <a:solidFill>
            <a:srgbClr val="0072BC"/>
          </a:solidFill>
          <a:ln w="12700">
            <a:solidFill>
              <a:srgbClr val="0072BC"/>
            </a:solidFill>
            <a:prstDash val="solid"/>
          </a:ln>
        </p:spPr>
      </p:sp>
      <p:sp>
        <p:nvSpPr>
          <p:cNvPr id="55" name="Text 53"/>
          <p:cNvSpPr/>
          <p:nvPr/>
        </p:nvSpPr>
        <p:spPr>
          <a:xfrm>
            <a:off x="4663440" y="36027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56" name="Text 54"/>
          <p:cNvSpPr/>
          <p:nvPr/>
        </p:nvSpPr>
        <p:spPr>
          <a:xfrm>
            <a:off x="4983480" y="3547872"/>
            <a:ext cx="388620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Ant → Maven Build Conversion</a:t>
            </a:r>
            <a:endParaRPr lang="en-US" sz="900" dirty="0"/>
          </a:p>
        </p:txBody>
      </p:sp>
      <p:sp>
        <p:nvSpPr>
          <p:cNvPr id="57" name="Text 55"/>
          <p:cNvSpPr/>
          <p:nvPr/>
        </p:nvSpPr>
        <p:spPr>
          <a:xfrm>
            <a:off x="4983480" y="3749040"/>
            <a:ext cx="3886200"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Phase 0 prerequisite. OpenRewrite (javax→jakarta automation) requires Maven. No functional change.</a:t>
            </a:r>
            <a:endParaRPr lang="en-US" sz="780" dirty="0"/>
          </a:p>
        </p:txBody>
      </p:sp>
      <p:sp>
        <p:nvSpPr>
          <p:cNvPr id="58" name="Shape 56"/>
          <p:cNvSpPr/>
          <p:nvPr/>
        </p:nvSpPr>
        <p:spPr>
          <a:xfrm>
            <a:off x="4590288" y="4114800"/>
            <a:ext cx="4343400" cy="585216"/>
          </a:xfrm>
          <a:prstGeom prst="rect">
            <a:avLst/>
          </a:prstGeom>
          <a:solidFill>
            <a:srgbClr val="FFFFFF"/>
          </a:solidFill>
          <a:ln w="12700">
            <a:solidFill>
              <a:srgbClr val="D8E6F0"/>
            </a:solidFill>
            <a:prstDash val="solid"/>
          </a:ln>
        </p:spPr>
      </p:sp>
      <p:sp>
        <p:nvSpPr>
          <p:cNvPr id="59" name="Shape 57"/>
          <p:cNvSpPr/>
          <p:nvPr/>
        </p:nvSpPr>
        <p:spPr>
          <a:xfrm>
            <a:off x="4590288" y="4114800"/>
            <a:ext cx="45720" cy="585216"/>
          </a:xfrm>
          <a:prstGeom prst="rect">
            <a:avLst/>
          </a:prstGeom>
          <a:solidFill>
            <a:srgbClr val="0072BC"/>
          </a:solidFill>
          <a:ln w="12700">
            <a:solidFill>
              <a:srgbClr val="0072BC"/>
            </a:solidFill>
            <a:prstDash val="solid"/>
          </a:ln>
        </p:spPr>
      </p:sp>
      <p:sp>
        <p:nvSpPr>
          <p:cNvPr id="60" name="Shape 58"/>
          <p:cNvSpPr/>
          <p:nvPr/>
        </p:nvSpPr>
        <p:spPr>
          <a:xfrm>
            <a:off x="4663440" y="4224528"/>
            <a:ext cx="256032" cy="256032"/>
          </a:xfrm>
          <a:prstGeom prst="roundRect">
            <a:avLst>
              <a:gd name="adj" fmla="val 50000"/>
            </a:avLst>
          </a:prstGeom>
          <a:solidFill>
            <a:srgbClr val="0072BC"/>
          </a:solidFill>
          <a:ln w="12700">
            <a:solidFill>
              <a:srgbClr val="0072BC"/>
            </a:solidFill>
            <a:prstDash val="solid"/>
          </a:ln>
        </p:spPr>
      </p:sp>
      <p:sp>
        <p:nvSpPr>
          <p:cNvPr id="61" name="Text 59"/>
          <p:cNvSpPr/>
          <p:nvPr/>
        </p:nvSpPr>
        <p:spPr>
          <a:xfrm>
            <a:off x="4663440" y="42245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62" name="Text 60"/>
          <p:cNvSpPr/>
          <p:nvPr/>
        </p:nvSpPr>
        <p:spPr>
          <a:xfrm>
            <a:off x="4983480" y="4169664"/>
            <a:ext cx="3886200" cy="201168"/>
          </a:xfrm>
          <a:prstGeom prst="rect">
            <a:avLst/>
          </a:prstGeom>
          <a:noFill/>
          <a:ln/>
        </p:spPr>
        <p:txBody>
          <a:bodyPr wrap="square" lIns="0" tIns="0" rIns="0" bIns="0" rtlCol="0" anchor="ctr"/>
          <a:lstStyle/>
          <a:p>
            <a:pPr algn="l" indent="0" marL="0">
              <a:buNone/>
            </a:pPr>
            <a:r>
              <a:rPr lang="en-US" sz="900" b="1" dirty="0">
                <a:solidFill>
                  <a:srgbClr val="0D2B4E"/>
                </a:solidFill>
                <a:latin typeface="Calibri" pitchFamily="34" charset="0"/>
                <a:ea typeface="Calibri" pitchFamily="34" charset="-122"/>
                <a:cs typeface="Calibri" pitchFamily="34" charset="-120"/>
              </a:rPr>
              <a:t>Torque ORM  +  Spring 6 POC</a:t>
            </a:r>
            <a:endParaRPr lang="en-US" sz="900" dirty="0"/>
          </a:p>
        </p:txBody>
      </p:sp>
      <p:sp>
        <p:nvSpPr>
          <p:cNvPr id="63" name="Text 61"/>
          <p:cNvSpPr/>
          <p:nvPr/>
        </p:nvSpPr>
        <p:spPr>
          <a:xfrm>
            <a:off x="4983480" y="4370832"/>
            <a:ext cx="3886200" cy="274320"/>
          </a:xfrm>
          <a:prstGeom prst="rect">
            <a:avLst/>
          </a:prstGeom>
          <a:noFill/>
          <a:ln/>
        </p:spPr>
        <p:txBody>
          <a:bodyPr wrap="square" lIns="0" tIns="0" rIns="0" bIns="0" rtlCol="0" anchor="ctr"/>
          <a:lstStyle/>
          <a:p>
            <a:pPr algn="l" indent="0" marL="0">
              <a:buNone/>
            </a:pPr>
            <a:r>
              <a:rPr lang="en-US" sz="780" dirty="0">
                <a:solidFill>
                  <a:srgbClr val="6B7E94"/>
                </a:solidFill>
                <a:latin typeface="Calibri" pitchFamily="34" charset="0"/>
                <a:ea typeface="Calibri" pitchFamily="34" charset="-122"/>
                <a:cs typeface="Calibri" pitchFamily="34" charset="-120"/>
              </a:rPr>
              <a:t>Execute Torque 5.1 ORM queries on core GEB tables. Validate Spring 6 REST endpoints for WSService.</a:t>
            </a:r>
            <a:endParaRPr lang="en-US" sz="780" dirty="0"/>
          </a:p>
        </p:txBody>
      </p:sp>
      <p:sp>
        <p:nvSpPr>
          <p:cNvPr id="64" name="Shape 62"/>
          <p:cNvSpPr/>
          <p:nvPr/>
        </p:nvSpPr>
        <p:spPr>
          <a:xfrm>
            <a:off x="0" y="4764024"/>
            <a:ext cx="9144000" cy="283464"/>
          </a:xfrm>
          <a:prstGeom prst="rect">
            <a:avLst/>
          </a:prstGeom>
          <a:solidFill>
            <a:srgbClr val="1A3A5C"/>
          </a:solidFill>
          <a:ln w="12700">
            <a:solidFill>
              <a:srgbClr val="1A3A5C"/>
            </a:solidFill>
            <a:prstDash val="solid"/>
          </a:ln>
        </p:spPr>
      </p:sp>
      <p:sp>
        <p:nvSpPr>
          <p:cNvPr id="65" name="Text 63"/>
          <p:cNvSpPr/>
          <p:nvPr/>
        </p:nvSpPr>
        <p:spPr>
          <a:xfrm>
            <a:off x="228600" y="4764024"/>
            <a:ext cx="8686800" cy="283464"/>
          </a:xfrm>
          <a:prstGeom prst="rect">
            <a:avLst/>
          </a:prstGeom>
          <a:noFill/>
          <a:ln/>
        </p:spPr>
        <p:txBody>
          <a:bodyPr wrap="square" lIns="0" tIns="0" rIns="0" bIns="0" rtlCol="0" anchor="ctr"/>
          <a:lstStyle/>
          <a:p>
            <a:pPr algn="ctr" indent="0" marL="0">
              <a:buNone/>
            </a:pPr>
            <a:r>
              <a:rPr lang="en-US" sz="850" i="1" dirty="0">
                <a:solidFill>
                  <a:srgbClr val="8BA3BF"/>
                </a:solidFill>
                <a:latin typeface="Calibri" pitchFamily="34" charset="0"/>
                <a:ea typeface="Calibri" pitchFamily="34" charset="-122"/>
                <a:cs typeface="Calibri" pitchFamily="34" charset="-120"/>
              </a:rPr>
              <a:t>Migration is viable and the architecture is proven  ·  Pending items must be resolved to finalise scope, effort, and programme timeline</a:t>
            </a:r>
            <a:endParaRPr lang="en-US" sz="850" dirty="0"/>
          </a:p>
        </p:txBody>
      </p:sp>
      <p:sp>
        <p:nvSpPr>
          <p:cNvPr id="66" name="Shape 64"/>
          <p:cNvSpPr/>
          <p:nvPr/>
        </p:nvSpPr>
        <p:spPr>
          <a:xfrm>
            <a:off x="0" y="5047488"/>
            <a:ext cx="9144000" cy="96012"/>
          </a:xfrm>
          <a:prstGeom prst="rect">
            <a:avLst/>
          </a:prstGeom>
          <a:solidFill>
            <a:srgbClr val="091525"/>
          </a:solidFill>
          <a:ln w="12700">
            <a:solidFill>
              <a:srgbClr val="091525"/>
            </a:solidFill>
            <a:prstDash val="solid"/>
          </a:ln>
        </p:spPr>
      </p:sp>
      <p:sp>
        <p:nvSpPr>
          <p:cNvPr id="67" name="Text 65"/>
          <p:cNvSpPr/>
          <p:nvPr/>
        </p:nvSpPr>
        <p:spPr>
          <a:xfrm>
            <a:off x="0" y="5047488"/>
            <a:ext cx="9144000" cy="96012"/>
          </a:xfrm>
          <a:prstGeom prst="rect">
            <a:avLst/>
          </a:prstGeom>
          <a:noFill/>
          <a:ln/>
        </p:spPr>
        <p:txBody>
          <a:bodyPr wrap="square" lIns="0" tIns="0" rIns="0" bIns="0" rtlCol="0" anchor="ctr"/>
          <a:lstStyle/>
          <a:p>
            <a:pPr algn="ctr" indent="0" marL="0">
              <a:buNone/>
            </a:pPr>
            <a:r>
              <a:rPr lang="en-US" sz="700" dirty="0">
                <a:solidFill>
                  <a:srgbClr val="3A5F7A"/>
                </a:solidFill>
                <a:latin typeface="Calibri" pitchFamily="34" charset="0"/>
                <a:ea typeface="Calibri" pitchFamily="34" charset="-122"/>
                <a:cs typeface="Calibri" pitchFamily="34" charset="-120"/>
              </a:rPr>
              <a:t>Wipro Consulting  |  UOB Singapore  |  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p:spPr>
      </p:sp>
      <p:sp>
        <p:nvSpPr>
          <p:cNvPr id="3" name="Text 1"/>
          <p:cNvSpPr/>
          <p:nvPr/>
        </p:nvSpPr>
        <p:spPr>
          <a:xfrm>
            <a:off x="274320" y="73152"/>
            <a:ext cx="7772400" cy="31089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Spring &amp; WSService Layer  —  Migration Assessment</a:t>
            </a:r>
            <a:endParaRPr lang="en-US" sz="1800" dirty="0"/>
          </a:p>
        </p:txBody>
      </p:sp>
      <p:sp>
        <p:nvSpPr>
          <p:cNvPr id="4" name="Text 2"/>
          <p:cNvSpPr/>
          <p:nvPr/>
        </p:nvSpPr>
        <p:spPr>
          <a:xfrm>
            <a:off x="274320" y="402336"/>
            <a:ext cx="8595360" cy="201168"/>
          </a:xfrm>
          <a:prstGeom prst="rect">
            <a:avLst/>
          </a:prstGeom>
          <a:noFill/>
          <a:ln/>
        </p:spPr>
        <p:txBody>
          <a:bodyPr wrap="square" lIns="0" tIns="0" rIns="0" bIns="0" rtlCol="0" anchor="ctr"/>
          <a:lstStyle/>
          <a:p>
            <a:pPr indent="0" marL="0">
              <a:buNone/>
            </a:pPr>
            <a:r>
              <a:rPr lang="en-US" sz="900" dirty="0">
                <a:solidFill>
                  <a:srgbClr val="8BA3BF"/>
                </a:solidFill>
                <a:latin typeface="Calibri" pitchFamily="34" charset="0"/>
                <a:ea typeface="Calibri" pitchFamily="34" charset="-122"/>
                <a:cs typeface="Calibri" pitchFamily="34" charset="-120"/>
              </a:rPr>
              <a:t>GEB's REST interface for IDB communication  ·  Spring MVC + Security + Swagger documentation</a:t>
            </a:r>
            <a:endParaRPr lang="en-US" sz="900" dirty="0"/>
          </a:p>
        </p:txBody>
      </p:sp>
      <p:sp>
        <p:nvSpPr>
          <p:cNvPr id="5" name="Text 3"/>
          <p:cNvSpPr/>
          <p:nvPr/>
        </p:nvSpPr>
        <p:spPr>
          <a:xfrm>
            <a:off x="182880" y="749808"/>
            <a:ext cx="4206240" cy="201168"/>
          </a:xfrm>
          <a:prstGeom prst="rect">
            <a:avLst/>
          </a:prstGeom>
          <a:noFill/>
          <a:ln/>
        </p:spPr>
        <p:txBody>
          <a:bodyPr wrap="square" lIns="0" tIns="0" rIns="0" bIns="0" rtlCol="0" anchor="ctr"/>
          <a:lstStyle/>
          <a:p>
            <a:pPr indent="0" marL="0">
              <a:buNone/>
            </a:pPr>
            <a:r>
              <a:rPr lang="en-US" sz="750" b="1" spc="150" kern="0" dirty="0">
                <a:solidFill>
                  <a:srgbClr val="6B7E94"/>
                </a:solidFill>
                <a:latin typeface="Calibri" pitchFamily="34" charset="0"/>
                <a:ea typeface="Calibri" pitchFamily="34" charset="-122"/>
                <a:cs typeface="Calibri" pitchFamily="34" charset="-120"/>
              </a:rPr>
              <a:t>CURRENT STACK &amp; TARGET</a:t>
            </a:r>
            <a:endParaRPr lang="en-US" sz="750" dirty="0"/>
          </a:p>
        </p:txBody>
      </p:sp>
      <p:sp>
        <p:nvSpPr>
          <p:cNvPr id="6" name="Shape 4"/>
          <p:cNvSpPr/>
          <p:nvPr/>
        </p:nvSpPr>
        <p:spPr>
          <a:xfrm>
            <a:off x="137160" y="1005840"/>
            <a:ext cx="4206240" cy="566928"/>
          </a:xfrm>
          <a:prstGeom prst="rect">
            <a:avLst/>
          </a:prstGeom>
          <a:solidFill>
            <a:srgbClr val="FFFFFF"/>
          </a:solidFill>
          <a:ln w="6350">
            <a:solidFill>
              <a:srgbClr val="D0DCE8"/>
            </a:solidFill>
            <a:prstDash val="solid"/>
          </a:ln>
        </p:spPr>
      </p:sp>
      <p:sp>
        <p:nvSpPr>
          <p:cNvPr id="7" name="Shape 5"/>
          <p:cNvSpPr/>
          <p:nvPr/>
        </p:nvSpPr>
        <p:spPr>
          <a:xfrm>
            <a:off x="137160" y="1005840"/>
            <a:ext cx="45720" cy="566928"/>
          </a:xfrm>
          <a:prstGeom prst="rect">
            <a:avLst/>
          </a:prstGeom>
          <a:solidFill>
            <a:srgbClr val="B91C1C"/>
          </a:solidFill>
          <a:ln/>
        </p:spPr>
      </p:sp>
      <p:sp>
        <p:nvSpPr>
          <p:cNvPr id="8" name="Text 6"/>
          <p:cNvSpPr/>
          <p:nvPr/>
        </p:nvSpPr>
        <p:spPr>
          <a:xfrm>
            <a:off x="246888" y="1024128"/>
            <a:ext cx="2743200" cy="182880"/>
          </a:xfrm>
          <a:prstGeom prst="rect">
            <a:avLst/>
          </a:prstGeom>
          <a:noFill/>
          <a:ln/>
        </p:spPr>
        <p:txBody>
          <a:bodyPr wrap="square" lIns="0" tIns="0" rIns="0" bIns="0" rtlCol="0" anchor="ctr"/>
          <a:lstStyle/>
          <a:p>
            <a:pPr indent="0" marL="0">
              <a:buNone/>
            </a:pPr>
            <a:r>
              <a:rPr lang="en-US" sz="850" b="1" dirty="0">
                <a:solidFill>
                  <a:srgbClr val="0D2B4E"/>
                </a:solidFill>
                <a:latin typeface="Calibri" pitchFamily="34" charset="0"/>
                <a:ea typeface="Calibri" pitchFamily="34" charset="-122"/>
                <a:cs typeface="Calibri" pitchFamily="34" charset="-120"/>
              </a:rPr>
              <a:t>Spring MVC 4.2.9  →  Spring 6.x</a:t>
            </a:r>
            <a:endParaRPr lang="en-US" sz="850" dirty="0"/>
          </a:p>
        </p:txBody>
      </p:sp>
      <p:sp>
        <p:nvSpPr>
          <p:cNvPr id="9" name="Text 7"/>
          <p:cNvSpPr/>
          <p:nvPr/>
        </p:nvSpPr>
        <p:spPr>
          <a:xfrm>
            <a:off x="246888" y="1207008"/>
            <a:ext cx="3977640" cy="329184"/>
          </a:xfrm>
          <a:prstGeom prst="rect">
            <a:avLst/>
          </a:prstGeom>
          <a:noFill/>
          <a:ln/>
        </p:spPr>
        <p:txBody>
          <a:bodyPr wrap="square" lIns="0" tIns="0" rIns="0" bIns="0" rtlCol="0" anchor="ctr"/>
          <a:lstStyle/>
          <a:p>
            <a:pPr indent="0" marL="0">
              <a:buNone/>
            </a:pPr>
            <a:r>
              <a:rPr lang="en-US" sz="750" dirty="0">
                <a:solidFill>
                  <a:srgbClr val="6B7E94"/>
                </a:solidFill>
                <a:latin typeface="Calibri" pitchFamily="34" charset="0"/>
                <a:ea typeface="Calibri" pitchFamily="34" charset="-122"/>
                <a:cs typeface="Calibri" pitchFamily="34" charset="-120"/>
              </a:rPr>
              <a:t>Core web framework for WSService REST controllers. All javax.servlet imports become jakarta.servlet. ContextUtils.createRundata() bridge to Turbine must be rewritten.</a:t>
            </a:r>
            <a:endParaRPr lang="en-US" sz="750" dirty="0"/>
          </a:p>
        </p:txBody>
      </p:sp>
      <p:sp>
        <p:nvSpPr>
          <p:cNvPr id="10" name="Shape 8"/>
          <p:cNvSpPr/>
          <p:nvPr/>
        </p:nvSpPr>
        <p:spPr>
          <a:xfrm>
            <a:off x="3520440" y="1042416"/>
            <a:ext cx="749808" cy="164592"/>
          </a:xfrm>
          <a:prstGeom prst="roundRect">
            <a:avLst>
              <a:gd name="adj" fmla="val 27778"/>
            </a:avLst>
          </a:prstGeom>
          <a:solidFill>
            <a:srgbClr val="B91C1C"/>
          </a:solidFill>
          <a:ln/>
        </p:spPr>
      </p:sp>
      <p:sp>
        <p:nvSpPr>
          <p:cNvPr id="11" name="Text 9"/>
          <p:cNvSpPr/>
          <p:nvPr/>
        </p:nvSpPr>
        <p:spPr>
          <a:xfrm>
            <a:off x="3520440" y="1042416"/>
            <a:ext cx="749808"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BREAKING</a:t>
            </a:r>
            <a:endParaRPr lang="en-US" sz="650" dirty="0"/>
          </a:p>
        </p:txBody>
      </p:sp>
      <p:sp>
        <p:nvSpPr>
          <p:cNvPr id="12" name="Shape 10"/>
          <p:cNvSpPr/>
          <p:nvPr/>
        </p:nvSpPr>
        <p:spPr>
          <a:xfrm>
            <a:off x="137160" y="1627632"/>
            <a:ext cx="4206240" cy="566928"/>
          </a:xfrm>
          <a:prstGeom prst="rect">
            <a:avLst/>
          </a:prstGeom>
          <a:solidFill>
            <a:srgbClr val="FFFFFF"/>
          </a:solidFill>
          <a:ln w="6350">
            <a:solidFill>
              <a:srgbClr val="D0DCE8"/>
            </a:solidFill>
            <a:prstDash val="solid"/>
          </a:ln>
        </p:spPr>
      </p:sp>
      <p:sp>
        <p:nvSpPr>
          <p:cNvPr id="13" name="Shape 11"/>
          <p:cNvSpPr/>
          <p:nvPr/>
        </p:nvSpPr>
        <p:spPr>
          <a:xfrm>
            <a:off x="137160" y="1627632"/>
            <a:ext cx="45720" cy="566928"/>
          </a:xfrm>
          <a:prstGeom prst="rect">
            <a:avLst/>
          </a:prstGeom>
          <a:solidFill>
            <a:srgbClr val="B91C1C"/>
          </a:solidFill>
          <a:ln/>
        </p:spPr>
      </p:sp>
      <p:sp>
        <p:nvSpPr>
          <p:cNvPr id="14" name="Text 12"/>
          <p:cNvSpPr/>
          <p:nvPr/>
        </p:nvSpPr>
        <p:spPr>
          <a:xfrm>
            <a:off x="246888" y="1645920"/>
            <a:ext cx="3200400" cy="182880"/>
          </a:xfrm>
          <a:prstGeom prst="rect">
            <a:avLst/>
          </a:prstGeom>
          <a:noFill/>
          <a:ln/>
        </p:spPr>
        <p:txBody>
          <a:bodyPr wrap="square" lIns="0" tIns="0" rIns="0" bIns="0" rtlCol="0" anchor="ctr"/>
          <a:lstStyle/>
          <a:p>
            <a:pPr indent="0" marL="0">
              <a:buNone/>
            </a:pPr>
            <a:r>
              <a:rPr lang="en-US" sz="850" b="1" dirty="0">
                <a:solidFill>
                  <a:srgbClr val="0D2B4E"/>
                </a:solidFill>
                <a:latin typeface="Calibri" pitchFamily="34" charset="0"/>
                <a:ea typeface="Calibri" pitchFamily="34" charset="-122"/>
                <a:cs typeface="Calibri" pitchFamily="34" charset="-120"/>
              </a:rPr>
              <a:t>Springfox 2.x (Swagger)  →  springdoc-openapi 2.x</a:t>
            </a:r>
            <a:endParaRPr lang="en-US" sz="850" dirty="0"/>
          </a:p>
        </p:txBody>
      </p:sp>
      <p:sp>
        <p:nvSpPr>
          <p:cNvPr id="15" name="Text 13"/>
          <p:cNvSpPr/>
          <p:nvPr/>
        </p:nvSpPr>
        <p:spPr>
          <a:xfrm>
            <a:off x="246888" y="1828800"/>
            <a:ext cx="3977640" cy="329184"/>
          </a:xfrm>
          <a:prstGeom prst="rect">
            <a:avLst/>
          </a:prstGeom>
          <a:noFill/>
          <a:ln/>
        </p:spPr>
        <p:txBody>
          <a:bodyPr wrap="square" lIns="0" tIns="0" rIns="0" bIns="0" rtlCol="0" anchor="ctr"/>
          <a:lstStyle/>
          <a:p>
            <a:pPr indent="0" marL="0">
              <a:buNone/>
            </a:pPr>
            <a:r>
              <a:rPr lang="en-US" sz="750" dirty="0">
                <a:solidFill>
                  <a:srgbClr val="6B7E94"/>
                </a:solidFill>
                <a:latin typeface="Calibri" pitchFamily="34" charset="0"/>
                <a:ea typeface="Calibri" pitchFamily="34" charset="-122"/>
                <a:cs typeface="Calibri" pitchFamily="34" charset="-120"/>
              </a:rPr>
              <a:t>Springfox is abandoned — no Spring 6 release exists. Full replacement with springdoc-openapi. Annotations change: @Api→@Tag, @ApiOperation→@Operation, @ApiParam→@Parameter.</a:t>
            </a:r>
            <a:endParaRPr lang="en-US" sz="750" dirty="0"/>
          </a:p>
        </p:txBody>
      </p:sp>
      <p:sp>
        <p:nvSpPr>
          <p:cNvPr id="16" name="Shape 14"/>
          <p:cNvSpPr/>
          <p:nvPr/>
        </p:nvSpPr>
        <p:spPr>
          <a:xfrm>
            <a:off x="3520440" y="1664208"/>
            <a:ext cx="749808" cy="164592"/>
          </a:xfrm>
          <a:prstGeom prst="roundRect">
            <a:avLst>
              <a:gd name="adj" fmla="val 27778"/>
            </a:avLst>
          </a:prstGeom>
          <a:solidFill>
            <a:srgbClr val="B91C1C"/>
          </a:solidFill>
          <a:ln/>
        </p:spPr>
      </p:sp>
      <p:sp>
        <p:nvSpPr>
          <p:cNvPr id="17" name="Text 15"/>
          <p:cNvSpPr/>
          <p:nvPr/>
        </p:nvSpPr>
        <p:spPr>
          <a:xfrm>
            <a:off x="3520440" y="1664208"/>
            <a:ext cx="749808"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REPLACE</a:t>
            </a:r>
            <a:endParaRPr lang="en-US" sz="650" dirty="0"/>
          </a:p>
        </p:txBody>
      </p:sp>
      <p:sp>
        <p:nvSpPr>
          <p:cNvPr id="18" name="Shape 16"/>
          <p:cNvSpPr/>
          <p:nvPr/>
        </p:nvSpPr>
        <p:spPr>
          <a:xfrm>
            <a:off x="137160" y="2249424"/>
            <a:ext cx="4206240" cy="566928"/>
          </a:xfrm>
          <a:prstGeom prst="rect">
            <a:avLst/>
          </a:prstGeom>
          <a:solidFill>
            <a:srgbClr val="FFFFFF"/>
          </a:solidFill>
          <a:ln w="6350">
            <a:solidFill>
              <a:srgbClr val="D0DCE8"/>
            </a:solidFill>
            <a:prstDash val="solid"/>
          </a:ln>
        </p:spPr>
      </p:sp>
      <p:sp>
        <p:nvSpPr>
          <p:cNvPr id="19" name="Shape 17"/>
          <p:cNvSpPr/>
          <p:nvPr/>
        </p:nvSpPr>
        <p:spPr>
          <a:xfrm>
            <a:off x="137160" y="2249424"/>
            <a:ext cx="45720" cy="566928"/>
          </a:xfrm>
          <a:prstGeom prst="rect">
            <a:avLst/>
          </a:prstGeom>
          <a:solidFill>
            <a:srgbClr val="B91C1C"/>
          </a:solidFill>
          <a:ln/>
        </p:spPr>
      </p:sp>
      <p:sp>
        <p:nvSpPr>
          <p:cNvPr id="20" name="Text 18"/>
          <p:cNvSpPr/>
          <p:nvPr/>
        </p:nvSpPr>
        <p:spPr>
          <a:xfrm>
            <a:off x="246888" y="2267712"/>
            <a:ext cx="3200400" cy="182880"/>
          </a:xfrm>
          <a:prstGeom prst="rect">
            <a:avLst/>
          </a:prstGeom>
          <a:noFill/>
          <a:ln/>
        </p:spPr>
        <p:txBody>
          <a:bodyPr wrap="square" lIns="0" tIns="0" rIns="0" bIns="0" rtlCol="0" anchor="ctr"/>
          <a:lstStyle/>
          <a:p>
            <a:pPr indent="0" marL="0">
              <a:buNone/>
            </a:pPr>
            <a:r>
              <a:rPr lang="en-US" sz="850" b="1" dirty="0">
                <a:solidFill>
                  <a:srgbClr val="0D2B4E"/>
                </a:solidFill>
                <a:latin typeface="Calibri" pitchFamily="34" charset="0"/>
                <a:ea typeface="Calibri" pitchFamily="34" charset="-122"/>
                <a:cs typeface="Calibri" pitchFamily="34" charset="-120"/>
              </a:rPr>
              <a:t>Spring Security (FilterChainProxy)  →  Spring Security 6.x</a:t>
            </a:r>
            <a:endParaRPr lang="en-US" sz="850" dirty="0"/>
          </a:p>
        </p:txBody>
      </p:sp>
      <p:sp>
        <p:nvSpPr>
          <p:cNvPr id="21" name="Text 19"/>
          <p:cNvSpPr/>
          <p:nvPr/>
        </p:nvSpPr>
        <p:spPr>
          <a:xfrm>
            <a:off x="246888" y="2450592"/>
            <a:ext cx="3977640" cy="329184"/>
          </a:xfrm>
          <a:prstGeom prst="rect">
            <a:avLst/>
          </a:prstGeom>
          <a:noFill/>
          <a:ln/>
        </p:spPr>
        <p:txBody>
          <a:bodyPr wrap="square" lIns="0" tIns="0" rIns="0" bIns="0" rtlCol="0" anchor="ctr"/>
          <a:lstStyle/>
          <a:p>
            <a:pPr indent="0" marL="0">
              <a:buNone/>
            </a:pPr>
            <a:r>
              <a:rPr lang="en-US" sz="750" dirty="0">
                <a:solidFill>
                  <a:srgbClr val="6B7E94"/>
                </a:solidFill>
                <a:latin typeface="Calibri" pitchFamily="34" charset="0"/>
                <a:ea typeface="Calibri" pitchFamily="34" charset="-122"/>
                <a:cs typeface="Calibri" pitchFamily="34" charset="-120"/>
              </a:rPr>
              <a:t>FilterChainProxy configuration has breaking changes in Spring Security 6. Security filter chain definition API is completely different. Must be reconfigured.</a:t>
            </a:r>
            <a:endParaRPr lang="en-US" sz="750" dirty="0"/>
          </a:p>
        </p:txBody>
      </p:sp>
      <p:sp>
        <p:nvSpPr>
          <p:cNvPr id="22" name="Shape 20"/>
          <p:cNvSpPr/>
          <p:nvPr/>
        </p:nvSpPr>
        <p:spPr>
          <a:xfrm>
            <a:off x="3520440" y="2286000"/>
            <a:ext cx="749808" cy="164592"/>
          </a:xfrm>
          <a:prstGeom prst="roundRect">
            <a:avLst>
              <a:gd name="adj" fmla="val 27778"/>
            </a:avLst>
          </a:prstGeom>
          <a:solidFill>
            <a:srgbClr val="B91C1C"/>
          </a:solidFill>
          <a:ln/>
        </p:spPr>
      </p:sp>
      <p:sp>
        <p:nvSpPr>
          <p:cNvPr id="23" name="Text 21"/>
          <p:cNvSpPr/>
          <p:nvPr/>
        </p:nvSpPr>
        <p:spPr>
          <a:xfrm>
            <a:off x="3520440" y="2286000"/>
            <a:ext cx="749808"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BREAKING</a:t>
            </a:r>
            <a:endParaRPr lang="en-US" sz="650" dirty="0"/>
          </a:p>
        </p:txBody>
      </p:sp>
      <p:sp>
        <p:nvSpPr>
          <p:cNvPr id="24" name="Shape 22"/>
          <p:cNvSpPr/>
          <p:nvPr/>
        </p:nvSpPr>
        <p:spPr>
          <a:xfrm>
            <a:off x="137160" y="2871216"/>
            <a:ext cx="4206240" cy="502920"/>
          </a:xfrm>
          <a:prstGeom prst="rect">
            <a:avLst/>
          </a:prstGeom>
          <a:solidFill>
            <a:srgbClr val="FFFFFF"/>
          </a:solidFill>
          <a:ln w="6350">
            <a:solidFill>
              <a:srgbClr val="D0DCE8"/>
            </a:solidFill>
            <a:prstDash val="solid"/>
          </a:ln>
        </p:spPr>
      </p:sp>
      <p:sp>
        <p:nvSpPr>
          <p:cNvPr id="25" name="Shape 23"/>
          <p:cNvSpPr/>
          <p:nvPr/>
        </p:nvSpPr>
        <p:spPr>
          <a:xfrm>
            <a:off x="137160" y="2871216"/>
            <a:ext cx="45720" cy="502920"/>
          </a:xfrm>
          <a:prstGeom prst="rect">
            <a:avLst/>
          </a:prstGeom>
          <a:solidFill>
            <a:srgbClr val="D97706"/>
          </a:solidFill>
          <a:ln/>
        </p:spPr>
      </p:sp>
      <p:sp>
        <p:nvSpPr>
          <p:cNvPr id="26" name="Text 24"/>
          <p:cNvSpPr/>
          <p:nvPr/>
        </p:nvSpPr>
        <p:spPr>
          <a:xfrm>
            <a:off x="246888" y="2889504"/>
            <a:ext cx="3200400" cy="182880"/>
          </a:xfrm>
          <a:prstGeom prst="rect">
            <a:avLst/>
          </a:prstGeom>
          <a:noFill/>
          <a:ln/>
        </p:spPr>
        <p:txBody>
          <a:bodyPr wrap="square" lIns="0" tIns="0" rIns="0" bIns="0" rtlCol="0" anchor="ctr"/>
          <a:lstStyle/>
          <a:p>
            <a:pPr indent="0" marL="0">
              <a:buNone/>
            </a:pPr>
            <a:r>
              <a:rPr lang="en-US" sz="850" b="1" dirty="0">
                <a:solidFill>
                  <a:srgbClr val="0D2B4E"/>
                </a:solidFill>
                <a:latin typeface="Calibri" pitchFamily="34" charset="0"/>
                <a:ea typeface="Calibri" pitchFamily="34" charset="-122"/>
                <a:cs typeface="Calibri" pitchFamily="34" charset="-120"/>
              </a:rPr>
              <a:t>webservice-servlet.xml  (Spring Dispatcher Config)</a:t>
            </a:r>
            <a:endParaRPr lang="en-US" sz="850" dirty="0"/>
          </a:p>
        </p:txBody>
      </p:sp>
      <p:sp>
        <p:nvSpPr>
          <p:cNvPr id="27" name="Text 25"/>
          <p:cNvSpPr/>
          <p:nvPr/>
        </p:nvSpPr>
        <p:spPr>
          <a:xfrm>
            <a:off x="246888" y="3072384"/>
            <a:ext cx="3977640" cy="274320"/>
          </a:xfrm>
          <a:prstGeom prst="rect">
            <a:avLst/>
          </a:prstGeom>
          <a:noFill/>
          <a:ln/>
        </p:spPr>
        <p:txBody>
          <a:bodyPr wrap="square" lIns="0" tIns="0" rIns="0" bIns="0" rtlCol="0" anchor="ctr"/>
          <a:lstStyle/>
          <a:p>
            <a:pPr indent="0" marL="0">
              <a:buNone/>
            </a:pPr>
            <a:r>
              <a:rPr lang="en-US" sz="750" dirty="0">
                <a:solidFill>
                  <a:srgbClr val="6B7E94"/>
                </a:solidFill>
                <a:latin typeface="Calibri" pitchFamily="34" charset="0"/>
                <a:ea typeface="Calibri" pitchFamily="34" charset="-122"/>
                <a:cs typeface="Calibri" pitchFamily="34" charset="-120"/>
              </a:rPr>
              <a:t>Defines controller mappings, argument resolvers, and validation beans. Must be reviewed and updated for Spring 6 namespace and bean definitions.</a:t>
            </a:r>
            <a:endParaRPr lang="en-US" sz="750" dirty="0"/>
          </a:p>
        </p:txBody>
      </p:sp>
      <p:sp>
        <p:nvSpPr>
          <p:cNvPr id="28" name="Shape 26"/>
          <p:cNvSpPr/>
          <p:nvPr/>
        </p:nvSpPr>
        <p:spPr>
          <a:xfrm>
            <a:off x="3520440" y="2907792"/>
            <a:ext cx="749808" cy="164592"/>
          </a:xfrm>
          <a:prstGeom prst="roundRect">
            <a:avLst>
              <a:gd name="adj" fmla="val 27778"/>
            </a:avLst>
          </a:prstGeom>
          <a:solidFill>
            <a:srgbClr val="D97706"/>
          </a:solidFill>
          <a:ln/>
        </p:spPr>
      </p:sp>
      <p:sp>
        <p:nvSpPr>
          <p:cNvPr id="29" name="Text 27"/>
          <p:cNvSpPr/>
          <p:nvPr/>
        </p:nvSpPr>
        <p:spPr>
          <a:xfrm>
            <a:off x="3520440" y="2907792"/>
            <a:ext cx="749808"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REVIEW</a:t>
            </a:r>
            <a:endParaRPr lang="en-US" sz="650" dirty="0"/>
          </a:p>
        </p:txBody>
      </p:sp>
      <p:sp>
        <p:nvSpPr>
          <p:cNvPr id="30" name="Text 28"/>
          <p:cNvSpPr/>
          <p:nvPr/>
        </p:nvSpPr>
        <p:spPr>
          <a:xfrm>
            <a:off x="182880" y="3474720"/>
            <a:ext cx="4206240" cy="201168"/>
          </a:xfrm>
          <a:prstGeom prst="rect">
            <a:avLst/>
          </a:prstGeom>
          <a:noFill/>
          <a:ln/>
        </p:spPr>
        <p:txBody>
          <a:bodyPr wrap="square" lIns="0" tIns="0" rIns="0" bIns="0" rtlCol="0" anchor="ctr"/>
          <a:lstStyle/>
          <a:p>
            <a:pPr indent="0" marL="0">
              <a:buNone/>
            </a:pPr>
            <a:r>
              <a:rPr lang="en-US" sz="750" b="1" spc="150" kern="0" dirty="0">
                <a:solidFill>
                  <a:srgbClr val="6B7E94"/>
                </a:solidFill>
                <a:latin typeface="Calibri" pitchFamily="34" charset="0"/>
                <a:ea typeface="Calibri" pitchFamily="34" charset="-122"/>
                <a:cs typeface="Calibri" pitchFamily="34" charset="-120"/>
              </a:rPr>
              <a:t>HOW IDB REQUESTS FLOW THROUGH SPRING</a:t>
            </a:r>
            <a:endParaRPr lang="en-US" sz="750" dirty="0"/>
          </a:p>
        </p:txBody>
      </p:sp>
      <p:sp>
        <p:nvSpPr>
          <p:cNvPr id="31" name="Shape 29"/>
          <p:cNvSpPr/>
          <p:nvPr/>
        </p:nvSpPr>
        <p:spPr>
          <a:xfrm>
            <a:off x="137160" y="3703320"/>
            <a:ext cx="4206240" cy="640080"/>
          </a:xfrm>
          <a:prstGeom prst="rect">
            <a:avLst/>
          </a:prstGeom>
          <a:solidFill>
            <a:srgbClr val="FFFFFF"/>
          </a:solidFill>
          <a:ln w="6350">
            <a:solidFill>
              <a:srgbClr val="D0DCE8"/>
            </a:solidFill>
            <a:prstDash val="solid"/>
          </a:ln>
        </p:spPr>
      </p:sp>
      <p:sp>
        <p:nvSpPr>
          <p:cNvPr id="32" name="Shape 30"/>
          <p:cNvSpPr/>
          <p:nvPr/>
        </p:nvSpPr>
        <p:spPr>
          <a:xfrm>
            <a:off x="137160" y="3703320"/>
            <a:ext cx="45720" cy="640080"/>
          </a:xfrm>
          <a:prstGeom prst="rect">
            <a:avLst/>
          </a:prstGeom>
          <a:solidFill>
            <a:srgbClr val="0072BC"/>
          </a:solidFill>
          <a:ln/>
        </p:spPr>
      </p:sp>
      <p:sp>
        <p:nvSpPr>
          <p:cNvPr id="33" name="Text 31"/>
          <p:cNvSpPr/>
          <p:nvPr/>
        </p:nvSpPr>
        <p:spPr>
          <a:xfrm>
            <a:off x="246888" y="3730752"/>
            <a:ext cx="4023360" cy="594360"/>
          </a:xfrm>
          <a:prstGeom prst="rect">
            <a:avLst/>
          </a:prstGeom>
          <a:noFill/>
          <a:ln/>
        </p:spPr>
        <p:txBody>
          <a:bodyPr wrap="square" lIns="0" tIns="0" rIns="0" bIns="0" rtlCol="0" anchor="ctr"/>
          <a:lstStyle/>
          <a:p>
            <a:pPr indent="0" marL="0">
              <a:spcAft>
                <a:spcPts val="200"/>
              </a:spcAft>
              <a:buNone/>
            </a:pPr>
            <a:r>
              <a:rPr lang="en-US" sz="800" b="1" dirty="0">
                <a:solidFill>
                  <a:srgbClr val="0D2B4E"/>
                </a:solidFill>
                <a:latin typeface="Calibri" pitchFamily="34" charset="0"/>
                <a:ea typeface="Calibri" pitchFamily="34" charset="-122"/>
                <a:cs typeface="Calibri" pitchFamily="34" charset="-120"/>
              </a:rPr>
              <a:t>IDB Request → WSService (DispatcherServlet) → Spring Controller</a:t>
            </a:r>
            <a:endParaRPr lang="en-US" sz="800" dirty="0"/>
          </a:p>
          <a:p>
            <a:pPr indent="0" marL="0">
              <a:spcAft>
                <a:spcPts val="200"/>
              </a:spcAft>
              <a:buNone/>
            </a:pPr>
            <a:r>
              <a:rPr lang="en-US" sz="750" dirty="0">
                <a:solidFill>
                  <a:srgbClr val="6B7E94"/>
                </a:solidFill>
                <a:latin typeface="Calibri" pitchFamily="34" charset="0"/>
                <a:ea typeface="Calibri" pitchFamily="34" charset="-122"/>
                <a:cs typeface="Calibri" pitchFamily="34" charset="-120"/>
              </a:rPr>
              <a:t>→ CustomControllerArgumentResolver injects RunData</a:t>
            </a:r>
            <a:endParaRPr lang="en-US" sz="800" dirty="0"/>
          </a:p>
          <a:p>
            <a:pPr indent="0" marL="0">
              <a:spcAft>
                <a:spcPts val="200"/>
              </a:spcAft>
              <a:buNone/>
            </a:pPr>
            <a:r>
              <a:rPr lang="en-US" sz="750" dirty="0">
                <a:solidFill>
                  <a:srgbClr val="6B7E94"/>
                </a:solidFill>
                <a:latin typeface="Calibri" pitchFamily="34" charset="0"/>
                <a:ea typeface="Calibri" pitchFamily="34" charset="-122"/>
                <a:cs typeface="Calibri" pitchFamily="34" charset="-120"/>
              </a:rPr>
              <a:t>→ Controller validates against GTP_PARAM_DATA → Business logic via RunData</a:t>
            </a:r>
            <a:endParaRPr lang="en-US" sz="800" dirty="0"/>
          </a:p>
          <a:p>
            <a:pPr indent="0" marL="0">
              <a:spcAft>
                <a:spcPts val="200"/>
              </a:spcAft>
              <a:buNone/>
            </a:pPr>
            <a:r>
              <a:rPr lang="en-US" sz="750" dirty="0">
                <a:solidFill>
                  <a:srgbClr val="6B7E94"/>
                </a:solidFill>
                <a:latin typeface="Calibri" pitchFamily="34" charset="0"/>
                <a:ea typeface="Calibri" pitchFamily="34" charset="-122"/>
                <a:cs typeface="Calibri" pitchFamily="34" charset="-120"/>
              </a:rPr>
              <a:t>→ Response returned to IDB</a:t>
            </a:r>
            <a:endParaRPr lang="en-US" sz="800" dirty="0"/>
          </a:p>
        </p:txBody>
      </p:sp>
      <p:sp>
        <p:nvSpPr>
          <p:cNvPr id="34" name="Shape 32"/>
          <p:cNvSpPr/>
          <p:nvPr/>
        </p:nvSpPr>
        <p:spPr>
          <a:xfrm>
            <a:off x="4443984" y="713232"/>
            <a:ext cx="27432" cy="4023360"/>
          </a:xfrm>
          <a:prstGeom prst="rect">
            <a:avLst/>
          </a:prstGeom>
          <a:solidFill>
            <a:srgbClr val="D0DCE8"/>
          </a:solidFill>
          <a:ln/>
        </p:spPr>
      </p:sp>
      <p:sp>
        <p:nvSpPr>
          <p:cNvPr id="35" name="Text 33"/>
          <p:cNvSpPr/>
          <p:nvPr/>
        </p:nvSpPr>
        <p:spPr>
          <a:xfrm>
            <a:off x="4617720" y="749808"/>
            <a:ext cx="4206240" cy="201168"/>
          </a:xfrm>
          <a:prstGeom prst="rect">
            <a:avLst/>
          </a:prstGeom>
          <a:noFill/>
          <a:ln/>
        </p:spPr>
        <p:txBody>
          <a:bodyPr wrap="square" lIns="0" tIns="0" rIns="0" bIns="0" rtlCol="0" anchor="ctr"/>
          <a:lstStyle/>
          <a:p>
            <a:pPr indent="0" marL="0">
              <a:buNone/>
            </a:pPr>
            <a:r>
              <a:rPr lang="en-US" sz="750" b="1" spc="150" kern="0" dirty="0">
                <a:solidFill>
                  <a:srgbClr val="6B7E94"/>
                </a:solidFill>
                <a:latin typeface="Calibri" pitchFamily="34" charset="0"/>
                <a:ea typeface="Calibri" pitchFamily="34" charset="-122"/>
                <a:cs typeface="Calibri" pitchFamily="34" charset="-120"/>
              </a:rPr>
              <a:t>MIGRATION IMPACT &amp; EFFORT</a:t>
            </a:r>
            <a:endParaRPr lang="en-US" sz="750" dirty="0"/>
          </a:p>
        </p:txBody>
      </p:sp>
      <p:sp>
        <p:nvSpPr>
          <p:cNvPr id="36" name="Shape 34"/>
          <p:cNvSpPr/>
          <p:nvPr/>
        </p:nvSpPr>
        <p:spPr>
          <a:xfrm>
            <a:off x="4572000" y="1005840"/>
            <a:ext cx="4297680" cy="960120"/>
          </a:xfrm>
          <a:prstGeom prst="rect">
            <a:avLst/>
          </a:prstGeom>
          <a:solidFill>
            <a:srgbClr val="FFF5F5"/>
          </a:solidFill>
          <a:ln w="6350">
            <a:solidFill>
              <a:srgbClr val="E8C4C4"/>
            </a:solidFill>
            <a:prstDash val="solid"/>
          </a:ln>
        </p:spPr>
      </p:sp>
      <p:sp>
        <p:nvSpPr>
          <p:cNvPr id="37" name="Shape 35"/>
          <p:cNvSpPr/>
          <p:nvPr/>
        </p:nvSpPr>
        <p:spPr>
          <a:xfrm>
            <a:off x="4572000" y="1005840"/>
            <a:ext cx="45720" cy="960120"/>
          </a:xfrm>
          <a:prstGeom prst="rect">
            <a:avLst/>
          </a:prstGeom>
          <a:solidFill>
            <a:srgbClr val="B91C1C"/>
          </a:solidFill>
          <a:ln/>
        </p:spPr>
      </p:sp>
      <p:sp>
        <p:nvSpPr>
          <p:cNvPr id="38" name="Text 36"/>
          <p:cNvSpPr/>
          <p:nvPr/>
        </p:nvSpPr>
        <p:spPr>
          <a:xfrm>
            <a:off x="4681728" y="1042416"/>
            <a:ext cx="4114800" cy="182880"/>
          </a:xfrm>
          <a:prstGeom prst="rect">
            <a:avLst/>
          </a:prstGeom>
          <a:noFill/>
          <a:ln/>
        </p:spPr>
        <p:txBody>
          <a:bodyPr wrap="square" lIns="0" tIns="0" rIns="0" bIns="0" rtlCol="0" anchor="ctr"/>
          <a:lstStyle/>
          <a:p>
            <a:pPr indent="0" marL="0">
              <a:buNone/>
            </a:pPr>
            <a:r>
              <a:rPr lang="en-US" sz="900" b="1" dirty="0">
                <a:solidFill>
                  <a:srgbClr val="B91C1C"/>
                </a:solidFill>
                <a:latin typeface="Calibri" pitchFamily="34" charset="0"/>
                <a:ea typeface="Calibri" pitchFamily="34" charset="-122"/>
                <a:cs typeface="Calibri" pitchFamily="34" charset="-120"/>
              </a:rPr>
              <a:t>Strategic Fix Point  —  CustomControllerArgumentResolver</a:t>
            </a:r>
            <a:endParaRPr lang="en-US" sz="900" dirty="0"/>
          </a:p>
        </p:txBody>
      </p:sp>
      <p:sp>
        <p:nvSpPr>
          <p:cNvPr id="39" name="Text 37"/>
          <p:cNvSpPr/>
          <p:nvPr/>
        </p:nvSpPr>
        <p:spPr>
          <a:xfrm>
            <a:off x="4681728" y="1243584"/>
            <a:ext cx="4114800" cy="685800"/>
          </a:xfrm>
          <a:prstGeom prst="rect">
            <a:avLst/>
          </a:prstGeom>
          <a:noFill/>
          <a:ln/>
        </p:spPr>
        <p:txBody>
          <a:bodyPr wrap="square" lIns="0" tIns="0" rIns="0" bIns="0" rtlCol="0" anchor="ctr"/>
          <a:lstStyle/>
          <a:p>
            <a:pPr indent="0" marL="0">
              <a:spcAft>
                <a:spcPts val="200"/>
              </a:spcAft>
              <a:buNone/>
            </a:pPr>
            <a:r>
              <a:rPr lang="en-US" sz="750" dirty="0">
                <a:solidFill>
                  <a:srgbClr val="0D2B4E"/>
                </a:solidFill>
                <a:latin typeface="Calibri" pitchFamily="34" charset="0"/>
                <a:ea typeface="Calibri" pitchFamily="34" charset="-122"/>
                <a:cs typeface="Calibri" pitchFamily="34" charset="-120"/>
              </a:rPr>
              <a:t>This is the single most critical class in the Spring migration. It bridges Spring MVC and Turbine by injecting RunData into Spring controllers.</a:t>
            </a:r>
            <a:endParaRPr lang="en-US" sz="750" dirty="0"/>
          </a:p>
          <a:p>
            <a:pPr indent="0" marL="0">
              <a:spcAft>
                <a:spcPts val="200"/>
              </a:spcAft>
              <a:buNone/>
            </a:pPr>
            <a:endParaRPr lang="en-US" sz="750" dirty="0"/>
          </a:p>
          <a:p>
            <a:pPr indent="0" marL="0">
              <a:spcAft>
                <a:spcPts val="200"/>
              </a:spcAft>
              <a:buNone/>
            </a:pPr>
            <a:r>
              <a:rPr lang="en-US" sz="750" dirty="0">
                <a:solidFill>
                  <a:srgbClr val="0D2B4E"/>
                </a:solidFill>
                <a:latin typeface="Calibri" pitchFamily="34" charset="0"/>
                <a:ea typeface="Calibri" pitchFamily="34" charset="-122"/>
                <a:cs typeface="Calibri" pitchFamily="34" charset="-120"/>
              </a:rPr>
              <a:t>In Spring 4.x, it implements HandlerMethodArgumentResolver with javax.servlet types. In Spring 6, the interface signature changes to jakarta.servlet. The resolver must be rewritten — and every controller that receives RunData depends on it.</a:t>
            </a:r>
            <a:endParaRPr lang="en-US" sz="750" dirty="0"/>
          </a:p>
        </p:txBody>
      </p:sp>
      <p:sp>
        <p:nvSpPr>
          <p:cNvPr id="40" name="Shape 38"/>
          <p:cNvSpPr/>
          <p:nvPr/>
        </p:nvSpPr>
        <p:spPr>
          <a:xfrm>
            <a:off x="4572000" y="2029968"/>
            <a:ext cx="4297680" cy="640080"/>
          </a:xfrm>
          <a:prstGeom prst="rect">
            <a:avLst/>
          </a:prstGeom>
          <a:solidFill>
            <a:srgbClr val="FFFBEB"/>
          </a:solidFill>
          <a:ln w="6350">
            <a:solidFill>
              <a:srgbClr val="E8D5A0"/>
            </a:solidFill>
            <a:prstDash val="solid"/>
          </a:ln>
        </p:spPr>
      </p:sp>
      <p:sp>
        <p:nvSpPr>
          <p:cNvPr id="41" name="Shape 39"/>
          <p:cNvSpPr/>
          <p:nvPr/>
        </p:nvSpPr>
        <p:spPr>
          <a:xfrm>
            <a:off x="4572000" y="2029968"/>
            <a:ext cx="45720" cy="640080"/>
          </a:xfrm>
          <a:prstGeom prst="rect">
            <a:avLst/>
          </a:prstGeom>
          <a:solidFill>
            <a:srgbClr val="D97706"/>
          </a:solidFill>
          <a:ln/>
        </p:spPr>
      </p:sp>
      <p:sp>
        <p:nvSpPr>
          <p:cNvPr id="42" name="Text 40"/>
          <p:cNvSpPr/>
          <p:nvPr/>
        </p:nvSpPr>
        <p:spPr>
          <a:xfrm>
            <a:off x="4681728" y="2066544"/>
            <a:ext cx="4114800" cy="182880"/>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Data Interaction  —  GTP_PARAM_DATA &amp; Validation</a:t>
            </a:r>
            <a:endParaRPr lang="en-US" sz="900" dirty="0"/>
          </a:p>
        </p:txBody>
      </p:sp>
      <p:sp>
        <p:nvSpPr>
          <p:cNvPr id="43" name="Text 41"/>
          <p:cNvSpPr/>
          <p:nvPr/>
        </p:nvSpPr>
        <p:spPr>
          <a:xfrm>
            <a:off x="4681728" y="2267712"/>
            <a:ext cx="4114800" cy="384048"/>
          </a:xfrm>
          <a:prstGeom prst="rect">
            <a:avLst/>
          </a:prstGeom>
          <a:noFill/>
          <a:ln/>
        </p:spPr>
        <p:txBody>
          <a:bodyPr wrap="square" lIns="0" tIns="0" rIns="0" bIns="0" rtlCol="0" anchor="ctr"/>
          <a:lstStyle/>
          <a:p>
            <a:pPr indent="0" marL="0">
              <a:buNone/>
            </a:pPr>
            <a:r>
              <a:rPr lang="en-US" sz="750" dirty="0">
                <a:solidFill>
                  <a:srgbClr val="0D2B4E"/>
                </a:solidFill>
                <a:latin typeface="Calibri" pitchFamily="34" charset="0"/>
                <a:ea typeface="Calibri" pitchFamily="34" charset="-122"/>
                <a:cs typeface="Calibri" pitchFamily="34" charset="-120"/>
              </a:rPr>
              <a:t>Spring controllers interact with GTP_PARAM_DATA tables for request validation and parameter resolution. Validation annotations (javax.validation → jakarta.validation) and custom validators must be migrated.</a:t>
            </a:r>
            <a:endParaRPr lang="en-US" sz="750" dirty="0"/>
          </a:p>
        </p:txBody>
      </p:sp>
      <p:sp>
        <p:nvSpPr>
          <p:cNvPr id="44" name="Shape 42"/>
          <p:cNvSpPr/>
          <p:nvPr/>
        </p:nvSpPr>
        <p:spPr>
          <a:xfrm>
            <a:off x="4572000" y="2734056"/>
            <a:ext cx="4297680" cy="640080"/>
          </a:xfrm>
          <a:prstGeom prst="rect">
            <a:avLst/>
          </a:prstGeom>
          <a:solidFill>
            <a:srgbClr val="FFF5F5"/>
          </a:solidFill>
          <a:ln w="6350">
            <a:solidFill>
              <a:srgbClr val="E8C4C4"/>
            </a:solidFill>
            <a:prstDash val="solid"/>
          </a:ln>
        </p:spPr>
      </p:sp>
      <p:sp>
        <p:nvSpPr>
          <p:cNvPr id="45" name="Shape 43"/>
          <p:cNvSpPr/>
          <p:nvPr/>
        </p:nvSpPr>
        <p:spPr>
          <a:xfrm>
            <a:off x="4572000" y="2734056"/>
            <a:ext cx="45720" cy="640080"/>
          </a:xfrm>
          <a:prstGeom prst="rect">
            <a:avLst/>
          </a:prstGeom>
          <a:solidFill>
            <a:srgbClr val="B91C1C"/>
          </a:solidFill>
          <a:ln/>
        </p:spPr>
      </p:sp>
      <p:sp>
        <p:nvSpPr>
          <p:cNvPr id="46" name="Text 44"/>
          <p:cNvSpPr/>
          <p:nvPr/>
        </p:nvSpPr>
        <p:spPr>
          <a:xfrm>
            <a:off x="4681728" y="2770632"/>
            <a:ext cx="4114800" cy="182880"/>
          </a:xfrm>
          <a:prstGeom prst="rect">
            <a:avLst/>
          </a:prstGeom>
          <a:noFill/>
          <a:ln/>
        </p:spPr>
        <p:txBody>
          <a:bodyPr wrap="square" lIns="0" tIns="0" rIns="0" bIns="0" rtlCol="0" anchor="ctr"/>
          <a:lstStyle/>
          <a:p>
            <a:pPr indent="0" marL="0">
              <a:buNone/>
            </a:pPr>
            <a:r>
              <a:rPr lang="en-US" sz="900" b="1" dirty="0">
                <a:solidFill>
                  <a:srgbClr val="B91C1C"/>
                </a:solidFill>
                <a:latin typeface="Calibri" pitchFamily="34" charset="0"/>
                <a:ea typeface="Calibri" pitchFamily="34" charset="-122"/>
                <a:cs typeface="Calibri" pitchFamily="34" charset="-120"/>
              </a:rPr>
              <a:t>Full JAR Set Replacement  —  ~22 Spring JARs</a:t>
            </a:r>
            <a:endParaRPr lang="en-US" sz="900" dirty="0"/>
          </a:p>
        </p:txBody>
      </p:sp>
      <p:sp>
        <p:nvSpPr>
          <p:cNvPr id="47" name="Text 45"/>
          <p:cNvSpPr/>
          <p:nvPr/>
        </p:nvSpPr>
        <p:spPr>
          <a:xfrm>
            <a:off x="4681728" y="2971800"/>
            <a:ext cx="4114800" cy="384048"/>
          </a:xfrm>
          <a:prstGeom prst="rect">
            <a:avLst/>
          </a:prstGeom>
          <a:noFill/>
          <a:ln/>
        </p:spPr>
        <p:txBody>
          <a:bodyPr wrap="square" lIns="0" tIns="0" rIns="0" bIns="0" rtlCol="0" anchor="ctr"/>
          <a:lstStyle/>
          <a:p>
            <a:pPr indent="0" marL="0">
              <a:buNone/>
            </a:pPr>
            <a:r>
              <a:rPr lang="en-US" sz="750" dirty="0">
                <a:solidFill>
                  <a:srgbClr val="0D2B4E"/>
                </a:solidFill>
                <a:latin typeface="Calibri" pitchFamily="34" charset="0"/>
                <a:ea typeface="Calibri" pitchFamily="34" charset="-122"/>
                <a:cs typeface="Calibri" pitchFamily="34" charset="-120"/>
              </a:rPr>
              <a:t>Entire Spring 4.x JAR set (spring-core, spring-web, spring-webmvc, spring-security, etc.) must be replaced with Spring 6.x equivalents. No partial upgrade is possible — Spring 6 requires Jakarta EE.</a:t>
            </a:r>
            <a:endParaRPr lang="en-US" sz="750" dirty="0"/>
          </a:p>
        </p:txBody>
      </p:sp>
      <p:sp>
        <p:nvSpPr>
          <p:cNvPr id="48" name="Shape 46"/>
          <p:cNvSpPr/>
          <p:nvPr/>
        </p:nvSpPr>
        <p:spPr>
          <a:xfrm>
            <a:off x="4572000" y="3438144"/>
            <a:ext cx="4297680" cy="640080"/>
          </a:xfrm>
          <a:prstGeom prst="rect">
            <a:avLst/>
          </a:prstGeom>
          <a:solidFill>
            <a:srgbClr val="FFFFFF"/>
          </a:solidFill>
          <a:ln w="6350">
            <a:solidFill>
              <a:srgbClr val="D0DCE8"/>
            </a:solidFill>
            <a:prstDash val="solid"/>
          </a:ln>
        </p:spPr>
      </p:sp>
      <p:sp>
        <p:nvSpPr>
          <p:cNvPr id="49" name="Shape 47"/>
          <p:cNvSpPr/>
          <p:nvPr/>
        </p:nvSpPr>
        <p:spPr>
          <a:xfrm>
            <a:off x="4572000" y="3438144"/>
            <a:ext cx="45720" cy="640080"/>
          </a:xfrm>
          <a:prstGeom prst="rect">
            <a:avLst/>
          </a:prstGeom>
          <a:solidFill>
            <a:srgbClr val="0072BC"/>
          </a:solidFill>
          <a:ln/>
        </p:spPr>
      </p:sp>
      <p:sp>
        <p:nvSpPr>
          <p:cNvPr id="50" name="Text 48"/>
          <p:cNvSpPr/>
          <p:nvPr/>
        </p:nvSpPr>
        <p:spPr>
          <a:xfrm>
            <a:off x="4681728" y="3474720"/>
            <a:ext cx="4114800" cy="182880"/>
          </a:xfrm>
          <a:prstGeom prst="rect">
            <a:avLst/>
          </a:prstGeom>
          <a:noFill/>
          <a:ln/>
        </p:spPr>
        <p:txBody>
          <a:bodyPr wrap="square" lIns="0" tIns="0" rIns="0" bIns="0" rtlCol="0" anchor="ctr"/>
          <a:lstStyle/>
          <a:p>
            <a:pPr indent="0" marL="0">
              <a:buNone/>
            </a:pPr>
            <a:r>
              <a:rPr lang="en-US" sz="900" b="1" dirty="0">
                <a:solidFill>
                  <a:srgbClr val="0072BC"/>
                </a:solidFill>
                <a:latin typeface="Calibri" pitchFamily="34" charset="0"/>
                <a:ea typeface="Calibri" pitchFamily="34" charset="-122"/>
                <a:cs typeface="Calibri" pitchFamily="34" charset="-120"/>
              </a:rPr>
              <a:t>POC Status  —  Not Yet Tested</a:t>
            </a:r>
            <a:endParaRPr lang="en-US" sz="900" dirty="0"/>
          </a:p>
        </p:txBody>
      </p:sp>
      <p:sp>
        <p:nvSpPr>
          <p:cNvPr id="51" name="Text 49"/>
          <p:cNvSpPr/>
          <p:nvPr/>
        </p:nvSpPr>
        <p:spPr>
          <a:xfrm>
            <a:off x="4681728" y="3675888"/>
            <a:ext cx="4114800" cy="384048"/>
          </a:xfrm>
          <a:prstGeom prst="rect">
            <a:avLst/>
          </a:prstGeom>
          <a:noFill/>
          <a:ln/>
        </p:spPr>
        <p:txBody>
          <a:bodyPr wrap="square" lIns="0" tIns="0" rIns="0" bIns="0" rtlCol="0" anchor="ctr"/>
          <a:lstStyle/>
          <a:p>
            <a:pPr indent="0" marL="0">
              <a:buNone/>
            </a:pPr>
            <a:r>
              <a:rPr lang="en-US" sz="750" dirty="0">
                <a:solidFill>
                  <a:srgbClr val="0D2B4E"/>
                </a:solidFill>
                <a:latin typeface="Calibri" pitchFamily="34" charset="0"/>
                <a:ea typeface="Calibri" pitchFamily="34" charset="-122"/>
                <a:cs typeface="Calibri" pitchFamily="34" charset="-120"/>
              </a:rPr>
              <a:t>Spring 6 migration was not included in the Mini-GEB POC. A dedicated Spring 6 POC is recommended — specifically to validate the ArgumentResolver rewrite and WSService endpoint compatibility on the target stack.</a:t>
            </a:r>
            <a:endParaRPr lang="en-US" sz="750" dirty="0"/>
          </a:p>
        </p:txBody>
      </p:sp>
      <p:sp>
        <p:nvSpPr>
          <p:cNvPr id="52" name="Shape 50"/>
          <p:cNvSpPr/>
          <p:nvPr/>
        </p:nvSpPr>
        <p:spPr>
          <a:xfrm>
            <a:off x="0" y="4608576"/>
            <a:ext cx="9144000" cy="301752"/>
          </a:xfrm>
          <a:prstGeom prst="rect">
            <a:avLst/>
          </a:prstGeom>
          <a:solidFill>
            <a:srgbClr val="1A3A5C"/>
          </a:solidFill>
          <a:ln/>
        </p:spPr>
      </p:sp>
      <p:sp>
        <p:nvSpPr>
          <p:cNvPr id="53" name="Text 51"/>
          <p:cNvSpPr/>
          <p:nvPr/>
        </p:nvSpPr>
        <p:spPr>
          <a:xfrm>
            <a:off x="274320" y="4626864"/>
            <a:ext cx="8595360" cy="256032"/>
          </a:xfrm>
          <a:prstGeom prst="rect">
            <a:avLst/>
          </a:prstGeom>
          <a:noFill/>
          <a:ln/>
        </p:spPr>
        <p:txBody>
          <a:bodyPr wrap="square" lIns="0" tIns="0" rIns="0" bIns="0" rtlCol="0" anchor="ctr"/>
          <a:lstStyle/>
          <a:p>
            <a:pPr indent="0" marL="0">
              <a:buNone/>
            </a:pPr>
            <a:r>
              <a:rPr lang="en-US" sz="750" i="1" dirty="0">
                <a:solidFill>
                  <a:srgbClr val="8BA3BF"/>
                </a:solidFill>
                <a:latin typeface="Calibri" pitchFamily="34" charset="0"/>
                <a:ea typeface="Calibri" pitchFamily="34" charset="-122"/>
                <a:cs typeface="Calibri" pitchFamily="34" charset="-120"/>
              </a:rPr>
              <a:t>Spring layer is a full migration — not a version bump  ·  CustomControllerArgumentResolver is the strategic fix point  ·  Separate POC recommended</a:t>
            </a:r>
            <a:endParaRPr lang="en-US" sz="750" dirty="0"/>
          </a:p>
        </p:txBody>
      </p:sp>
      <p:sp>
        <p:nvSpPr>
          <p:cNvPr id="54" name="Shape 52"/>
          <p:cNvSpPr/>
          <p:nvPr/>
        </p:nvSpPr>
        <p:spPr>
          <a:xfrm>
            <a:off x="0" y="4910328"/>
            <a:ext cx="9144000" cy="237744"/>
          </a:xfrm>
          <a:prstGeom prst="rect">
            <a:avLst/>
          </a:prstGeom>
          <a:solidFill>
            <a:srgbClr val="0D2B4E"/>
          </a:solidFill>
          <a:ln/>
        </p:spPr>
      </p:sp>
      <p:sp>
        <p:nvSpPr>
          <p:cNvPr id="55" name="Text 53"/>
          <p:cNvSpPr/>
          <p:nvPr/>
        </p:nvSpPr>
        <p:spPr>
          <a:xfrm>
            <a:off x="274320" y="4919472"/>
            <a:ext cx="8595360" cy="219456"/>
          </a:xfrm>
          <a:prstGeom prst="rect">
            <a:avLst/>
          </a:prstGeom>
          <a:noFill/>
          <a:ln/>
        </p:spPr>
        <p:txBody>
          <a:bodyPr wrap="square" lIns="0" tIns="0" rIns="0" bIns="0" rtlCol="0" anchor="ctr"/>
          <a:lstStyle/>
          <a:p>
            <a:pPr algn="ctr" indent="0" marL="0">
              <a:buNone/>
            </a:pPr>
            <a:r>
              <a:rPr lang="en-US" sz="650" dirty="0">
                <a:solidFill>
                  <a:srgbClr val="6B7E94"/>
                </a:solidFill>
                <a:latin typeface="Calibri" pitchFamily="34" charset="0"/>
                <a:ea typeface="Calibri" pitchFamily="34" charset="-122"/>
                <a:cs typeface="Calibri" pitchFamily="34" charset="-120"/>
              </a:rPr>
              <a:t>Wipro Consulting  |  UOB Singapore  |  Confidential</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2026-04-06T17:20:13Z</dcterms:created>
  <dcterms:modified xsi:type="dcterms:W3CDTF">2026-04-06T17:20:13Z</dcterms:modified>
</cp:coreProperties>
</file>